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8288000" cy="10287000"/>
  <p:notesSz cx="6858000" cy="9144000"/>
  <p:embeddedFontLst>
    <p:embeddedFont>
      <p:font typeface="Goudy" panose="020B0604020202020204" charset="0"/>
      <p:regular r:id="rId7"/>
    </p:embeddedFont>
    <p:embeddedFont>
      <p:font typeface="Neue Montreal" panose="020B0604020202020204" charset="0"/>
      <p:regular r:id="rId8"/>
    </p:embeddedFont>
    <p:embeddedFont>
      <p:font typeface="Neue Montreal Bold" panose="020B0604020202020204" charset="0"/>
      <p:regular r:id="rId9"/>
    </p:embeddedFont>
    <p:embeddedFont>
      <p:font typeface="Overpass" panose="020B0604020202020204" charset="0"/>
      <p:regular r:id="rId10"/>
    </p:embeddedFont>
    <p:embeddedFont>
      <p:font typeface="Tenor Sans" panose="020B0604020202020204" charset="0"/>
      <p:regular r:id="rId11"/>
    </p:embeddedFont>
    <p:embeddedFont>
      <p:font typeface="Verdana" panose="020B0604030504040204" pitchFamily="34" charset="0"/>
      <p:regular r:id="rId12"/>
      <p:bold r:id="rId13"/>
      <p:italic r:id="rId14"/>
      <p:boldItalic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891" autoAdjust="0"/>
    <p:restoredTop sz="94622" autoAdjust="0"/>
  </p:normalViewPr>
  <p:slideViewPr>
    <p:cSldViewPr>
      <p:cViewPr varScale="1">
        <p:scale>
          <a:sx n="56" d="100"/>
          <a:sy n="56" d="100"/>
        </p:scale>
        <p:origin x="322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font" Target="fonts/font9.fntdata"/><Relationship Id="rId10" Type="http://schemas.openxmlformats.org/officeDocument/2006/relationships/font" Target="fonts/font4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233B30-4F8C-4A4C-AB5E-3B02323E36F5}" type="datetimeFigureOut">
              <a:rPr lang="it-IT" smtClean="0"/>
              <a:t>08/01/2026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08170C-5CFB-499E-8257-3D18EF4D2E0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25633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8170C-5CFB-499E-8257-3D18EF4D2E05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341087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08D59-BB9A-A749-0259-1408E509F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A52A654-E6DB-8B13-F982-05FA3E1664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D3D51C5-EB70-87EB-FB02-B943645F59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CD2C934-E333-3172-A460-1E9E955DA8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8170C-5CFB-499E-8257-3D18EF4D2E05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11076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3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6506" y="8229031"/>
            <a:ext cx="2394262" cy="1358721"/>
            <a:chOff x="0" y="-30918"/>
            <a:chExt cx="630588" cy="3578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0588" cy="300703"/>
            </a:xfrm>
            <a:custGeom>
              <a:avLst/>
              <a:gdLst/>
              <a:ahLst/>
              <a:cxnLst/>
              <a:rect l="l" t="t" r="r" b="b"/>
              <a:pathLst>
                <a:path w="630588" h="300703">
                  <a:moveTo>
                    <a:pt x="0" y="0"/>
                  </a:moveTo>
                  <a:lnTo>
                    <a:pt x="630588" y="0"/>
                  </a:lnTo>
                  <a:lnTo>
                    <a:pt x="630588" y="300703"/>
                  </a:lnTo>
                  <a:lnTo>
                    <a:pt x="0" y="300703"/>
                  </a:lnTo>
                  <a:close/>
                </a:path>
              </a:pathLst>
            </a:custGeom>
            <a:solidFill>
              <a:srgbClr val="98C4EC"/>
            </a:solidFill>
          </p:spPr>
          <p:txBody>
            <a:bodyPr/>
            <a:lstStyle/>
            <a:p>
              <a:endParaRPr lang="it-IT" noProof="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0918"/>
              <a:ext cx="630588" cy="3578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</a:pPr>
              <a:r>
                <a:rPr lang="it-IT" sz="2999" b="1" noProof="0" dirty="0">
                  <a:solidFill>
                    <a:srgbClr val="000000"/>
                  </a:solidFill>
                  <a:latin typeface="Neue Montreal Bold"/>
                  <a:ea typeface="Neue Montreal Bold"/>
                  <a:cs typeface="Neue Montreal Bold"/>
                  <a:sym typeface="Neue Montreal Bold"/>
                </a:rPr>
                <a:t>GRUPPO 4</a:t>
              </a:r>
            </a:p>
            <a:p>
              <a:pPr algn="ctr">
                <a:lnSpc>
                  <a:spcPts val="4199"/>
                </a:lnSpc>
              </a:pPr>
              <a:r>
                <a:rPr lang="it-IT" sz="2999" b="1" noProof="0" dirty="0" err="1">
                  <a:solidFill>
                    <a:srgbClr val="000000"/>
                  </a:solidFill>
                  <a:latin typeface="Neue Montreal Bold"/>
                  <a:ea typeface="Neue Montreal Bold"/>
                  <a:cs typeface="Neue Montreal Bold"/>
                  <a:sym typeface="Neue Montreal Bold"/>
                </a:rPr>
                <a:t>BugBusters</a:t>
              </a:r>
              <a:endParaRPr lang="it-IT" sz="2999" b="1" noProof="0" dirty="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16856440" y="0"/>
            <a:ext cx="1431560" cy="10287000"/>
            <a:chOff x="0" y="0"/>
            <a:chExt cx="377036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77036" cy="2709333"/>
            </a:xfrm>
            <a:custGeom>
              <a:avLst/>
              <a:gdLst/>
              <a:ahLst/>
              <a:cxnLst/>
              <a:rect l="l" t="t" r="r" b="b"/>
              <a:pathLst>
                <a:path w="377036" h="2709333">
                  <a:moveTo>
                    <a:pt x="0" y="0"/>
                  </a:moveTo>
                  <a:lnTo>
                    <a:pt x="377036" y="0"/>
                  </a:lnTo>
                  <a:lnTo>
                    <a:pt x="377036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FF3B4B">
                    <a:alpha val="100000"/>
                  </a:srgbClr>
                </a:gs>
                <a:gs pos="100000">
                  <a:srgbClr val="98C4EC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it-IT" noProof="0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77036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lang="it-IT" noProof="0" dirty="0"/>
            </a:p>
          </p:txBody>
        </p:sp>
      </p:grpSp>
      <p:sp>
        <p:nvSpPr>
          <p:cNvPr id="8" name="Freeform 8"/>
          <p:cNvSpPr/>
          <p:nvPr/>
        </p:nvSpPr>
        <p:spPr>
          <a:xfrm>
            <a:off x="310726" y="359613"/>
            <a:ext cx="1431560" cy="1484953"/>
          </a:xfrm>
          <a:custGeom>
            <a:avLst/>
            <a:gdLst/>
            <a:ahLst/>
            <a:cxnLst/>
            <a:rect l="l" t="t" r="r" b="b"/>
            <a:pathLst>
              <a:path w="1852447" h="1852447">
                <a:moveTo>
                  <a:pt x="0" y="0"/>
                </a:moveTo>
                <a:lnTo>
                  <a:pt x="1852447" y="0"/>
                </a:lnTo>
                <a:lnTo>
                  <a:pt x="1852447" y="1852447"/>
                </a:lnTo>
                <a:lnTo>
                  <a:pt x="0" y="18524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 noProof="0" dirty="0"/>
          </a:p>
        </p:txBody>
      </p:sp>
      <p:sp>
        <p:nvSpPr>
          <p:cNvPr id="10" name="TextBox 10"/>
          <p:cNvSpPr txBox="1"/>
          <p:nvPr/>
        </p:nvSpPr>
        <p:spPr>
          <a:xfrm>
            <a:off x="1028700" y="3105150"/>
            <a:ext cx="14665662" cy="4095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9"/>
              </a:lnSpc>
            </a:pPr>
            <a:r>
              <a:rPr lang="it-IT" sz="15999" spc="-959" noProof="0" dirty="0">
                <a:solidFill>
                  <a:srgbClr val="000000"/>
                </a:solidFill>
                <a:latin typeface="Goudy"/>
                <a:ea typeface="Goudy"/>
                <a:cs typeface="Goudy"/>
                <a:sym typeface="Goudy"/>
              </a:rPr>
              <a:t>DIARIO DI BORDO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60349" y="681623"/>
            <a:ext cx="3272849" cy="954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69"/>
              </a:lnSpc>
            </a:pPr>
            <a:r>
              <a:rPr lang="it-IT" sz="2713" noProof="0" dirty="0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UNIVERSITÁ DEGLI STUDI DI PADOVA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453182" y="8229030"/>
            <a:ext cx="9381636" cy="118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it-IT" sz="2300" b="1" noProof="0" dirty="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Team:</a:t>
            </a:r>
            <a:r>
              <a:rPr lang="it-IT" sz="2300" noProof="0" dirty="0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 Alberto Autiero, Marco Favero, Alberto Pignat, Marco Piro, </a:t>
            </a:r>
            <a:r>
              <a:rPr lang="it-IT" sz="2300" noProof="0" dirty="0" err="1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Linor</a:t>
            </a:r>
            <a:r>
              <a:rPr lang="it-IT" sz="2300" noProof="0" dirty="0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  <a:r>
              <a:rPr lang="it-IT" sz="2300" noProof="0" dirty="0" err="1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Sadè</a:t>
            </a:r>
            <a:r>
              <a:rPr lang="it-IT" sz="2300" noProof="0" dirty="0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, Leonardo Salviato, Luca Slongo</a:t>
            </a:r>
          </a:p>
          <a:p>
            <a:pPr algn="l">
              <a:lnSpc>
                <a:spcPts val="3220"/>
              </a:lnSpc>
            </a:pPr>
            <a:r>
              <a:rPr lang="it-IT" sz="2300" b="1" noProof="0" dirty="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Docente: </a:t>
            </a:r>
            <a:r>
              <a:rPr lang="it-IT" sz="2300" noProof="0" dirty="0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Tullio Vardanega</a:t>
            </a:r>
          </a:p>
        </p:txBody>
      </p:sp>
      <p:pic>
        <p:nvPicPr>
          <p:cNvPr id="14" name="Immagine 13" descr="Immagine che contiene logo, Elementi grafici, design, simbolo&#10;&#10;Il contenuto generato dall'IA potrebbe non essere corretto.">
            <a:extLst>
              <a:ext uri="{FF2B5EF4-FFF2-40B4-BE49-F238E27FC236}">
                <a16:creationId xmlns:a16="http://schemas.microsoft.com/office/drawing/2014/main" id="{75F21F41-09A7-54FF-8F57-7FC200200F3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7434" y="7916545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62989" t="67035"/>
          <a:stretch>
            <a:fillRect/>
          </a:stretch>
        </p:blipFill>
        <p:spPr>
          <a:xfrm>
            <a:off x="14955704" y="7197948"/>
            <a:ext cx="3468258" cy="3089052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r="64034" b="46739"/>
          <a:stretch>
            <a:fillRect/>
          </a:stretch>
        </p:blipFill>
        <p:spPr>
          <a:xfrm rot="-5400000" flipH="1">
            <a:off x="796990" y="-796989"/>
            <a:ext cx="3314701" cy="490868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360731" y="208677"/>
            <a:ext cx="17566537" cy="2935483"/>
            <a:chOff x="0" y="471724"/>
            <a:chExt cx="23422050" cy="3913976"/>
          </a:xfrm>
        </p:grpSpPr>
        <p:sp>
          <p:nvSpPr>
            <p:cNvPr id="5" name="TextBox 5"/>
            <p:cNvSpPr txBox="1"/>
            <p:nvPr/>
          </p:nvSpPr>
          <p:spPr>
            <a:xfrm>
              <a:off x="0" y="3571631"/>
              <a:ext cx="11609426" cy="8140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87428" lvl="1" indent="-342900" algn="l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endParaRPr lang="it-IT" sz="3000" noProof="0" dirty="0">
                <a:solidFill>
                  <a:srgbClr val="000000"/>
                </a:solidFill>
                <a:latin typeface="Overpass"/>
                <a:ea typeface="Overpass"/>
                <a:cs typeface="Arial" panose="020B0604020202020204" pitchFamily="34" charset="0"/>
                <a:sym typeface="Overpas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471724"/>
              <a:ext cx="23422050" cy="23707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212"/>
                </a:lnSpc>
              </a:pPr>
              <a:r>
                <a:rPr lang="it-IT" sz="10000" b="1" noProof="0" dirty="0">
                  <a:solidFill>
                    <a:srgbClr val="000000"/>
                  </a:solidFill>
                  <a:latin typeface="Goudy" panose="020B0604020202020204" charset="0"/>
                  <a:ea typeface="Fredoka"/>
                  <a:cs typeface="Fredoka"/>
                  <a:sym typeface="Fredoka"/>
                </a:rPr>
                <a:t>DIFFICOLTÀ INCONTRATE</a:t>
              </a:r>
            </a:p>
          </p:txBody>
        </p:sp>
      </p:grp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C2EA72E-9248-B9E8-48BD-1D01611DB3C9}"/>
              </a:ext>
            </a:extLst>
          </p:cNvPr>
          <p:cNvSpPr txBox="1"/>
          <p:nvPr/>
        </p:nvSpPr>
        <p:spPr>
          <a:xfrm>
            <a:off x="1541831" y="2838884"/>
            <a:ext cx="15773400" cy="7997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87428" lvl="1" indent="-342900">
              <a:lnSpc>
                <a:spcPct val="150000"/>
              </a:lnSpc>
              <a:spcBef>
                <a:spcPts val="2400"/>
              </a:spcBef>
              <a:buFont typeface="Wingdings" panose="05000000000000000000" pitchFamily="2" charset="2"/>
              <a:buChar char="Ø"/>
            </a:pPr>
            <a:r>
              <a:rPr lang="it-IT" sz="2800" b="1" noProof="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Capire quali sono le funzionalità che meglio possono definire il POC </a:t>
            </a:r>
            <a:r>
              <a:rPr lang="it-IT" sz="2800" noProof="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(per dimostrare la fattibilità di alcune richieste e la conoscenza delle tecnologie)</a:t>
            </a:r>
          </a:p>
          <a:p>
            <a:pPr marL="587428" lvl="1" indent="-342900">
              <a:lnSpc>
                <a:spcPct val="150000"/>
              </a:lnSpc>
              <a:spcBef>
                <a:spcPts val="2400"/>
              </a:spcBef>
              <a:buFont typeface="Wingdings" panose="05000000000000000000" pitchFamily="2" charset="2"/>
              <a:buChar char="Ø"/>
            </a:pPr>
            <a:r>
              <a:rPr lang="it-IT" sz="28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Comprensione di quali sono i modelli IA migliori </a:t>
            </a:r>
            <a:r>
              <a:rPr lang="it-IT" sz="28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per quello che dobbiamo fare, </a:t>
            </a:r>
            <a:r>
              <a:rPr lang="it-IT" sz="28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considerando anche il costo</a:t>
            </a:r>
          </a:p>
          <a:p>
            <a:pPr marL="587428" lvl="1" indent="-342900" algn="just">
              <a:lnSpc>
                <a:spcPct val="150000"/>
              </a:lnSpc>
              <a:spcBef>
                <a:spcPts val="2400"/>
              </a:spcBef>
              <a:buFont typeface="Wingdings" panose="05000000000000000000" pitchFamily="2" charset="2"/>
              <a:buChar char="Ø"/>
            </a:pPr>
            <a:r>
              <a:rPr lang="it-IT" sz="2800" b="1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Difficoltà nell’avanzamento del piano di qualifica</a:t>
            </a:r>
          </a:p>
          <a:p>
            <a:pPr marL="587428" lvl="1" indent="-342900">
              <a:lnSpc>
                <a:spcPct val="150000"/>
              </a:lnSpc>
              <a:spcBef>
                <a:spcPts val="2400"/>
              </a:spcBef>
              <a:buFont typeface="Wingdings" panose="05000000000000000000" pitchFamily="2" charset="2"/>
              <a:buChar char="Ø"/>
            </a:pPr>
            <a:r>
              <a:rPr lang="it-IT" sz="28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Rallentamento </a:t>
            </a:r>
            <a:r>
              <a:rPr lang="it-IT" sz="28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causato dagli impegni nel periodo festivo</a:t>
            </a:r>
          </a:p>
          <a:p>
            <a:pPr marL="587428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it-IT" sz="3600" b="1" dirty="0">
              <a:solidFill>
                <a:srgbClr val="000000"/>
              </a:solidFill>
              <a:latin typeface="Overpass"/>
              <a:ea typeface="Overpass"/>
              <a:cs typeface="Arial" panose="020B0604020202020204" pitchFamily="34" charset="0"/>
              <a:sym typeface="Overpass"/>
            </a:endParaRPr>
          </a:p>
          <a:p>
            <a:pPr marL="587428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it-IT" sz="3600" b="1" dirty="0">
              <a:solidFill>
                <a:srgbClr val="000000"/>
              </a:solidFill>
              <a:latin typeface="Overpass"/>
              <a:ea typeface="Overpass"/>
              <a:cs typeface="Arial" panose="020B0604020202020204" pitchFamily="34" charset="0"/>
              <a:sym typeface="Overpass"/>
            </a:endParaRPr>
          </a:p>
          <a:p>
            <a:pPr marL="587428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it-IT" sz="3600" noProof="0" dirty="0">
              <a:solidFill>
                <a:srgbClr val="000000"/>
              </a:solidFill>
              <a:latin typeface="Overpass"/>
              <a:ea typeface="Overpass"/>
              <a:cs typeface="Arial" panose="020B0604020202020204" pitchFamily="34" charset="0"/>
              <a:sym typeface="Overpass"/>
            </a:endParaRPr>
          </a:p>
          <a:p>
            <a:pPr marL="1044628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it-IT" sz="3000" noProof="0" dirty="0">
              <a:solidFill>
                <a:srgbClr val="000000"/>
              </a:solidFill>
              <a:latin typeface="Overpass"/>
              <a:ea typeface="Overpass"/>
              <a:cs typeface="Arial" panose="020B0604020202020204" pitchFamily="34" charset="0"/>
              <a:sym typeface="Overpas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>
            <a:extLst>
              <a:ext uri="{FF2B5EF4-FFF2-40B4-BE49-F238E27FC236}">
                <a16:creationId xmlns:a16="http://schemas.microsoft.com/office/drawing/2014/main" id="{F5702CEF-2064-56B0-3DF4-E8FB344C19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4034" b="46739"/>
          <a:stretch>
            <a:fillRect/>
          </a:stretch>
        </p:blipFill>
        <p:spPr>
          <a:xfrm rot="-5400000" flipH="1">
            <a:off x="814459" y="-796989"/>
            <a:ext cx="3314701" cy="4908680"/>
          </a:xfrm>
          <a:prstGeom prst="rect">
            <a:avLst/>
          </a:prstGeom>
        </p:spPr>
      </p:pic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62989" t="67035"/>
          <a:stretch>
            <a:fillRect/>
          </a:stretch>
        </p:blipFill>
        <p:spPr>
          <a:xfrm>
            <a:off x="14955704" y="7197948"/>
            <a:ext cx="3468258" cy="3089052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28598" y="276349"/>
            <a:ext cx="19668373" cy="3228806"/>
            <a:chOff x="-3" y="263776"/>
            <a:chExt cx="26224497" cy="4305074"/>
          </a:xfrm>
        </p:grpSpPr>
        <p:sp>
          <p:nvSpPr>
            <p:cNvPr id="5" name="TextBox 5"/>
            <p:cNvSpPr txBox="1"/>
            <p:nvPr/>
          </p:nvSpPr>
          <p:spPr>
            <a:xfrm>
              <a:off x="638127" y="3646289"/>
              <a:ext cx="20145326" cy="92256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988744" lvl="1" indent="-57150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endParaRPr lang="it-IT" sz="3400" dirty="0">
                <a:solidFill>
                  <a:srgbClr val="000000"/>
                </a:solidFill>
                <a:latin typeface="Overpass"/>
                <a:ea typeface="Overpass"/>
                <a:cs typeface="Arial" panose="020B0604020202020204" pitchFamily="34" charset="0"/>
                <a:sym typeface="Overpas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-3" y="263776"/>
              <a:ext cx="26224497" cy="23707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212"/>
                </a:lnSpc>
              </a:pPr>
              <a:r>
                <a:rPr lang="it-IT" sz="9600" b="1" noProof="0" dirty="0">
                  <a:solidFill>
                    <a:srgbClr val="000000"/>
                  </a:solidFill>
                  <a:latin typeface="Goudy" panose="020B0604020202020204" charset="0"/>
                  <a:ea typeface="Fredoka"/>
                  <a:cs typeface="Fredoka"/>
                  <a:sym typeface="Fredoka"/>
                </a:rPr>
                <a:t>DUBBI SU COME PROCEDERE</a:t>
              </a:r>
            </a:p>
          </p:txBody>
        </p:sp>
      </p:grp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D5A16D10-0797-D012-66DA-6DCA1E299B7A}"/>
              </a:ext>
            </a:extLst>
          </p:cNvPr>
          <p:cNvSpPr txBox="1"/>
          <p:nvPr/>
        </p:nvSpPr>
        <p:spPr>
          <a:xfrm>
            <a:off x="1539083" y="2149627"/>
            <a:ext cx="17047405" cy="5781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87428" lvl="1" indent="-342900">
              <a:lnSpc>
                <a:spcPct val="150000"/>
              </a:lnSpc>
              <a:spcBef>
                <a:spcPts val="1800"/>
              </a:spcBef>
              <a:buFont typeface="Wingdings" panose="05000000000000000000" pitchFamily="2" charset="2"/>
              <a:buChar char="Ø"/>
            </a:pPr>
            <a:endParaRPr lang="en-AU" sz="2800" noProof="0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  <a:sym typeface="Overpass"/>
            </a:endParaRPr>
          </a:p>
          <a:p>
            <a:pPr marL="587428" lvl="1" indent="-342900">
              <a:lnSpc>
                <a:spcPct val="150000"/>
              </a:lnSpc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en-AU" sz="2800" b="1" dirty="0" err="1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Incertezza</a:t>
            </a:r>
            <a:r>
              <a:rPr lang="en-AU" sz="28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 </a:t>
            </a:r>
            <a:r>
              <a:rPr lang="en-AU" sz="2800" b="1" dirty="0" err="1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nel</a:t>
            </a:r>
            <a:r>
              <a:rPr lang="en-AU" sz="28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 </a:t>
            </a:r>
            <a:r>
              <a:rPr lang="en-AU" sz="2800" b="1" dirty="0" err="1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ruolo</a:t>
            </a:r>
            <a:r>
              <a:rPr lang="en-AU" sz="28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 </a:t>
            </a:r>
            <a:r>
              <a:rPr lang="en-AU" sz="2800" b="1" dirty="0" err="1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dell’azienda</a:t>
            </a:r>
            <a:r>
              <a:rPr lang="en-AU" sz="28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 </a:t>
            </a:r>
            <a:r>
              <a:rPr lang="en-AU" sz="2800" b="1" dirty="0" err="1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nel</a:t>
            </a:r>
            <a:r>
              <a:rPr lang="en-AU" sz="28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 POC</a:t>
            </a:r>
            <a:r>
              <a:rPr lang="en-AU" sz="28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: il </a:t>
            </a:r>
            <a:r>
              <a:rPr lang="en-AU" sz="2800" dirty="0" err="1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committente</a:t>
            </a:r>
            <a:r>
              <a:rPr lang="en-AU" sz="28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 ha </a:t>
            </a:r>
            <a:r>
              <a:rPr lang="en-AU" sz="2800" dirty="0" err="1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l’ultima</a:t>
            </a:r>
            <a:r>
              <a:rPr lang="en-AU" sz="28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 </a:t>
            </a:r>
            <a:r>
              <a:rPr lang="en-AU" sz="2800" dirty="0" err="1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parola</a:t>
            </a:r>
            <a:r>
              <a:rPr lang="en-AU" sz="28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 ma </a:t>
            </a:r>
            <a:r>
              <a:rPr lang="en-AU" sz="2800" dirty="0" err="1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l’azienda</a:t>
            </a:r>
            <a:r>
              <a:rPr lang="en-AU" sz="28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 ha </a:t>
            </a:r>
            <a:r>
              <a:rPr lang="en-AU" sz="2800" dirty="0" err="1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decisione</a:t>
            </a:r>
            <a:r>
              <a:rPr lang="en-AU" sz="28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 </a:t>
            </a:r>
            <a:r>
              <a:rPr lang="en-AU" sz="2800" dirty="0" err="1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su</a:t>
            </a:r>
            <a:r>
              <a:rPr lang="en-AU" sz="28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 COSA </a:t>
            </a:r>
            <a:r>
              <a:rPr lang="en-AU" sz="2800" dirty="0" err="1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deve</a:t>
            </a:r>
            <a:r>
              <a:rPr lang="en-AU" sz="28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 </a:t>
            </a:r>
            <a:r>
              <a:rPr lang="en-AU" sz="2800" dirty="0" err="1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esserci</a:t>
            </a:r>
            <a:r>
              <a:rPr lang="en-AU" sz="28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 </a:t>
            </a:r>
            <a:r>
              <a:rPr lang="en-AU" sz="2800" dirty="0" err="1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nel</a:t>
            </a:r>
            <a:r>
              <a:rPr lang="en-AU" sz="28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 POC?</a:t>
            </a:r>
          </a:p>
          <a:p>
            <a:pPr marL="587428" lvl="1" indent="-342900">
              <a:lnSpc>
                <a:spcPct val="150000"/>
              </a:lnSpc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en-AU" sz="28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I </a:t>
            </a:r>
            <a:r>
              <a:rPr lang="en-AU" sz="2800" b="1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programmatori</a:t>
            </a:r>
            <a:r>
              <a:rPr lang="en-AU" sz="2800" b="1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 </a:t>
            </a:r>
            <a:r>
              <a:rPr lang="en-AU" sz="2800" b="1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devono</a:t>
            </a:r>
            <a:r>
              <a:rPr lang="en-AU" sz="2800" b="1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 </a:t>
            </a:r>
            <a:r>
              <a:rPr lang="en-AU" sz="2800" b="1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essere</a:t>
            </a:r>
            <a:r>
              <a:rPr lang="en-AU" sz="2800" b="1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 </a:t>
            </a:r>
            <a:r>
              <a:rPr lang="en-AU" sz="2800" b="1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interscambiabili</a:t>
            </a:r>
            <a:r>
              <a:rPr lang="en-AU" sz="28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? </a:t>
            </a:r>
          </a:p>
          <a:p>
            <a:pPr marL="587428" lvl="1" indent="-342900">
              <a:lnSpc>
                <a:spcPct val="150000"/>
              </a:lnSpc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en-AU" sz="2800" b="1" noProof="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Il POC </a:t>
            </a:r>
            <a:r>
              <a:rPr lang="en-AU" sz="2800" noProof="0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deve</a:t>
            </a:r>
            <a:r>
              <a:rPr lang="en-AU" sz="2800" noProof="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 </a:t>
            </a:r>
            <a:r>
              <a:rPr lang="en-AU" sz="2800" noProof="0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essere</a:t>
            </a:r>
            <a:r>
              <a:rPr lang="en-AU" sz="2800" noProof="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 </a:t>
            </a:r>
            <a:r>
              <a:rPr lang="en-AU" sz="2800" b="1" noProof="0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direttamente</a:t>
            </a:r>
            <a:r>
              <a:rPr lang="en-AU" sz="2800" b="1" noProof="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 </a:t>
            </a:r>
            <a:r>
              <a:rPr lang="en-AU" sz="2800" b="1" noProof="0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eseguibile</a:t>
            </a:r>
            <a:r>
              <a:rPr lang="en-AU" sz="2800" noProof="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? (</a:t>
            </a:r>
            <a:r>
              <a:rPr lang="en-AU" sz="2800" noProof="0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compilato</a:t>
            </a:r>
            <a:r>
              <a:rPr lang="en-AU" sz="2800" noProof="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 o </a:t>
            </a:r>
            <a:r>
              <a:rPr lang="en-AU" sz="2800" noProof="0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pacchettizzato</a:t>
            </a:r>
            <a:r>
              <a:rPr lang="en-AU" sz="28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)</a:t>
            </a:r>
            <a:endParaRPr lang="en-AU" sz="2800" noProof="0" dirty="0"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  <a:sym typeface="Overpass"/>
            </a:endParaRPr>
          </a:p>
          <a:p>
            <a:pPr marL="587428" lvl="1" indent="-342900">
              <a:lnSpc>
                <a:spcPct val="150000"/>
              </a:lnSpc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it-IT" sz="3000" noProof="0" dirty="0">
                <a:solidFill>
                  <a:srgbClr val="000000"/>
                </a:solidFill>
                <a:latin typeface="Overpass"/>
                <a:ea typeface="Overpass"/>
                <a:cs typeface="Arial" panose="020B0604020202020204" pitchFamily="34" charset="0"/>
                <a:sym typeface="Overpass"/>
              </a:rPr>
              <a:t>Dubbi sul contenuto del piano di qualifica</a:t>
            </a:r>
          </a:p>
          <a:p>
            <a:pPr marL="587428" lvl="1" indent="-342900">
              <a:lnSpc>
                <a:spcPct val="150000"/>
              </a:lnSpc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it-IT" sz="3000" dirty="0">
                <a:solidFill>
                  <a:srgbClr val="000000"/>
                </a:solidFill>
                <a:latin typeface="Overpass"/>
                <a:ea typeface="Overpass"/>
                <a:cs typeface="Arial" panose="020B0604020202020204" pitchFamily="34" charset="0"/>
                <a:sym typeface="Overpass"/>
              </a:rPr>
              <a:t>Cosa aspettarci dalla presentazione per l’RTB</a:t>
            </a:r>
            <a:endParaRPr lang="it-IT" sz="3000" noProof="0" dirty="0">
              <a:solidFill>
                <a:srgbClr val="000000"/>
              </a:solidFill>
              <a:latin typeface="Overpass"/>
              <a:ea typeface="Overpass"/>
              <a:cs typeface="Arial" panose="020B0604020202020204" pitchFamily="34" charset="0"/>
              <a:sym typeface="Overpas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20BE05-58AB-3574-E183-2DBEBA726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90795F90-0000-2CBA-2120-C0F0622E19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989" t="67035"/>
          <a:stretch>
            <a:fillRect/>
          </a:stretch>
        </p:blipFill>
        <p:spPr>
          <a:xfrm>
            <a:off x="14955704" y="7197948"/>
            <a:ext cx="3468258" cy="3089052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FFF4DB97-8A63-1AFD-3362-228CE60C4ED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4034" b="46739"/>
          <a:stretch>
            <a:fillRect/>
          </a:stretch>
        </p:blipFill>
        <p:spPr>
          <a:xfrm rot="-5400000" flipH="1">
            <a:off x="796990" y="-796989"/>
            <a:ext cx="3314701" cy="4908680"/>
          </a:xfrm>
          <a:prstGeom prst="rect">
            <a:avLst/>
          </a:prstGeom>
        </p:spPr>
      </p:pic>
      <p:grpSp>
        <p:nvGrpSpPr>
          <p:cNvPr id="4" name="Group 4">
            <a:extLst>
              <a:ext uri="{FF2B5EF4-FFF2-40B4-BE49-F238E27FC236}">
                <a16:creationId xmlns:a16="http://schemas.microsoft.com/office/drawing/2014/main" id="{81FF391C-DE14-AF06-5B4B-14B33D2FA3C3}"/>
              </a:ext>
            </a:extLst>
          </p:cNvPr>
          <p:cNvGrpSpPr/>
          <p:nvPr/>
        </p:nvGrpSpPr>
        <p:grpSpPr>
          <a:xfrm>
            <a:off x="360731" y="61710"/>
            <a:ext cx="17566537" cy="4370529"/>
            <a:chOff x="-230225" y="349247"/>
            <a:chExt cx="23422050" cy="5827370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5183D3BC-6604-E696-D7E0-929CB2780D06}"/>
                </a:ext>
              </a:extLst>
            </p:cNvPr>
            <p:cNvSpPr txBox="1"/>
            <p:nvPr/>
          </p:nvSpPr>
          <p:spPr>
            <a:xfrm>
              <a:off x="0" y="3571631"/>
              <a:ext cx="11609426" cy="260498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87428" lvl="1" indent="-342900" algn="l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endParaRPr lang="it-IT" sz="9600" noProof="0" dirty="0">
                <a:solidFill>
                  <a:srgbClr val="000000"/>
                </a:solidFill>
                <a:latin typeface="Overpass"/>
                <a:ea typeface="Overpass"/>
                <a:cs typeface="Arial" panose="020B0604020202020204" pitchFamily="34" charset="0"/>
                <a:sym typeface="Overpass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6D04319F-46F2-CC37-7832-E58CE034A257}"/>
                </a:ext>
              </a:extLst>
            </p:cNvPr>
            <p:cNvSpPr txBox="1"/>
            <p:nvPr/>
          </p:nvSpPr>
          <p:spPr>
            <a:xfrm>
              <a:off x="-230225" y="349247"/>
              <a:ext cx="23422050" cy="23538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212"/>
                </a:lnSpc>
              </a:pPr>
              <a:r>
                <a:rPr lang="en-AU" sz="9600" b="1" noProof="0" dirty="0">
                  <a:solidFill>
                    <a:srgbClr val="000000"/>
                  </a:solidFill>
                  <a:latin typeface="Goudy" panose="020B0604020202020204" charset="0"/>
                  <a:ea typeface="Fredoka"/>
                  <a:cs typeface="Fredoka"/>
                  <a:sym typeface="Fredoka"/>
                </a:rPr>
                <a:t>PREVISION</a:t>
              </a:r>
              <a:r>
                <a:rPr lang="en-AU" sz="9600" b="1" dirty="0">
                  <a:solidFill>
                    <a:srgbClr val="000000"/>
                  </a:solidFill>
                  <a:latin typeface="Goudy" panose="020B0604020202020204" charset="0"/>
                  <a:ea typeface="Fredoka"/>
                  <a:cs typeface="Fredoka"/>
                  <a:sym typeface="Fredoka"/>
                </a:rPr>
                <a:t>E</a:t>
              </a:r>
              <a:r>
                <a:rPr lang="en-AU" sz="9600" b="1" noProof="0" dirty="0">
                  <a:solidFill>
                    <a:srgbClr val="000000"/>
                  </a:solidFill>
                  <a:latin typeface="Goudy" panose="020B0604020202020204" charset="0"/>
                  <a:ea typeface="Fredoka"/>
                  <a:cs typeface="Fredoka"/>
                  <a:sym typeface="Fredoka"/>
                </a:rPr>
                <a:t> CANDIDATURA</a:t>
              </a:r>
              <a:endParaRPr lang="it-IT" sz="9600" b="1" noProof="0" dirty="0">
                <a:solidFill>
                  <a:srgbClr val="000000"/>
                </a:solidFill>
                <a:latin typeface="Goudy" panose="020B0604020202020204" charset="0"/>
                <a:ea typeface="Fredoka"/>
                <a:cs typeface="Fredoka"/>
                <a:sym typeface="Fredoka"/>
              </a:endParaRPr>
            </a:p>
          </p:txBody>
        </p:sp>
      </p:grp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AB1A0182-0C03-93A7-1960-40FAC9E4515E}"/>
              </a:ext>
            </a:extLst>
          </p:cNvPr>
          <p:cNvSpPr txBox="1"/>
          <p:nvPr/>
        </p:nvSpPr>
        <p:spPr>
          <a:xfrm>
            <a:off x="4371975" y="4917605"/>
            <a:ext cx="9372600" cy="451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87428" lvl="1" indent="-342900">
              <a:lnSpc>
                <a:spcPct val="150000"/>
              </a:lnSpc>
              <a:spcBef>
                <a:spcPts val="1800"/>
              </a:spcBef>
              <a:buFont typeface="Wingdings" panose="05000000000000000000" pitchFamily="2" charset="2"/>
              <a:buChar char="Ø"/>
            </a:pPr>
            <a:endParaRPr lang="en-AU" sz="1800" noProof="0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  <a:sym typeface="Overpass"/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181FE210-9A07-4C4A-1925-3E17F2D97D20}"/>
              </a:ext>
            </a:extLst>
          </p:cNvPr>
          <p:cNvSpPr txBox="1"/>
          <p:nvPr/>
        </p:nvSpPr>
        <p:spPr>
          <a:xfrm>
            <a:off x="1240594" y="1793793"/>
            <a:ext cx="17047405" cy="2590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87428" lvl="1" indent="-342900">
              <a:lnSpc>
                <a:spcPct val="150000"/>
              </a:lnSpc>
              <a:spcBef>
                <a:spcPts val="1800"/>
              </a:spcBef>
              <a:buFont typeface="Wingdings" panose="05000000000000000000" pitchFamily="2" charset="2"/>
              <a:buChar char="Ø"/>
            </a:pPr>
            <a:endParaRPr lang="en-AU" sz="3600" noProof="0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  <a:sym typeface="Overpass"/>
            </a:endParaRPr>
          </a:p>
          <a:p>
            <a:pPr marL="244528" lvl="1">
              <a:lnSpc>
                <a:spcPct val="150000"/>
              </a:lnSpc>
              <a:spcBef>
                <a:spcPts val="1800"/>
              </a:spcBef>
            </a:pPr>
            <a:r>
              <a:rPr lang="it-IT" sz="2800" b="1" noProof="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Date: </a:t>
            </a:r>
            <a:r>
              <a:rPr lang="it-IT" sz="2800" noProof="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O</a:t>
            </a:r>
            <a:r>
              <a:rPr lang="it-IT" sz="2800" b="1" noProof="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 metà gennaio </a:t>
            </a:r>
            <a:r>
              <a:rPr lang="it-IT" sz="2800" noProof="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O </a:t>
            </a:r>
            <a:r>
              <a:rPr lang="it-IT" sz="2800" b="1" noProof="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fine gennaio</a:t>
            </a:r>
          </a:p>
          <a:p>
            <a:pPr marL="244528" lvl="1">
              <a:lnSpc>
                <a:spcPct val="150000"/>
              </a:lnSpc>
              <a:spcBef>
                <a:spcPts val="1800"/>
              </a:spcBef>
            </a:pPr>
            <a:r>
              <a:rPr lang="it-IT" sz="2800" noProof="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Decisione definitiva nei prossimi giorni</a:t>
            </a:r>
            <a:endParaRPr lang="it-IT" sz="2400" noProof="0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  <a:sym typeface="Overpass"/>
            </a:endParaRPr>
          </a:p>
        </p:txBody>
      </p:sp>
    </p:spTree>
    <p:extLst>
      <p:ext uri="{BB962C8B-B14F-4D97-AF65-F5344CB8AC3E}">
        <p14:creationId xmlns:p14="http://schemas.microsoft.com/office/powerpoint/2010/main" val="2469043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797</TotalTime>
  <Words>170</Words>
  <Application>Microsoft Office PowerPoint</Application>
  <PresentationFormat>Personalizzato</PresentationFormat>
  <Paragraphs>26</Paragraphs>
  <Slides>4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10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15" baseType="lpstr">
      <vt:lpstr>Goudy</vt:lpstr>
      <vt:lpstr>Tenor Sans</vt:lpstr>
      <vt:lpstr>Overpass</vt:lpstr>
      <vt:lpstr>Calibri</vt:lpstr>
      <vt:lpstr>Neue Montreal</vt:lpstr>
      <vt:lpstr>Aptos</vt:lpstr>
      <vt:lpstr>Arial</vt:lpstr>
      <vt:lpstr>Wingdings</vt:lpstr>
      <vt:lpstr>Neue Montreal Bold</vt:lpstr>
      <vt:lpstr>Verdana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Progetto di Gruppo</dc:title>
  <dc:creator>linolino</dc:creator>
  <cp:lastModifiedBy>Linor Sadè</cp:lastModifiedBy>
  <cp:revision>43</cp:revision>
  <dcterms:created xsi:type="dcterms:W3CDTF">2006-08-16T00:00:00Z</dcterms:created>
  <dcterms:modified xsi:type="dcterms:W3CDTF">2026-01-08T10:14:16Z</dcterms:modified>
  <dc:identifier>DAG2oYW1E2g</dc:identifier>
</cp:coreProperties>
</file>