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Goudy" panose="020B0604020202020204" charset="0"/>
      <p:regular r:id="rId7"/>
    </p:embeddedFont>
    <p:embeddedFont>
      <p:font typeface="Montserrat" panose="00000500000000000000" pitchFamily="2" charset="0"/>
      <p:regular r:id="rId8"/>
      <p:bold r:id="rId9"/>
      <p:italic r:id="rId10"/>
      <p:boldItalic r:id="rId11"/>
    </p:embeddedFont>
    <p:embeddedFont>
      <p:font typeface="Montserrat Bold Italics" panose="020B0604020202020204" charset="0"/>
      <p:regular r:id="rId12"/>
    </p:embeddedFont>
    <p:embeddedFont>
      <p:font typeface="Neue Montreal" panose="020B0604020202020204" charset="0"/>
      <p:regular r:id="rId13"/>
    </p:embeddedFont>
    <p:embeddedFont>
      <p:font typeface="Neue Montreal Bold" panose="020B0604020202020204" charset="0"/>
      <p:regular r:id="rId14"/>
    </p:embeddedFont>
    <p:embeddedFont>
      <p:font typeface="Overpass" panose="020B0604020202020204" charset="0"/>
      <p:regular r:id="rId15"/>
    </p:embeddedFont>
    <p:embeddedFont>
      <p:font typeface="Tenor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14/11/2025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9167958"/>
            <a:chOff x="0" y="471724"/>
            <a:chExt cx="23422050" cy="12223941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91240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Scelto il nome del gruppo</a:t>
              </a:r>
            </a:p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Creato il logo e l’email del gruppo</a:t>
              </a:r>
            </a:p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Definite le tecnologie da usare</a:t>
              </a:r>
            </a:p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Valutati tutti i capitolati disponibili</a:t>
              </a:r>
            </a:p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Inviate email e avuto incontri con le aziende:</a:t>
              </a:r>
            </a:p>
            <a:p>
              <a:pPr marL="1250950" lvl="1" indent="-528638" algn="just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v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Zucchetti S.P.A</a:t>
              </a:r>
            </a:p>
            <a:p>
              <a:pPr marL="1250950" lvl="1" indent="-528638" algn="just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v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Miriade</a:t>
              </a:r>
            </a:p>
            <a:p>
              <a:pPr marL="1250950" lvl="1" indent="-528638" algn="just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v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M31</a:t>
              </a:r>
            </a:p>
            <a:p>
              <a:pPr marL="1250950" lvl="1" indent="-528638" algn="just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v"/>
              </a:pPr>
              <a:r>
                <a:rPr lang="it-IT" sz="3000" noProof="0" dirty="0" err="1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Eggon</a:t>
              </a: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  <a:p>
              <a:pPr marL="1250950" lvl="1" indent="-528638" algn="just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v"/>
              </a:pPr>
              <a:r>
                <a:rPr lang="it-IT" sz="3000" noProof="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Vimar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4550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2000" b="1" noProof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ATTIVITÀ </a:t>
              </a:r>
              <a:r>
                <a:rPr lang="it-IT" sz="12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SVOLTE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9677400" y="2533608"/>
            <a:ext cx="9491868" cy="4857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Analisi dettagliata di tutti i capitolati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Scelta finale: C5 – </a:t>
            </a:r>
            <a:r>
              <a:rPr lang="it-IT" sz="3000" noProof="0" dirty="0" err="1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Nexum</a:t>
            </a: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(</a:t>
            </a:r>
            <a:r>
              <a:rPr lang="it-IT" sz="3000" noProof="0" dirty="0" err="1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Eggon</a:t>
            </a: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)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Candidatura formale per il capitolato C5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Dichiarazione degli impegni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Iniziato a scrivere il glossario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Abbiamo creato il nostro repository GitHub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Abbiamo creato il sito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6568573"/>
            <a:chOff x="0" y="-16005"/>
            <a:chExt cx="26224497" cy="8758096"/>
          </a:xfrm>
        </p:grpSpPr>
        <p:sp>
          <p:nvSpPr>
            <p:cNvPr id="5" name="TextBox 5"/>
            <p:cNvSpPr txBox="1"/>
            <p:nvPr/>
          </p:nvSpPr>
          <p:spPr>
            <a:xfrm>
              <a:off x="0" y="4560690"/>
              <a:ext cx="24496982" cy="418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noProof="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Completare e sistemare alcune sezioni dei documenti già redatti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noProof="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Suddividere i compiti per ruoli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noProof="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Continuare la creazione di contenuti del file “Norme di Progetto”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Aggiornamento glossario</a:t>
              </a:r>
              <a:endParaRPr lang="it-IT" sz="3500" noProof="0" dirty="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455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2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PROSSIME ATTIVITÀ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>
            <a:extLst>
              <a:ext uri="{FF2B5EF4-FFF2-40B4-BE49-F238E27FC236}">
                <a16:creationId xmlns:a16="http://schemas.microsoft.com/office/drawing/2014/main" id="{EDFC4036-2EFD-8F9B-FFB4-54D4BAAA3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0D721561-D66A-8ADB-398C-BE4D6021CD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64989" y="1977212"/>
            <a:ext cx="5177943" cy="6747688"/>
            <a:chOff x="0" y="0"/>
            <a:chExt cx="1213495" cy="11674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3495" cy="1167403"/>
            </a:xfrm>
            <a:custGeom>
              <a:avLst/>
              <a:gdLst/>
              <a:ahLst/>
              <a:cxnLst/>
              <a:rect l="l" t="t" r="r" b="b"/>
              <a:pathLst>
                <a:path w="1213495" h="1167403">
                  <a:moveTo>
                    <a:pt x="0" y="0"/>
                  </a:moveTo>
                  <a:lnTo>
                    <a:pt x="1213495" y="0"/>
                  </a:lnTo>
                  <a:lnTo>
                    <a:pt x="1213495" y="1167403"/>
                  </a:lnTo>
                  <a:lnTo>
                    <a:pt x="0" y="1167403"/>
                  </a:lnTo>
                  <a:close/>
                </a:path>
              </a:pathLst>
            </a:custGeom>
            <a:solidFill>
              <a:srgbClr val="F0EBE3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13495" cy="120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 lang="it-IT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57260" y="1977212"/>
            <a:ext cx="5177943" cy="6747688"/>
            <a:chOff x="0" y="0"/>
            <a:chExt cx="1213495" cy="11674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3495" cy="1167403"/>
            </a:xfrm>
            <a:custGeom>
              <a:avLst/>
              <a:gdLst/>
              <a:ahLst/>
              <a:cxnLst/>
              <a:rect l="l" t="t" r="r" b="b"/>
              <a:pathLst>
                <a:path w="1213495" h="1167403">
                  <a:moveTo>
                    <a:pt x="0" y="0"/>
                  </a:moveTo>
                  <a:lnTo>
                    <a:pt x="1213495" y="0"/>
                  </a:lnTo>
                  <a:lnTo>
                    <a:pt x="1213495" y="1167403"/>
                  </a:lnTo>
                  <a:lnTo>
                    <a:pt x="0" y="1167403"/>
                  </a:lnTo>
                  <a:close/>
                </a:path>
              </a:pathLst>
            </a:custGeom>
            <a:solidFill>
              <a:srgbClr val="F0EBE3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13495" cy="120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 lang="it-IT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45068" y="1977212"/>
            <a:ext cx="5177943" cy="6747688"/>
            <a:chOff x="0" y="0"/>
            <a:chExt cx="1213495" cy="11674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3495" cy="1167403"/>
            </a:xfrm>
            <a:custGeom>
              <a:avLst/>
              <a:gdLst/>
              <a:ahLst/>
              <a:cxnLst/>
              <a:rect l="l" t="t" r="r" b="b"/>
              <a:pathLst>
                <a:path w="1213495" h="1167403">
                  <a:moveTo>
                    <a:pt x="0" y="0"/>
                  </a:moveTo>
                  <a:lnTo>
                    <a:pt x="1213495" y="0"/>
                  </a:lnTo>
                  <a:lnTo>
                    <a:pt x="1213495" y="1167403"/>
                  </a:lnTo>
                  <a:lnTo>
                    <a:pt x="0" y="1167403"/>
                  </a:lnTo>
                  <a:close/>
                </a:path>
              </a:pathLst>
            </a:custGeom>
            <a:solidFill>
              <a:srgbClr val="F0EBE3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13495" cy="1205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 lang="it-IT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4989" y="1977212"/>
            <a:ext cx="5177943" cy="204546"/>
            <a:chOff x="0" y="0"/>
            <a:chExt cx="1213495" cy="479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3495" cy="47937"/>
            </a:xfrm>
            <a:custGeom>
              <a:avLst/>
              <a:gdLst/>
              <a:ahLst/>
              <a:cxnLst/>
              <a:rect l="l" t="t" r="r" b="b"/>
              <a:pathLst>
                <a:path w="1213495" h="47937">
                  <a:moveTo>
                    <a:pt x="0" y="0"/>
                  </a:moveTo>
                  <a:lnTo>
                    <a:pt x="1213495" y="0"/>
                  </a:lnTo>
                  <a:lnTo>
                    <a:pt x="1213495" y="47937"/>
                  </a:lnTo>
                  <a:lnTo>
                    <a:pt x="0" y="47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13495" cy="86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lang="it-IT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57260" y="1977212"/>
            <a:ext cx="5177943" cy="204546"/>
            <a:chOff x="0" y="0"/>
            <a:chExt cx="1213495" cy="479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3495" cy="47937"/>
            </a:xfrm>
            <a:custGeom>
              <a:avLst/>
              <a:gdLst/>
              <a:ahLst/>
              <a:cxnLst/>
              <a:rect l="l" t="t" r="r" b="b"/>
              <a:pathLst>
                <a:path w="1213495" h="47937">
                  <a:moveTo>
                    <a:pt x="0" y="0"/>
                  </a:moveTo>
                  <a:lnTo>
                    <a:pt x="1213495" y="0"/>
                  </a:lnTo>
                  <a:lnTo>
                    <a:pt x="1213495" y="47937"/>
                  </a:lnTo>
                  <a:lnTo>
                    <a:pt x="0" y="47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13495" cy="86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lang="it-IT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45068" y="1977212"/>
            <a:ext cx="5177943" cy="204546"/>
            <a:chOff x="0" y="0"/>
            <a:chExt cx="1213495" cy="479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13495" cy="47937"/>
            </a:xfrm>
            <a:custGeom>
              <a:avLst/>
              <a:gdLst/>
              <a:ahLst/>
              <a:cxnLst/>
              <a:rect l="l" t="t" r="r" b="b"/>
              <a:pathLst>
                <a:path w="1213495" h="47937">
                  <a:moveTo>
                    <a:pt x="0" y="0"/>
                  </a:moveTo>
                  <a:lnTo>
                    <a:pt x="1213495" y="0"/>
                  </a:lnTo>
                  <a:lnTo>
                    <a:pt x="1213495" y="47937"/>
                  </a:lnTo>
                  <a:lnTo>
                    <a:pt x="0" y="47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13495" cy="860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lang="it-IT" noProof="0" dirty="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155133" y="2344330"/>
            <a:ext cx="3977729" cy="173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sz="2600" b="1" i="1" noProof="0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Dubbi su come procedere: </a:t>
            </a:r>
          </a:p>
          <a:p>
            <a:pPr algn="ctr">
              <a:lnSpc>
                <a:spcPct val="150000"/>
              </a:lnSpc>
            </a:pPr>
            <a:endParaRPr lang="it-IT" sz="2600" noProof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3237" y="3771900"/>
            <a:ext cx="3977729" cy="293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noProof="0" dirty="0">
                <a:solidFill>
                  <a:srgbClr val="000000"/>
                </a:solidFill>
                <a:latin typeface="Overpass" panose="020B0604020202020204" charset="0"/>
                <a:ea typeface="Montserrat"/>
                <a:cs typeface="Montserrat"/>
                <a:sym typeface="Montserrat"/>
              </a:rPr>
              <a:t>Difficoltà nel valutare la complessità reale</a:t>
            </a:r>
          </a:p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noProof="0" dirty="0">
                <a:solidFill>
                  <a:srgbClr val="000000"/>
                </a:solidFill>
                <a:latin typeface="Overpass" panose="020B0604020202020204" charset="0"/>
                <a:ea typeface="Montserrat"/>
                <a:cs typeface="Montserrat"/>
                <a:sym typeface="Montserrat"/>
              </a:rPr>
              <a:t>Gestione impegni universitari vs progetto</a:t>
            </a:r>
          </a:p>
          <a:p>
            <a:pPr algn="ctr">
              <a:lnSpc>
                <a:spcPct val="150000"/>
              </a:lnSpc>
            </a:pPr>
            <a:endParaRPr lang="it-IT" sz="2600" noProof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245174" y="2344330"/>
            <a:ext cx="3977729" cy="53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sz="2600" b="1" i="1" noProof="0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Idee da condividere: 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D39454E-9071-55EE-5A3F-07C3D1EE76F0}"/>
              </a:ext>
            </a:extLst>
          </p:cNvPr>
          <p:cNvSpPr txBox="1"/>
          <p:nvPr/>
        </p:nvSpPr>
        <p:spPr>
          <a:xfrm>
            <a:off x="1117075" y="2344330"/>
            <a:ext cx="3925749" cy="62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sz="2600" b="1" i="1" dirty="0">
                <a:solidFill>
                  <a:srgbClr val="000000"/>
                </a:solidFill>
                <a:latin typeface="Montserrat Bold Italics"/>
                <a:sym typeface="Montserrat Bold Italics"/>
              </a:rPr>
              <a:t>Difficoltà incontrate: 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102C9FF-0005-4966-C9CC-73A9118FFADD}"/>
              </a:ext>
            </a:extLst>
          </p:cNvPr>
          <p:cNvSpPr txBox="1"/>
          <p:nvPr/>
        </p:nvSpPr>
        <p:spPr>
          <a:xfrm>
            <a:off x="6691516" y="3766930"/>
            <a:ext cx="4904961" cy="1821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dirty="0">
                <a:solidFill>
                  <a:srgbClr val="000000"/>
                </a:solidFill>
                <a:latin typeface="Overpass" panose="020B0604020202020204" charset="0"/>
                <a:sym typeface="Montserrat"/>
              </a:rPr>
              <a:t>Come gestire gli incontri con le aziende efficacemente?</a:t>
            </a:r>
          </a:p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endParaRPr lang="it-IT" sz="2600" dirty="0">
              <a:solidFill>
                <a:srgbClr val="000000"/>
              </a:solidFill>
              <a:latin typeface="Overpass" panose="020B0604020202020204" charset="0"/>
              <a:sym typeface="Montserrat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E2694B7-8DFD-79C9-9AB3-43D576A959DE}"/>
              </a:ext>
            </a:extLst>
          </p:cNvPr>
          <p:cNvSpPr txBox="1"/>
          <p:nvPr/>
        </p:nvSpPr>
        <p:spPr>
          <a:xfrm>
            <a:off x="12800132" y="3766930"/>
            <a:ext cx="4867811" cy="4822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dirty="0">
                <a:solidFill>
                  <a:srgbClr val="000000"/>
                </a:solidFill>
                <a:latin typeface="Overpass" panose="020B0604020202020204" charset="0"/>
                <a:sym typeface="Montserrat"/>
              </a:rPr>
              <a:t>Template standard per documentazione</a:t>
            </a:r>
          </a:p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dirty="0">
                <a:solidFill>
                  <a:srgbClr val="000000"/>
                </a:solidFill>
                <a:latin typeface="Overpass" panose="020B0604020202020204" charset="0"/>
                <a:sym typeface="Montserrat Italics"/>
              </a:rPr>
              <a:t>Riunioni interne di allineamento (pianificate in un calendario condiviso)</a:t>
            </a:r>
          </a:p>
          <a:p>
            <a:pPr marL="436733" lvl="1" indent="-218366" algn="l">
              <a:lnSpc>
                <a:spcPct val="150000"/>
              </a:lnSpc>
              <a:buFont typeface="Arial"/>
              <a:buChar char="•"/>
            </a:pPr>
            <a:r>
              <a:rPr lang="it-IT" sz="2600" dirty="0">
                <a:solidFill>
                  <a:srgbClr val="000000"/>
                </a:solidFill>
                <a:latin typeface="Overpass" panose="020B0604020202020204" charset="0"/>
                <a:sym typeface="Montserrat Italics"/>
              </a:rPr>
              <a:t>Repository GitHub dove condividere i file e documenti utili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Personalizzato</PresentationFormat>
  <Paragraphs>39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6" baseType="lpstr">
      <vt:lpstr>Arial</vt:lpstr>
      <vt:lpstr>Neue Montreal Bold</vt:lpstr>
      <vt:lpstr>Overpass</vt:lpstr>
      <vt:lpstr>Calibri</vt:lpstr>
      <vt:lpstr>Montserrat Bold Italics</vt:lpstr>
      <vt:lpstr>Montserrat</vt:lpstr>
      <vt:lpstr>Neue Montreal</vt:lpstr>
      <vt:lpstr>Wingdings</vt:lpstr>
      <vt:lpstr>Goudy</vt:lpstr>
      <vt:lpstr>Aptos</vt:lpstr>
      <vt:lpstr>Tenor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Alberto Autiero</cp:lastModifiedBy>
  <cp:revision>13</cp:revision>
  <dcterms:created xsi:type="dcterms:W3CDTF">2006-08-16T00:00:00Z</dcterms:created>
  <dcterms:modified xsi:type="dcterms:W3CDTF">2025-11-14T08:21:32Z</dcterms:modified>
  <dc:identifier>DAG2oYW1E2g</dc:identifier>
</cp:coreProperties>
</file>