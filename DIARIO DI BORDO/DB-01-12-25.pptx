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8288000" cy="10287000"/>
  <p:notesSz cx="6858000" cy="9144000"/>
  <p:embeddedFontLst>
    <p:embeddedFont>
      <p:font typeface="Goudy" panose="020B0604020202020204" charset="0"/>
      <p:regular r:id="rId6"/>
    </p:embeddedFont>
    <p:embeddedFont>
      <p:font typeface="Neue Montreal" panose="020B0604020202020204" charset="0"/>
      <p:regular r:id="rId7"/>
    </p:embeddedFont>
    <p:embeddedFont>
      <p:font typeface="Neue Montreal Bold" panose="020B0604020202020204" charset="0"/>
      <p:regular r:id="rId8"/>
    </p:embeddedFont>
    <p:embeddedFont>
      <p:font typeface="Overpass" panose="020B0604020202020204" charset="0"/>
      <p:regular r:id="rId9"/>
    </p:embeddedFont>
    <p:embeddedFont>
      <p:font typeface="Tenor Sans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39" d="100"/>
          <a:sy n="39" d="100"/>
        </p:scale>
        <p:origin x="132" y="9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font" Target="fonts/font2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10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33B30-4F8C-4A4C-AB5E-3B02323E36F5}" type="datetimeFigureOut">
              <a:rPr lang="it-IT" smtClean="0"/>
              <a:t>27/11/2025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08170C-5CFB-499E-8257-3D18EF4D2E0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25633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4108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3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6506" y="8229031"/>
            <a:ext cx="2394262" cy="1358721"/>
            <a:chOff x="0" y="-30918"/>
            <a:chExt cx="630588" cy="35785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30588" cy="300703"/>
            </a:xfrm>
            <a:custGeom>
              <a:avLst/>
              <a:gdLst/>
              <a:ahLst/>
              <a:cxnLst/>
              <a:rect l="l" t="t" r="r" b="b"/>
              <a:pathLst>
                <a:path w="630588" h="300703">
                  <a:moveTo>
                    <a:pt x="0" y="0"/>
                  </a:moveTo>
                  <a:lnTo>
                    <a:pt x="630588" y="0"/>
                  </a:lnTo>
                  <a:lnTo>
                    <a:pt x="630588" y="300703"/>
                  </a:lnTo>
                  <a:lnTo>
                    <a:pt x="0" y="300703"/>
                  </a:lnTo>
                  <a:close/>
                </a:path>
              </a:pathLst>
            </a:custGeom>
            <a:solidFill>
              <a:srgbClr val="98C4EC"/>
            </a:soli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0918"/>
              <a:ext cx="630588" cy="3578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199"/>
                </a:lnSpc>
              </a:pPr>
              <a:r>
                <a:rPr lang="it-IT" sz="2999" b="1" noProof="0" dirty="0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GRUPPO 4</a:t>
              </a:r>
            </a:p>
            <a:p>
              <a:pPr algn="ctr">
                <a:lnSpc>
                  <a:spcPts val="4199"/>
                </a:lnSpc>
              </a:pPr>
              <a:r>
                <a:rPr lang="it-IT" sz="2999" b="1" noProof="0" dirty="0" err="1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BugBusters</a:t>
              </a:r>
              <a:endParaRPr lang="it-IT" sz="2999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endParaRPr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16856440" y="0"/>
            <a:ext cx="1431560" cy="10287000"/>
            <a:chOff x="0" y="0"/>
            <a:chExt cx="377036" cy="27093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77036" cy="2709333"/>
            </a:xfrm>
            <a:custGeom>
              <a:avLst/>
              <a:gdLst/>
              <a:ahLst/>
              <a:cxnLst/>
              <a:rect l="l" t="t" r="r" b="b"/>
              <a:pathLst>
                <a:path w="377036" h="2709333">
                  <a:moveTo>
                    <a:pt x="0" y="0"/>
                  </a:moveTo>
                  <a:lnTo>
                    <a:pt x="377036" y="0"/>
                  </a:lnTo>
                  <a:lnTo>
                    <a:pt x="377036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FF3B4B">
                    <a:alpha val="100000"/>
                  </a:srgbClr>
                </a:gs>
                <a:gs pos="100000">
                  <a:srgbClr val="98C4EC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377036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 lang="it-IT" noProof="0" dirty="0"/>
            </a:p>
          </p:txBody>
        </p:sp>
      </p:grpSp>
      <p:sp>
        <p:nvSpPr>
          <p:cNvPr id="8" name="Freeform 8"/>
          <p:cNvSpPr/>
          <p:nvPr/>
        </p:nvSpPr>
        <p:spPr>
          <a:xfrm>
            <a:off x="310726" y="359613"/>
            <a:ext cx="1431560" cy="1484953"/>
          </a:xfrm>
          <a:custGeom>
            <a:avLst/>
            <a:gdLst/>
            <a:ahLst/>
            <a:cxnLst/>
            <a:rect l="l" t="t" r="r" b="b"/>
            <a:pathLst>
              <a:path w="1852447" h="1852447">
                <a:moveTo>
                  <a:pt x="0" y="0"/>
                </a:moveTo>
                <a:lnTo>
                  <a:pt x="1852447" y="0"/>
                </a:lnTo>
                <a:lnTo>
                  <a:pt x="1852447" y="1852447"/>
                </a:lnTo>
                <a:lnTo>
                  <a:pt x="0" y="185244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3105150"/>
            <a:ext cx="14665662" cy="40957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9"/>
              </a:lnSpc>
            </a:pPr>
            <a:r>
              <a:rPr lang="it-IT" sz="15999" spc="-959" noProof="0" dirty="0">
                <a:solidFill>
                  <a:srgbClr val="000000"/>
                </a:solidFill>
                <a:latin typeface="Goudy"/>
                <a:ea typeface="Goudy"/>
                <a:cs typeface="Goudy"/>
                <a:sym typeface="Goudy"/>
              </a:rPr>
              <a:t>DIARIO DI BORDO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060349" y="681623"/>
            <a:ext cx="3272849" cy="9543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469"/>
              </a:lnSpc>
            </a:pPr>
            <a:r>
              <a:rPr lang="it-IT" sz="2713" noProof="0" dirty="0">
                <a:solidFill>
                  <a:srgbClr val="000000"/>
                </a:solidFill>
                <a:latin typeface="Tenor Sans"/>
                <a:ea typeface="Tenor Sans"/>
                <a:cs typeface="Tenor Sans"/>
                <a:sym typeface="Tenor Sans"/>
              </a:rPr>
              <a:t>UNIVERSITÁ DEGLI STUDI DI PADOVA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453182" y="8229030"/>
            <a:ext cx="9381636" cy="118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0"/>
              </a:lnSpc>
            </a:pPr>
            <a:r>
              <a:rPr lang="it-IT" sz="2300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Team:</a:t>
            </a:r>
            <a:r>
              <a:rPr lang="it-IT" sz="23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Alberto Autiero, Marco Favero, Alberto Pignat, Marco Piro, </a:t>
            </a:r>
            <a:r>
              <a:rPr lang="it-IT" sz="23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Linor</a:t>
            </a:r>
            <a:r>
              <a:rPr lang="it-IT" sz="23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</a:t>
            </a:r>
            <a:r>
              <a:rPr lang="it-IT" sz="23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Sadè</a:t>
            </a:r>
            <a:r>
              <a:rPr lang="it-IT" sz="23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, Leonardo Salviato, Luca Slongo</a:t>
            </a:r>
          </a:p>
          <a:p>
            <a:pPr algn="l">
              <a:lnSpc>
                <a:spcPts val="3220"/>
              </a:lnSpc>
            </a:pPr>
            <a:r>
              <a:rPr lang="it-IT" sz="2300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Docente: </a:t>
            </a:r>
            <a:r>
              <a:rPr lang="it-IT" sz="23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Tullio Vardanega</a:t>
            </a:r>
          </a:p>
        </p:txBody>
      </p:sp>
      <p:pic>
        <p:nvPicPr>
          <p:cNvPr id="14" name="Immagine 13" descr="Immagine che contiene logo, Elementi grafici, design, simbolo&#10;&#10;Il contenuto generato dall'IA potrebbe non essere corretto.">
            <a:extLst>
              <a:ext uri="{FF2B5EF4-FFF2-40B4-BE49-F238E27FC236}">
                <a16:creationId xmlns:a16="http://schemas.microsoft.com/office/drawing/2014/main" id="{75F21F41-09A7-54FF-8F57-7FC200200F3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87434" y="7916545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4955704" y="7197948"/>
            <a:ext cx="3468258" cy="3089052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360731" y="208677"/>
            <a:ext cx="17566537" cy="2935483"/>
            <a:chOff x="0" y="471724"/>
            <a:chExt cx="23422050" cy="3913976"/>
          </a:xfrm>
        </p:grpSpPr>
        <p:sp>
          <p:nvSpPr>
            <p:cNvPr id="5" name="TextBox 5"/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l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471724"/>
              <a:ext cx="23422050" cy="237073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5212"/>
                </a:lnSpc>
              </a:pPr>
              <a:r>
                <a:rPr lang="it-IT" sz="10000" b="1" noProof="0" dirty="0">
                  <a:solidFill>
                    <a:srgbClr val="000000"/>
                  </a:solidFill>
                  <a:latin typeface="Goudy" panose="020B0604020202020204" charset="0"/>
                  <a:ea typeface="Fredoka"/>
                  <a:cs typeface="Fredoka"/>
                  <a:sym typeface="Fredoka"/>
                </a:rPr>
                <a:t>DIFFICOLTÀ INCONTRATE</a:t>
              </a: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C2EA72E-9248-B9E8-48BD-1D01611DB3C9}"/>
              </a:ext>
            </a:extLst>
          </p:cNvPr>
          <p:cNvSpPr txBox="1"/>
          <p:nvPr/>
        </p:nvSpPr>
        <p:spPr>
          <a:xfrm>
            <a:off x="533400" y="2546569"/>
            <a:ext cx="15773400" cy="49897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87428" lvl="1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it-IT" sz="340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rPr>
              <a:t> </a:t>
            </a:r>
            <a:r>
              <a:rPr lang="it-IT" sz="3600" b="1" dirty="0"/>
              <a:t>Integrazione con </a:t>
            </a:r>
            <a:r>
              <a:rPr lang="it-IT" sz="3600" b="1" dirty="0" err="1"/>
              <a:t>Nexum</a:t>
            </a:r>
            <a:r>
              <a:rPr lang="it-IT" sz="3600" b="1" dirty="0"/>
              <a:t>:</a:t>
            </a:r>
            <a:r>
              <a:rPr lang="it-IT" sz="3600" dirty="0"/>
              <a:t> È stato complesso definire e mantenere un confine chiaro tra l'applicazione </a:t>
            </a:r>
            <a:r>
              <a:rPr lang="it-IT" sz="3600" dirty="0" err="1"/>
              <a:t>Nexum</a:t>
            </a:r>
            <a:r>
              <a:rPr lang="it-IT" sz="3600" dirty="0"/>
              <a:t> e la nostra applicazione stand-alone, particolarmente quando si utilizzano i </a:t>
            </a:r>
            <a:r>
              <a:rPr lang="it-IT" sz="3600" dirty="0" err="1"/>
              <a:t>mock</a:t>
            </a:r>
            <a:r>
              <a:rPr lang="it-IT" sz="3600" dirty="0"/>
              <a:t>.</a:t>
            </a:r>
            <a:endParaRPr lang="it-IT" sz="3400" dirty="0">
              <a:solidFill>
                <a:srgbClr val="000000"/>
              </a:solidFill>
              <a:latin typeface="Overpass"/>
              <a:ea typeface="Overpass"/>
              <a:cs typeface="Arial" panose="020B0604020202020204" pitchFamily="34" charset="0"/>
              <a:sym typeface="Overpass"/>
            </a:endParaRPr>
          </a:p>
          <a:p>
            <a:pPr marL="587428" lvl="1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it-IT" sz="3400" dirty="0">
                <a:solidFill>
                  <a:srgbClr val="000000"/>
                </a:solidFill>
                <a:latin typeface="Overpass"/>
                <a:cs typeface="Arial" panose="020B0604020202020204" pitchFamily="34" charset="0"/>
                <a:sym typeface="Overpass"/>
              </a:rPr>
              <a:t> </a:t>
            </a:r>
            <a:r>
              <a:rPr lang="it-IT" sz="3600" b="1" dirty="0"/>
              <a:t>Produttività sotto le aspettative:</a:t>
            </a:r>
            <a:r>
              <a:rPr lang="it-IT" sz="3600" dirty="0"/>
              <a:t> il ritmo di sviluppo è stato più lento del previsto a causa di diverse incertezze/</a:t>
            </a:r>
            <a:r>
              <a:rPr lang="it-IT" sz="3600"/>
              <a:t>dubbi progettuali </a:t>
            </a:r>
            <a:r>
              <a:rPr lang="it-IT" sz="3600" dirty="0"/>
              <a:t>e dei diversi impegni dei membri del team.</a:t>
            </a:r>
            <a:endParaRPr lang="it-IT" sz="3000" noProof="0" dirty="0">
              <a:solidFill>
                <a:srgbClr val="000000"/>
              </a:solidFill>
              <a:latin typeface="Overpass"/>
              <a:ea typeface="Overpass"/>
              <a:cs typeface="Arial" panose="020B0604020202020204" pitchFamily="34" charset="0"/>
              <a:sym typeface="Overpas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3">
            <a:extLst>
              <a:ext uri="{FF2B5EF4-FFF2-40B4-BE49-F238E27FC236}">
                <a16:creationId xmlns:a16="http://schemas.microsoft.com/office/drawing/2014/main" id="{F5702CEF-2064-56B0-3DF4-E8FB344C19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4034" b="46739"/>
          <a:stretch>
            <a:fillRect/>
          </a:stretch>
        </p:blipFill>
        <p:spPr>
          <a:xfrm rot="-5400000" flipH="1">
            <a:off x="796991" y="-796988"/>
            <a:ext cx="3314701" cy="4908680"/>
          </a:xfrm>
          <a:prstGeom prst="rect">
            <a:avLst/>
          </a:prstGeom>
        </p:spPr>
      </p:pic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4955704" y="7197948"/>
            <a:ext cx="3468258" cy="3089052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207205" y="186979"/>
            <a:ext cx="19668373" cy="5984852"/>
            <a:chOff x="0" y="-16005"/>
            <a:chExt cx="26224497" cy="7979801"/>
          </a:xfrm>
        </p:grpSpPr>
        <p:sp>
          <p:nvSpPr>
            <p:cNvPr id="5" name="TextBox 5"/>
            <p:cNvSpPr txBox="1"/>
            <p:nvPr/>
          </p:nvSpPr>
          <p:spPr>
            <a:xfrm>
              <a:off x="638127" y="3646289"/>
              <a:ext cx="20145326" cy="431750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988744" lvl="1" indent="-571500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it-IT" sz="3600" dirty="0"/>
                <a:t>Qual è il ruolo specifico incaricato della redazione dei verbali? Chi è incaricato della loro successiva verifica e approvazione?</a:t>
              </a:r>
              <a:endParaRPr lang="it-IT" sz="340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  <a:p>
              <a:pPr marL="988744" lvl="1" indent="-571500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it-IT" sz="3600" dirty="0"/>
                <a:t>In quale fase progettuale vanno definiti i requisiti del </a:t>
              </a:r>
              <a:r>
                <a:rPr lang="it-IT" sz="3600" dirty="0" err="1"/>
                <a:t>Proof</a:t>
              </a:r>
              <a:r>
                <a:rPr lang="it-IT" sz="3600" dirty="0"/>
                <a:t> of Concept e dove vanno definiti</a:t>
              </a:r>
              <a:r>
                <a:rPr lang="it-IT" sz="3400" dirty="0">
                  <a:solidFill>
                    <a:srgbClr val="000000"/>
                  </a:solidFill>
                  <a:latin typeface="Overpass"/>
                  <a:ea typeface="Overpass"/>
                  <a:cs typeface="Arial" panose="020B0604020202020204" pitchFamily="34" charset="0"/>
                  <a:sym typeface="Overpass"/>
                </a:rPr>
                <a:t>?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16005"/>
              <a:ext cx="26224497" cy="237073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5212"/>
                </a:lnSpc>
              </a:pPr>
              <a:r>
                <a:rPr lang="it-IT" sz="9600" b="1" noProof="0" dirty="0">
                  <a:solidFill>
                    <a:srgbClr val="000000"/>
                  </a:solidFill>
                  <a:latin typeface="Goudy" panose="020B0604020202020204" charset="0"/>
                  <a:ea typeface="Fredoka"/>
                  <a:cs typeface="Fredoka"/>
                  <a:sym typeface="Fredoka"/>
                </a:rPr>
                <a:t>DUBBI SU COME PROCEDERE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145</Words>
  <Application>Microsoft Office PowerPoint</Application>
  <PresentationFormat>Personalizzato</PresentationFormat>
  <Paragraphs>13</Paragraphs>
  <Slides>3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</vt:i4>
      </vt:variant>
    </vt:vector>
  </HeadingPairs>
  <TitlesOfParts>
    <vt:vector size="13" baseType="lpstr">
      <vt:lpstr>Wingdings</vt:lpstr>
      <vt:lpstr>Calibri</vt:lpstr>
      <vt:lpstr>Goudy</vt:lpstr>
      <vt:lpstr>Aptos</vt:lpstr>
      <vt:lpstr>Arial</vt:lpstr>
      <vt:lpstr>Neue Montreal Bold</vt:lpstr>
      <vt:lpstr>Overpass</vt:lpstr>
      <vt:lpstr>Tenor Sans</vt:lpstr>
      <vt:lpstr>Neue Montreal</vt:lpstr>
      <vt:lpstr>Office Theme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Progetto di Gruppo</dc:title>
  <cp:lastModifiedBy>Alberto Autiero</cp:lastModifiedBy>
  <cp:revision>36</cp:revision>
  <dcterms:created xsi:type="dcterms:W3CDTF">2006-08-16T00:00:00Z</dcterms:created>
  <dcterms:modified xsi:type="dcterms:W3CDTF">2025-11-27T14:43:53Z</dcterms:modified>
  <dc:identifier>DAG2oYW1E2g</dc:identifier>
</cp:coreProperties>
</file>