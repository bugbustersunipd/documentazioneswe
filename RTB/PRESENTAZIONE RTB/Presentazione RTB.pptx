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71" r:id="rId4"/>
    <p:sldId id="272" r:id="rId5"/>
    <p:sldId id="273" r:id="rId6"/>
    <p:sldId id="274" r:id="rId7"/>
    <p:sldId id="275" r:id="rId8"/>
    <p:sldId id="276" r:id="rId9"/>
    <p:sldId id="277" r:id="rId10"/>
    <p:sldId id="278" r:id="rId11"/>
  </p:sldIdLst>
  <p:sldSz cx="18288000" cy="10287000"/>
  <p:notesSz cx="6858000" cy="9144000"/>
  <p:embeddedFontLst>
    <p:embeddedFont>
      <p:font typeface="Goudy" panose="020B0604020202020204" charset="0"/>
      <p:regular r:id="rId13"/>
    </p:embeddedFont>
    <p:embeddedFont>
      <p:font typeface="Neue Montreal" panose="020B0604020202020204" charset="0"/>
      <p:regular r:id="rId14"/>
    </p:embeddedFont>
    <p:embeddedFont>
      <p:font typeface="Neue Montreal Bold" panose="020B0604020202020204" charset="0"/>
      <p:regular r:id="rId15"/>
    </p:embeddedFont>
    <p:embeddedFont>
      <p:font typeface="Overpass" panose="020B0604020202020204" charset="0"/>
      <p:regular r:id="rId16"/>
    </p:embeddedFont>
    <p:embeddedFont>
      <p:font typeface="Tenor Sans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AE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Stile con tema 1 - Color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8" d="100"/>
          <a:sy n="68" d="100"/>
        </p:scale>
        <p:origin x="894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5:16:30.7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3B30-4F8C-4A4C-AB5E-3B02323E36F5}" type="datetimeFigureOut">
              <a:rPr lang="it-IT" smtClean="0"/>
              <a:t>09/02/2026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8170C-5CFB-499E-8257-3D18EF4D2E0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5633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C08170C-5CFB-499E-8257-3D18EF4D2E05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341087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729B2-3DD6-7934-967B-094C75BF9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4AFF852-E89E-057A-1D38-453DED5632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CB22940-E3D2-376D-0073-1B881715BE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773DBCD-C00D-1B3C-1E8F-C66246A4FB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93440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7FE87-2A41-EF13-931E-A4331075A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975F18D-5865-BE05-2685-AE965157AC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9C6E39D-65D5-05CE-5936-3D082ED8F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2F618B9-FE6A-9DB0-E592-4A8CD62212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51884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BBBFB-0D3A-756A-36DA-8F999709D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B986AB1-AC2C-2322-F30B-7AF8FDA220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FB8B50F-AF93-1A44-8C7A-01B9C0C92B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67CF5ED-BDE1-B97C-49BA-0CEDF70FD9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600522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83220-EBB2-564E-5A5F-A58C3DA76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8B56BFC-7EC0-CC53-A615-1DA4BD521F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CE8BE82-2835-14AC-C8ED-FAE434305F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37AF6D6-E6ED-A350-CFF3-E03CC1C09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599557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2CE31-21CD-0E24-21EF-DF54B61CA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591AB6B-4E16-DC36-2073-2BBDBBE6AF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1D894E1-756A-DA2C-FA44-BA3681DEA6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073C369-D487-4293-85AD-AFDBF172B0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490983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DF6F7-88DC-E72E-3CFA-AD4E6486F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2067189-0CA7-5825-DB9D-95447D90E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62EF846-0E74-54CD-1254-1E928C1B6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0A155DF-27D3-4C66-D3A2-F02DA99363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96871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736E4-3525-3E78-439B-185079991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23980AF-A41B-7095-D781-D740DD1E05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44EB5CE-F43D-6D55-884E-74E524614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3DCA36B-C317-D179-33A1-8A7C96F1B5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674999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E5F2A-E41C-8FB7-F77D-375E5484B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6117E72-EEBC-2213-BE3E-7C84572129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2463D8E-83FB-DB2D-5007-2721D2AB6D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FB0CFA6-A5F6-6284-4AC3-B516091BAB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392875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customXml" Target="../ink/ink1.xml"/><Relationship Id="rId4" Type="http://schemas.openxmlformats.org/officeDocument/2006/relationships/image" Target="../media/image4.gi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4.gi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4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3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53441" y="8020450"/>
            <a:ext cx="2394262" cy="1358721"/>
            <a:chOff x="0" y="-30918"/>
            <a:chExt cx="630588" cy="35785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0588" cy="300703"/>
            </a:xfrm>
            <a:custGeom>
              <a:avLst/>
              <a:gdLst/>
              <a:ahLst/>
              <a:cxnLst/>
              <a:rect l="l" t="t" r="r" b="b"/>
              <a:pathLst>
                <a:path w="630588" h="300703">
                  <a:moveTo>
                    <a:pt x="0" y="0"/>
                  </a:moveTo>
                  <a:lnTo>
                    <a:pt x="630588" y="0"/>
                  </a:lnTo>
                  <a:lnTo>
                    <a:pt x="630588" y="300703"/>
                  </a:lnTo>
                  <a:lnTo>
                    <a:pt x="0" y="300703"/>
                  </a:lnTo>
                  <a:close/>
                </a:path>
              </a:pathLst>
            </a:custGeom>
            <a:solidFill>
              <a:srgbClr val="98C4EC"/>
            </a:soli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0918"/>
              <a:ext cx="630588" cy="3578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199"/>
                </a:lnSpc>
              </a:pPr>
              <a:r>
                <a:rPr lang="it-IT" sz="2999" b="1" noProof="0" dirty="0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GRUPPO 4</a:t>
              </a:r>
            </a:p>
            <a:p>
              <a:pPr algn="ctr">
                <a:lnSpc>
                  <a:spcPts val="4199"/>
                </a:lnSpc>
              </a:pPr>
              <a:r>
                <a:rPr lang="it-IT" sz="2999" b="1" noProof="0" dirty="0" err="1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BugBusters</a:t>
              </a:r>
              <a:endParaRPr lang="it-IT" sz="2999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6856440" y="0"/>
            <a:ext cx="1431560" cy="10287000"/>
            <a:chOff x="0" y="0"/>
            <a:chExt cx="377036" cy="27093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77036" cy="2709333"/>
            </a:xfrm>
            <a:custGeom>
              <a:avLst/>
              <a:gdLst/>
              <a:ahLst/>
              <a:cxnLst/>
              <a:rect l="l" t="t" r="r" b="b"/>
              <a:pathLst>
                <a:path w="377036" h="2709333">
                  <a:moveTo>
                    <a:pt x="0" y="0"/>
                  </a:moveTo>
                  <a:lnTo>
                    <a:pt x="377036" y="0"/>
                  </a:lnTo>
                  <a:lnTo>
                    <a:pt x="377036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FF3B4B">
                    <a:alpha val="100000"/>
                  </a:srgbClr>
                </a:gs>
                <a:gs pos="100000">
                  <a:srgbClr val="98C4EC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77036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 lang="it-IT" noProof="0" dirty="0"/>
            </a:p>
          </p:txBody>
        </p:sp>
      </p:grpSp>
      <p:sp>
        <p:nvSpPr>
          <p:cNvPr id="8" name="Freeform 8"/>
          <p:cNvSpPr/>
          <p:nvPr/>
        </p:nvSpPr>
        <p:spPr>
          <a:xfrm>
            <a:off x="310726" y="359613"/>
            <a:ext cx="1431560" cy="1484953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Box 10"/>
          <p:cNvSpPr txBox="1"/>
          <p:nvPr/>
        </p:nvSpPr>
        <p:spPr>
          <a:xfrm>
            <a:off x="282652" y="3424288"/>
            <a:ext cx="15185948" cy="37374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399"/>
              </a:lnSpc>
            </a:pPr>
            <a:r>
              <a:rPr lang="it-IT" sz="15999" spc="-959" noProof="0" dirty="0">
                <a:solidFill>
                  <a:srgbClr val="000000"/>
                </a:solidFill>
                <a:latin typeface="Goudy"/>
                <a:ea typeface="Goudy"/>
                <a:cs typeface="Goudy"/>
                <a:sym typeface="Goudy"/>
              </a:rPr>
              <a:t>PRESENTAZIONE RTB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60349" y="681623"/>
            <a:ext cx="3272849" cy="954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469"/>
              </a:lnSpc>
            </a:pPr>
            <a:r>
              <a:rPr lang="it-IT" sz="2713" noProof="0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UNIVERSITÁ DEGLI STUDI DI PADOVA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860974" y="8137842"/>
            <a:ext cx="9381636" cy="8207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2800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Team: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Alberto Autiero, Marco Favero, Alberto Pignat, Marco Piro,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Linor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Sadè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, Leonardo Salviato, Luca Slongo</a:t>
            </a:r>
          </a:p>
        </p:txBody>
      </p:sp>
      <p:pic>
        <p:nvPicPr>
          <p:cNvPr id="14" name="Immagine 13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75F21F41-09A7-54FF-8F57-7FC200200F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14369" y="7707964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/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marR="0" lvl="1" indent="-34290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Char char="Ø"/>
                <a:tabLst/>
                <a:defRPr/>
              </a:pPr>
              <a:endParaRPr kumimoji="0" lang="it-IT" sz="3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471724"/>
              <a:ext cx="23422050" cy="21828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ts val="15212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it-IT" sz="6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COMPRENSIONE OBIETTIVI DEL CAPITOLATO</a:t>
              </a:r>
              <a:endParaRPr kumimoji="0" lang="it-IT" sz="6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C2EA72E-9248-B9E8-48BD-1D01611DB3C9}"/>
              </a:ext>
            </a:extLst>
          </p:cNvPr>
          <p:cNvSpPr txBox="1"/>
          <p:nvPr/>
        </p:nvSpPr>
        <p:spPr>
          <a:xfrm>
            <a:off x="916433" y="2324931"/>
            <a:ext cx="15773400" cy="820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marR="0" lvl="1" indent="-5715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it-IT" sz="3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Analisi dei Requisiti: abbiamo trovato molti requisiti impliciti;</a:t>
            </a:r>
          </a:p>
        </p:txBody>
      </p:sp>
      <p:graphicFrame>
        <p:nvGraphicFramePr>
          <p:cNvPr id="9" name="Tabella 8">
            <a:extLst>
              <a:ext uri="{FF2B5EF4-FFF2-40B4-BE49-F238E27FC236}">
                <a16:creationId xmlns:a16="http://schemas.microsoft.com/office/drawing/2014/main" id="{F1DD467D-F790-0BBE-883B-A6AF2AAAF4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7063615"/>
              </p:ext>
            </p:extLst>
          </p:nvPr>
        </p:nvGraphicFramePr>
        <p:xfrm>
          <a:off x="1676400" y="3623300"/>
          <a:ext cx="15013433" cy="4474845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5760881">
                  <a:extLst>
                    <a:ext uri="{9D8B030D-6E8A-4147-A177-3AD203B41FA5}">
                      <a16:colId xmlns:a16="http://schemas.microsoft.com/office/drawing/2014/main" val="3835509842"/>
                    </a:ext>
                  </a:extLst>
                </a:gridCol>
                <a:gridCol w="2907945">
                  <a:extLst>
                    <a:ext uri="{9D8B030D-6E8A-4147-A177-3AD203B41FA5}">
                      <a16:colId xmlns:a16="http://schemas.microsoft.com/office/drawing/2014/main" val="2437700987"/>
                    </a:ext>
                  </a:extLst>
                </a:gridCol>
                <a:gridCol w="2907945">
                  <a:extLst>
                    <a:ext uri="{9D8B030D-6E8A-4147-A177-3AD203B41FA5}">
                      <a16:colId xmlns:a16="http://schemas.microsoft.com/office/drawing/2014/main" val="2592525380"/>
                    </a:ext>
                  </a:extLst>
                </a:gridCol>
                <a:gridCol w="3436662">
                  <a:extLst>
                    <a:ext uri="{9D8B030D-6E8A-4147-A177-3AD203B41FA5}">
                      <a16:colId xmlns:a16="http://schemas.microsoft.com/office/drawing/2014/main" val="2755886477"/>
                    </a:ext>
                  </a:extLst>
                </a:gridCol>
              </a:tblGrid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Categoria Requisito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Tipo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Quantità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Totale Categoria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2989477"/>
                  </a:ext>
                </a:extLst>
              </a:tr>
              <a:tr h="355178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it-IT" sz="32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Requisiti Funzionali (RF)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Obbligatori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97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256522"/>
                  </a:ext>
                </a:extLst>
              </a:tr>
              <a:tr h="355178"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Opzionali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35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132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224886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Requisiti di Qualità (RQ)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Obbligatori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6610654"/>
                  </a:ext>
                </a:extLst>
              </a:tr>
              <a:tr h="355178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it-IT" sz="32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Requisiti di Vincolo (RV)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Obbligatori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3632447"/>
                  </a:ext>
                </a:extLst>
              </a:tr>
              <a:tr h="355178"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Opzionali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286880"/>
                  </a:ext>
                </a:extLst>
              </a:tr>
              <a:tr h="355178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it-IT" sz="32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Requisiti Prestazionali (RP)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Obbligatori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238322"/>
                  </a:ext>
                </a:extLst>
              </a:tr>
              <a:tr h="355178"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Desiderabili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8060485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TOTALE COMPLESSIVO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162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1170338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Input penna 7">
                <a:extLst>
                  <a:ext uri="{FF2B5EF4-FFF2-40B4-BE49-F238E27FC236}">
                    <a16:creationId xmlns:a16="http://schemas.microsoft.com/office/drawing/2014/main" id="{A29C99DC-E792-7A30-1FFA-AA97E1BF9479}"/>
                  </a:ext>
                </a:extLst>
              </p14:cNvPr>
              <p14:cNvContentPartPr/>
              <p14:nvPr/>
            </p14:nvContentPartPr>
            <p14:xfrm>
              <a:off x="6246194" y="6752215"/>
              <a:ext cx="360" cy="360"/>
            </p14:xfrm>
          </p:contentPart>
        </mc:Choice>
        <mc:Fallback xmlns="">
          <p:pic>
            <p:nvPicPr>
              <p:cNvPr id="8" name="Input penna 7">
                <a:extLst>
                  <a:ext uri="{FF2B5EF4-FFF2-40B4-BE49-F238E27FC236}">
                    <a16:creationId xmlns:a16="http://schemas.microsoft.com/office/drawing/2014/main" id="{A29C99DC-E792-7A30-1FFA-AA97E1BF947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240074" y="6746095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00F40E-F280-F313-B170-16E6288FF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D2636085-A693-D4A3-30C8-9A81F36B80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F131F50A-5B16-F590-D8AA-9DC13126C4C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674D9BAB-0694-8FA4-B90B-BED632C0A45D}"/>
              </a:ext>
            </a:extLst>
          </p:cNvPr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8E434A78-CD44-62AA-A20C-9C574E44F3B0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271B642E-30D7-1A33-189C-B4EB591A7541}"/>
                </a:ext>
              </a:extLst>
            </p:cNvPr>
            <p:cNvSpPr txBox="1"/>
            <p:nvPr/>
          </p:nvSpPr>
          <p:spPr>
            <a:xfrm>
              <a:off x="0" y="471724"/>
              <a:ext cx="23422050" cy="21828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dirty="0">
                  <a:latin typeface="Arial" panose="020B0604020202020204" pitchFamily="34" charset="0"/>
                  <a:cs typeface="Arial" panose="020B0604020202020204" pitchFamily="34" charset="0"/>
                </a:rPr>
                <a:t>COMPRENSIONE OBIETTIVI DEL CAPITOLATO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93CB4F33-0BAA-CFF4-A4F8-FDA9B325A1B4}"/>
              </a:ext>
            </a:extLst>
          </p:cNvPr>
          <p:cNvSpPr txBox="1"/>
          <p:nvPr/>
        </p:nvSpPr>
        <p:spPr>
          <a:xfrm>
            <a:off x="916433" y="2324931"/>
            <a:ext cx="15773400" cy="1651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Alto rischio tecnologico dovuto alla poca esperienza del gruppo con le tecnologie utilizzate</a:t>
            </a:r>
          </a:p>
        </p:txBody>
      </p:sp>
      <p:pic>
        <p:nvPicPr>
          <p:cNvPr id="8" name="Immagine 7" descr="Immagine che contiene Carattere, Elementi grafici, logo, grafica&#10;&#10;Il contenuto generato dall'IA potrebbe non essere corretto.">
            <a:extLst>
              <a:ext uri="{FF2B5EF4-FFF2-40B4-BE49-F238E27FC236}">
                <a16:creationId xmlns:a16="http://schemas.microsoft.com/office/drawing/2014/main" id="{F46F7CF8-0E4D-E768-7C1D-3926AFFCE1C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400" y="4680395"/>
            <a:ext cx="3486637" cy="1314633"/>
          </a:xfrm>
          <a:prstGeom prst="rect">
            <a:avLst/>
          </a:prstGeom>
        </p:spPr>
      </p:pic>
      <p:pic>
        <p:nvPicPr>
          <p:cNvPr id="12" name="Immagine 11" descr="Immagine che contiene simbolo, Elementi grafici, design&#10;&#10;Il contenuto generato dall'IA potrebbe non essere corretto.">
            <a:extLst>
              <a:ext uri="{FF2B5EF4-FFF2-40B4-BE49-F238E27FC236}">
                <a16:creationId xmlns:a16="http://schemas.microsoft.com/office/drawing/2014/main" id="{7344410B-1D5D-AAFC-EDF9-C507CB0B45B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800" y="3878063"/>
            <a:ext cx="3656768" cy="3656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5117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8E8E62-5108-D482-AAA3-E715343C0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E4EC249A-9DDC-7352-79CB-6D8E954031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75268FE3-745A-1979-4FFD-6B8BFC6BF59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361B0CD7-A89E-DE2A-6FBB-1BEC96A7593F}"/>
              </a:ext>
            </a:extLst>
          </p:cNvPr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0E66CC5B-1415-040E-2D86-BD69EAC51F76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B8BE740A-FE9A-E344-E349-87ED38E70557}"/>
                </a:ext>
              </a:extLst>
            </p:cNvPr>
            <p:cNvSpPr txBox="1"/>
            <p:nvPr/>
          </p:nvSpPr>
          <p:spPr>
            <a:xfrm>
              <a:off x="0" y="471724"/>
              <a:ext cx="23422050" cy="220607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MODIFICHE MIGLIORATIVE EFFETTUATE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F8FC53A6-2E64-008D-E70C-C3D2536341D2}"/>
              </a:ext>
            </a:extLst>
          </p:cNvPr>
          <p:cNvSpPr txBox="1"/>
          <p:nvPr/>
        </p:nvSpPr>
        <p:spPr>
          <a:xfrm>
            <a:off x="916433" y="2324931"/>
            <a:ext cx="15773400" cy="1651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Aggiunta di una versione del Glossario utilizzabile ogni volta che si apre un documento del sito</a:t>
            </a:r>
          </a:p>
        </p:txBody>
      </p:sp>
    </p:spTree>
    <p:extLst>
      <p:ext uri="{BB962C8B-B14F-4D97-AF65-F5344CB8AC3E}">
        <p14:creationId xmlns:p14="http://schemas.microsoft.com/office/powerpoint/2010/main" val="3887135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37E254-2660-76BF-DABA-E29EB3ECC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9A07EF05-BB3A-AA4E-51F0-55F87AF3F3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17D02B76-37BA-B73E-A9DE-E1F7BFC4AC4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AC7F0BB9-A6EB-2176-8478-76EBD056C514}"/>
              </a:ext>
            </a:extLst>
          </p:cNvPr>
          <p:cNvGrpSpPr/>
          <p:nvPr/>
        </p:nvGrpSpPr>
        <p:grpSpPr>
          <a:xfrm>
            <a:off x="188063" y="-228599"/>
            <a:ext cx="17566536" cy="1485899"/>
            <a:chOff x="0" y="471724"/>
            <a:chExt cx="23422050" cy="391397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6D72DF4B-077A-88D2-45F8-83AEEECB7871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AEB526A9-A007-4C63-4DDF-4D661FFD04CE}"/>
                </a:ext>
              </a:extLst>
            </p:cNvPr>
            <p:cNvSpPr txBox="1"/>
            <p:nvPr/>
          </p:nvSpPr>
          <p:spPr>
            <a:xfrm>
              <a:off x="0" y="471724"/>
              <a:ext cx="23422050" cy="220607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MODIFICHE MIGLIORATIVE EFFETTUATE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96B5B760-63D5-F27A-63C1-CD0ECBCC2770}"/>
              </a:ext>
            </a:extLst>
          </p:cNvPr>
          <p:cNvSpPr txBox="1"/>
          <p:nvPr/>
        </p:nvSpPr>
        <p:spPr>
          <a:xfrm>
            <a:off x="916433" y="1739229"/>
            <a:ext cx="15773400" cy="1651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Ristrutturazione del sito dividendolo in CANDIDATURA, DIAPOSITIVE E RTB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A6C1D2AB-FFA0-C45F-7A4D-D28A6083D0A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8534" y="3872829"/>
            <a:ext cx="4908680" cy="6390138"/>
          </a:xfrm>
          <a:prstGeom prst="rect">
            <a:avLst/>
          </a:prstGeom>
        </p:spPr>
      </p:pic>
      <p:pic>
        <p:nvPicPr>
          <p:cNvPr id="8" name="Immagine 7" descr="Immagine che contiene testo, software, Pagina Web, numero&#10;&#10;Il contenuto generato dall'IA potrebbe non essere corretto.">
            <a:extLst>
              <a:ext uri="{FF2B5EF4-FFF2-40B4-BE49-F238E27FC236}">
                <a16:creationId xmlns:a16="http://schemas.microsoft.com/office/drawing/2014/main" id="{1D420CE6-53C6-A0AD-AB37-58BCAC66CA4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3872829"/>
            <a:ext cx="7052366" cy="6213864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8942479-65D2-9A5A-09B2-DC2049201200}"/>
              </a:ext>
            </a:extLst>
          </p:cNvPr>
          <p:cNvSpPr txBox="1"/>
          <p:nvPr/>
        </p:nvSpPr>
        <p:spPr>
          <a:xfrm>
            <a:off x="4198070" y="3248786"/>
            <a:ext cx="15937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4000" dirty="0">
                <a:solidFill>
                  <a:srgbClr val="0070C0"/>
                </a:solidFill>
              </a:rPr>
              <a:t>PRIMA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C358EEC8-AB83-4625-696B-C42D283CBDEA}"/>
              </a:ext>
            </a:extLst>
          </p:cNvPr>
          <p:cNvSpPr txBox="1"/>
          <p:nvPr/>
        </p:nvSpPr>
        <p:spPr>
          <a:xfrm>
            <a:off x="12546021" y="3164943"/>
            <a:ext cx="144462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4000" dirty="0">
                <a:solidFill>
                  <a:srgbClr val="0070C0"/>
                </a:solidFill>
              </a:rPr>
              <a:t>DOPO</a:t>
            </a:r>
          </a:p>
        </p:txBody>
      </p:sp>
    </p:spTree>
    <p:extLst>
      <p:ext uri="{BB962C8B-B14F-4D97-AF65-F5344CB8AC3E}">
        <p14:creationId xmlns:p14="http://schemas.microsoft.com/office/powerpoint/2010/main" val="1319620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84F251-74D2-D6A0-DF35-810DC97A1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EC761D68-B4C9-E056-9434-30C6476BF6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3B97A3C2-BDE2-E7C2-3AC0-A52E0EAE3E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593F4571-6FA0-AFD7-E270-4B4EF9438ACF}"/>
              </a:ext>
            </a:extLst>
          </p:cNvPr>
          <p:cNvGrpSpPr/>
          <p:nvPr/>
        </p:nvGrpSpPr>
        <p:grpSpPr>
          <a:xfrm>
            <a:off x="188063" y="266700"/>
            <a:ext cx="17566536" cy="1485899"/>
            <a:chOff x="0" y="471724"/>
            <a:chExt cx="23422050" cy="391397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B2CA414E-7EB1-AD3A-E4E0-06C1C55B727C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696068F1-B303-CDE0-05D6-4E0639955D50}"/>
                </a:ext>
              </a:extLst>
            </p:cNvPr>
            <p:cNvSpPr txBox="1"/>
            <p:nvPr/>
          </p:nvSpPr>
          <p:spPr>
            <a:xfrm>
              <a:off x="0" y="471724"/>
              <a:ext cx="23422050" cy="220607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MODIFICHE MIGLIORATIVE EFFETTUATE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587392E7-25AA-5C8B-B179-59FF6061F484}"/>
              </a:ext>
            </a:extLst>
          </p:cNvPr>
          <p:cNvSpPr txBox="1"/>
          <p:nvPr/>
        </p:nvSpPr>
        <p:spPr>
          <a:xfrm>
            <a:off x="916433" y="2729829"/>
            <a:ext cx="15773400" cy="1651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È stata migliorata l’organizzazione del gruppo con compiti più specifici</a:t>
            </a:r>
          </a:p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Ora vengono utilizzate le Pull </a:t>
            </a:r>
            <a:r>
              <a:rPr lang="it-IT" sz="3600" dirty="0" err="1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Request</a:t>
            </a:r>
            <a:endParaRPr lang="it-IT" sz="3600" dirty="0">
              <a:solidFill>
                <a:srgbClr val="000000"/>
              </a:solidFill>
              <a:latin typeface="Arial" panose="020B0604020202020204" pitchFamily="34" charset="0"/>
              <a:ea typeface="Overpass"/>
              <a:cs typeface="Arial" panose="020B0604020202020204" pitchFamily="34" charset="0"/>
              <a:sym typeface="Overpass"/>
            </a:endParaRPr>
          </a:p>
        </p:txBody>
      </p:sp>
    </p:spTree>
    <p:extLst>
      <p:ext uri="{BB962C8B-B14F-4D97-AF65-F5344CB8AC3E}">
        <p14:creationId xmlns:p14="http://schemas.microsoft.com/office/powerpoint/2010/main" val="30197947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83E44A-613E-D92F-837E-A019C5B86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646DE6D0-D9B0-734A-1FCA-F0CE887653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7984546D-9349-8D71-3F0B-50319B1D30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16CAF2C4-D6E9-870F-DF10-8C565897E6C4}"/>
              </a:ext>
            </a:extLst>
          </p:cNvPr>
          <p:cNvGrpSpPr/>
          <p:nvPr/>
        </p:nvGrpSpPr>
        <p:grpSpPr>
          <a:xfrm>
            <a:off x="188063" y="266700"/>
            <a:ext cx="17566536" cy="1637115"/>
            <a:chOff x="0" y="471724"/>
            <a:chExt cx="23422050" cy="4312291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7DB642F9-0563-89DB-E2FC-DB36054AC348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3163DFA1-F0AD-9454-C503-A5B96B5BD3B1}"/>
                </a:ext>
              </a:extLst>
            </p:cNvPr>
            <p:cNvSpPr txBox="1"/>
            <p:nvPr/>
          </p:nvSpPr>
          <p:spPr>
            <a:xfrm>
              <a:off x="0" y="471724"/>
              <a:ext cx="23422050" cy="43122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AUTOVALUTAZIONE DEL LAVORO SVOLTO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BFC49D7-239D-F711-638F-37B046268569}"/>
              </a:ext>
            </a:extLst>
          </p:cNvPr>
          <p:cNvSpPr txBox="1"/>
          <p:nvPr/>
        </p:nvSpPr>
        <p:spPr>
          <a:xfrm>
            <a:off x="916433" y="2729829"/>
            <a:ext cx="15773400" cy="4157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Generalmente, il gruppo è molto soddisfatto di come sta lavorando</a:t>
            </a:r>
          </a:p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Tutti hanno contribuito al raggiungimento della </a:t>
            </a:r>
            <a:r>
              <a:rPr lang="it-IT" sz="3600" dirty="0" err="1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Requirements</a:t>
            </a: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 and Technology Baseline (ognuno con un compito specifico)</a:t>
            </a:r>
          </a:p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/>
              <a:t>Siamo soddisfatti anche del Proponente </a:t>
            </a:r>
            <a:r>
              <a:rPr lang="it-IT" sz="3600" dirty="0" err="1"/>
              <a:t>Eggon</a:t>
            </a:r>
            <a:r>
              <a:rPr lang="it-IT" sz="3600" dirty="0"/>
              <a:t>, che ci sta seguendo e consigliando con competenza e diligenza.</a:t>
            </a:r>
            <a:endParaRPr lang="it-IT" sz="3600" dirty="0">
              <a:solidFill>
                <a:srgbClr val="000000"/>
              </a:solidFill>
              <a:latin typeface="Arial" panose="020B0604020202020204" pitchFamily="34" charset="0"/>
              <a:ea typeface="Overpass"/>
              <a:cs typeface="Arial" panose="020B0604020202020204" pitchFamily="34" charset="0"/>
              <a:sym typeface="Overpass"/>
            </a:endParaRPr>
          </a:p>
        </p:txBody>
      </p:sp>
    </p:spTree>
    <p:extLst>
      <p:ext uri="{BB962C8B-B14F-4D97-AF65-F5344CB8AC3E}">
        <p14:creationId xmlns:p14="http://schemas.microsoft.com/office/powerpoint/2010/main" val="13774267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CFE1C5-31B8-FC55-EF7C-366C8B3AF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530D894E-9F81-0799-261D-26F26F6E21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87834DC9-29B1-E974-D1B3-0D026A1189C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AD9F58E3-1890-1D4B-C0F4-0EB0C8E4F516}"/>
              </a:ext>
            </a:extLst>
          </p:cNvPr>
          <p:cNvGrpSpPr/>
          <p:nvPr/>
        </p:nvGrpSpPr>
        <p:grpSpPr>
          <a:xfrm>
            <a:off x="188063" y="266700"/>
            <a:ext cx="17566536" cy="1637115"/>
            <a:chOff x="0" y="471724"/>
            <a:chExt cx="23422050" cy="4312291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35D18617-82DE-DA34-1F16-E2D0676DC643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2AD933A2-B2B9-22ED-4DF8-95471540F4B1}"/>
                </a:ext>
              </a:extLst>
            </p:cNvPr>
            <p:cNvSpPr txBox="1"/>
            <p:nvPr/>
          </p:nvSpPr>
          <p:spPr>
            <a:xfrm>
              <a:off x="0" y="471724"/>
              <a:ext cx="23422050" cy="43122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ESITO DELLA RIUNIONE CON IL PROF. CARDIN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57A3278-2F26-2792-E468-CCB134F64108}"/>
              </a:ext>
            </a:extLst>
          </p:cNvPr>
          <p:cNvSpPr txBox="1"/>
          <p:nvPr/>
        </p:nvSpPr>
        <p:spPr>
          <a:xfrm>
            <a:off x="916433" y="2729829"/>
            <a:ext cx="15773400" cy="6466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9600" dirty="0">
                <a:solidFill>
                  <a:srgbClr val="FF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DA FARE DOPO AVER AVUTO IL SEMAFORO VERDE</a:t>
            </a:r>
          </a:p>
        </p:txBody>
      </p:sp>
    </p:spTree>
    <p:extLst>
      <p:ext uri="{BB962C8B-B14F-4D97-AF65-F5344CB8AC3E}">
        <p14:creationId xmlns:p14="http://schemas.microsoft.com/office/powerpoint/2010/main" val="3161461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D4D9B0-7A4C-77CA-6F86-61352E384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E88F7ECE-4608-AEEA-6C84-A8FB95AC7B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EBC4EDA7-3E7A-0119-B8BF-2243AA82BC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4BA6D79A-42A3-C42E-CE50-8BF632182851}"/>
              </a:ext>
            </a:extLst>
          </p:cNvPr>
          <p:cNvGrpSpPr/>
          <p:nvPr/>
        </p:nvGrpSpPr>
        <p:grpSpPr>
          <a:xfrm>
            <a:off x="188063" y="-419100"/>
            <a:ext cx="17566536" cy="2171699"/>
            <a:chOff x="0" y="-1334729"/>
            <a:chExt cx="23422050" cy="5720429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1902543C-BCD1-5CE3-06D3-3D8062697C9A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50D82B6C-4CC0-9C4B-F2EC-FA94D2C99DCD}"/>
                </a:ext>
              </a:extLst>
            </p:cNvPr>
            <p:cNvSpPr txBox="1"/>
            <p:nvPr/>
          </p:nvSpPr>
          <p:spPr>
            <a:xfrm>
              <a:off x="0" y="-1334729"/>
              <a:ext cx="23422050" cy="42661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54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CONSUNTIVO DI PERIODO ALLO STATO ATTUALE</a:t>
              </a:r>
              <a:endParaRPr lang="it-IT" sz="60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FA244DA-B435-F2A0-5FB4-CFA19085ECFA}"/>
              </a:ext>
            </a:extLst>
          </p:cNvPr>
          <p:cNvSpPr>
            <a:spLocks noGrp="1"/>
          </p:cNvSpPr>
          <p:nvPr/>
        </p:nvSpPr>
        <p:spPr>
          <a:xfrm>
            <a:off x="2797241" y="1485900"/>
            <a:ext cx="13335000" cy="78867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600"/>
              </a:spcAft>
              <a:buNone/>
              <a:defRPr sz="1600">
                <a:solidFill>
                  <a:srgbClr val="212529"/>
                </a:solidFill>
              </a:defRPr>
            </a:pPr>
            <a:r>
              <a:rPr lang="it-IT" sz="3500" dirty="0">
                <a:solidFill>
                  <a:srgbClr val="FF0000"/>
                </a:solidFill>
              </a:rPr>
              <a:t>Risorse</a:t>
            </a:r>
            <a:r>
              <a:rPr sz="3500" dirty="0">
                <a:solidFill>
                  <a:srgbClr val="FF0000"/>
                </a:solidFill>
              </a:rPr>
              <a:t> </a:t>
            </a:r>
            <a:r>
              <a:rPr sz="3500" dirty="0" err="1">
                <a:solidFill>
                  <a:srgbClr val="FF0000"/>
                </a:solidFill>
              </a:rPr>
              <a:t>utilizzate</a:t>
            </a:r>
            <a:r>
              <a:rPr sz="3500" dirty="0">
                <a:solidFill>
                  <a:srgbClr val="FF0000"/>
                </a:solidFill>
              </a:rPr>
              <a:t> </a:t>
            </a:r>
            <a:r>
              <a:rPr sz="3500" dirty="0" err="1">
                <a:solidFill>
                  <a:srgbClr val="FF0000"/>
                </a:solidFill>
              </a:rPr>
              <a:t>fino</a:t>
            </a:r>
            <a:r>
              <a:rPr lang="it-IT" sz="3500" dirty="0">
                <a:solidFill>
                  <a:srgbClr val="FF0000"/>
                </a:solidFill>
              </a:rPr>
              <a:t> allo</a:t>
            </a:r>
            <a:r>
              <a:rPr sz="3500" dirty="0">
                <a:solidFill>
                  <a:srgbClr val="FF0000"/>
                </a:solidFill>
              </a:rPr>
              <a:t> Sprint 4:</a:t>
            </a: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5F25C64C-22F5-9AE8-6A66-186454EE6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5165607"/>
              </p:ext>
            </p:extLst>
          </p:nvPr>
        </p:nvGraphicFramePr>
        <p:xfrm>
          <a:off x="4491110" y="2277584"/>
          <a:ext cx="9525000" cy="35220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75000">
                  <a:extLst>
                    <a:ext uri="{9D8B030D-6E8A-4147-A177-3AD203B41FA5}">
                      <a16:colId xmlns:a16="http://schemas.microsoft.com/office/drawing/2014/main" val="532949470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1154503784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1526813476"/>
                    </a:ext>
                  </a:extLst>
                </a:gridCol>
              </a:tblGrid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 dirty="0">
                          <a:effectLst/>
                        </a:rPr>
                        <a:t>Descrizione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 dirty="0">
                          <a:effectLst/>
                        </a:rPr>
                        <a:t>Ore (h)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 dirty="0">
                          <a:effectLst/>
                        </a:rPr>
                        <a:t>Costo (€)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993060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Sprint 1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46h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1125€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1651540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Sprint 2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44h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990€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3488967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 dirty="0">
                          <a:effectLst/>
                        </a:rPr>
                        <a:t>Sprint 3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49h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910€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8274904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 dirty="0">
                          <a:effectLst/>
                        </a:rPr>
                        <a:t>Sprint 4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45h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905€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3559990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b="1" u="none" strike="noStrike" dirty="0">
                          <a:effectLst/>
                        </a:rPr>
                        <a:t>Sprint 5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 dirty="0">
                          <a:effectLst/>
                        </a:rPr>
                        <a:t>46h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 dirty="0">
                          <a:effectLst/>
                        </a:rPr>
                        <a:t>790€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408780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b="1" u="none" strike="noStrike" dirty="0">
                          <a:effectLst/>
                        </a:rPr>
                        <a:t>Sprint 6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 dirty="0">
                          <a:effectLst/>
                        </a:rPr>
                        <a:t>53h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 dirty="0">
                          <a:effectLst/>
                        </a:rPr>
                        <a:t>935€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241163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 dirty="0">
                          <a:effectLst/>
                        </a:rPr>
                        <a:t>Totale utilizzato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292h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5655€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5393398"/>
                  </a:ext>
                </a:extLst>
              </a:tr>
            </a:tbl>
          </a:graphicData>
        </a:graphic>
      </p:graphicFrame>
      <p:graphicFrame>
        <p:nvGraphicFramePr>
          <p:cNvPr id="9" name="Tabella 8">
            <a:extLst>
              <a:ext uri="{FF2B5EF4-FFF2-40B4-BE49-F238E27FC236}">
                <a16:creationId xmlns:a16="http://schemas.microsoft.com/office/drawing/2014/main" id="{FCDA4C9E-2610-BA54-8981-DBEB6AF098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9446055"/>
              </p:ext>
            </p:extLst>
          </p:nvPr>
        </p:nvGraphicFramePr>
        <p:xfrm>
          <a:off x="4491110" y="6591300"/>
          <a:ext cx="9525000" cy="30590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75000">
                  <a:extLst>
                    <a:ext uri="{9D8B030D-6E8A-4147-A177-3AD203B41FA5}">
                      <a16:colId xmlns:a16="http://schemas.microsoft.com/office/drawing/2014/main" val="1514292223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1270357705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3104626968"/>
                    </a:ext>
                  </a:extLst>
                </a:gridCol>
              </a:tblGrid>
              <a:tr h="5109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Ruolo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Ore Rimanenti (h)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Costo Rimanente (€)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7201991"/>
                  </a:ext>
                </a:extLst>
              </a:tr>
              <a:tr h="411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Responsabile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20h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600€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1988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Amministratore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17h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340€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3431345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Analista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0h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0€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0825016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Progettista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147h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3675€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735743"/>
                  </a:ext>
                </a:extLst>
              </a:tr>
              <a:tr h="5109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Programmatore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107h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1605€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7877036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Verificatore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61h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915€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8710412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TOTALE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352h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7135€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4644836"/>
                  </a:ext>
                </a:extLst>
              </a:tr>
            </a:tbl>
          </a:graphicData>
        </a:graphic>
      </p:graphicFrame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E0363CB-548F-CB69-7CE7-04DB4FF33DC4}"/>
              </a:ext>
            </a:extLst>
          </p:cNvPr>
          <p:cNvSpPr txBox="1"/>
          <p:nvPr/>
        </p:nvSpPr>
        <p:spPr>
          <a:xfrm>
            <a:off x="4541597" y="5998045"/>
            <a:ext cx="921543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spcAft>
                <a:spcPts val="600"/>
              </a:spcAft>
              <a:buNone/>
              <a:defRPr sz="1600">
                <a:solidFill>
                  <a:srgbClr val="212529"/>
                </a:solidFill>
              </a:defRPr>
            </a:pPr>
            <a:r>
              <a:rPr lang="it-IT" sz="3500" dirty="0">
                <a:solidFill>
                  <a:srgbClr val="FF0000"/>
                </a:solidFill>
              </a:rPr>
              <a:t>Risorse rimanenti</a:t>
            </a:r>
          </a:p>
        </p:txBody>
      </p:sp>
    </p:spTree>
    <p:extLst>
      <p:ext uri="{BB962C8B-B14F-4D97-AF65-F5344CB8AC3E}">
        <p14:creationId xmlns:p14="http://schemas.microsoft.com/office/powerpoint/2010/main" val="39032664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E2D0EF-912F-B7B2-D128-0F4227BE5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90787627-B2AA-EB99-8F1D-4EE8F9052A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9D61B407-D401-5A8F-E8CA-D21C66FF167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43E1120F-173E-1A26-ECC3-12A127D2BFAA}"/>
              </a:ext>
            </a:extLst>
          </p:cNvPr>
          <p:cNvGrpSpPr/>
          <p:nvPr/>
        </p:nvGrpSpPr>
        <p:grpSpPr>
          <a:xfrm>
            <a:off x="188063" y="-152399"/>
            <a:ext cx="17566536" cy="2171699"/>
            <a:chOff x="0" y="-1334729"/>
            <a:chExt cx="23422050" cy="5720429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305B438E-459C-F638-136A-659146638115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B0F51ACA-F2EE-1AFD-FA56-006D184A1AD3}"/>
                </a:ext>
              </a:extLst>
            </p:cNvPr>
            <p:cNvSpPr txBox="1"/>
            <p:nvPr/>
          </p:nvSpPr>
          <p:spPr>
            <a:xfrm>
              <a:off x="0" y="-1334729"/>
              <a:ext cx="23422050" cy="43122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5400" b="1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NUMERO DI ORE PER MEMBRO DEL GRUPPO</a:t>
              </a:r>
              <a:endParaRPr lang="it-IT" sz="60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graphicFrame>
        <p:nvGraphicFramePr>
          <p:cNvPr id="10" name="Tabella 9">
            <a:extLst>
              <a:ext uri="{FF2B5EF4-FFF2-40B4-BE49-F238E27FC236}">
                <a16:creationId xmlns:a16="http://schemas.microsoft.com/office/drawing/2014/main" id="{F38B5841-F094-A81A-DA41-9D64B1B5EE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013286"/>
              </p:ext>
            </p:extLst>
          </p:nvPr>
        </p:nvGraphicFramePr>
        <p:xfrm>
          <a:off x="1198931" y="2244832"/>
          <a:ext cx="15544800" cy="404834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43100">
                  <a:extLst>
                    <a:ext uri="{9D8B030D-6E8A-4147-A177-3AD203B41FA5}">
                      <a16:colId xmlns:a16="http://schemas.microsoft.com/office/drawing/2014/main" val="3898645536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3567244114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3164377366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480997553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308316877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34702653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931636665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3471413214"/>
                    </a:ext>
                  </a:extLst>
                </a:gridCol>
              </a:tblGrid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Membro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Responsabile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Amministratore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Analista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Progettista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Programmatore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Verificatore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Totale Ore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1105988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Alberto Autiero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8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8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0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12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9661217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Marco Favero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4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0777072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Alberto Pignat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198408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Marco Piro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7518722"/>
                  </a:ext>
                </a:extLst>
              </a:tr>
              <a:tr h="2344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 err="1">
                          <a:effectLst/>
                        </a:rPr>
                        <a:t>Linor</a:t>
                      </a:r>
                      <a:r>
                        <a:rPr lang="it-IT" sz="2000" b="1" u="none" strike="noStrike" dirty="0">
                          <a:effectLst/>
                        </a:rPr>
                        <a:t> </a:t>
                      </a:r>
                      <a:r>
                        <a:rPr lang="it-IT" sz="2000" b="1" u="none" strike="noStrike" dirty="0" err="1">
                          <a:effectLst/>
                        </a:rPr>
                        <a:t>Sadè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415534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Leonardo Salviato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9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264963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Luca Slongo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1914584"/>
                  </a:ext>
                </a:extLst>
              </a:tr>
              <a:tr h="6543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TOTALE COMPLESSIVO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292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294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8672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292</TotalTime>
  <Words>431</Words>
  <Application>Microsoft Office PowerPoint</Application>
  <PresentationFormat>Personalizzato</PresentationFormat>
  <Paragraphs>190</Paragraphs>
  <Slides>10</Slides>
  <Notes>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20" baseType="lpstr">
      <vt:lpstr>Wingdings</vt:lpstr>
      <vt:lpstr>Neue Montreal Bold</vt:lpstr>
      <vt:lpstr>Goudy</vt:lpstr>
      <vt:lpstr>Aptos</vt:lpstr>
      <vt:lpstr>Tenor Sans</vt:lpstr>
      <vt:lpstr>Neue Montreal</vt:lpstr>
      <vt:lpstr>Overpass</vt:lpstr>
      <vt:lpstr>Arial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Progetto di Gruppo</dc:title>
  <cp:lastModifiedBy>Alberto Autiero</cp:lastModifiedBy>
  <cp:revision>114</cp:revision>
  <dcterms:created xsi:type="dcterms:W3CDTF">2006-08-16T00:00:00Z</dcterms:created>
  <dcterms:modified xsi:type="dcterms:W3CDTF">2026-02-09T09:18:59Z</dcterms:modified>
  <dc:identifier>DAG2oYW1E2g</dc:identifier>
</cp:coreProperties>
</file>