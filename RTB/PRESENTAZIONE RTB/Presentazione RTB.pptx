
<file path=[Content_Types].xml><?xml version="1.0" encoding="utf-8"?>
<Types xmlns="http://schemas.openxmlformats.org/package/2006/content-types">
  <Default Extension="fntdata" ContentType="application/x-fontdata"/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71" r:id="rId4"/>
    <p:sldId id="272" r:id="rId5"/>
    <p:sldId id="273" r:id="rId6"/>
    <p:sldId id="274" r:id="rId7"/>
    <p:sldId id="275" r:id="rId8"/>
    <p:sldId id="276" r:id="rId9"/>
    <p:sldId id="277" r:id="rId10"/>
    <p:sldId id="278" r:id="rId11"/>
  </p:sldIdLst>
  <p:sldSz cx="18288000" cy="10287000"/>
  <p:notesSz cx="6858000" cy="9144000"/>
  <p:embeddedFontLst>
    <p:embeddedFont>
      <p:font typeface="Goudy" panose="020B0604020202020204" charset="0"/>
      <p:regular r:id="rId13"/>
    </p:embeddedFont>
    <p:embeddedFont>
      <p:font typeface="Neue Montreal" panose="020B0604020202020204" charset="0"/>
      <p:regular r:id="rId14"/>
    </p:embeddedFont>
    <p:embeddedFont>
      <p:font typeface="Neue Montreal Bold" panose="020B0604020202020204" charset="0"/>
      <p:regular r:id="rId15"/>
    </p:embeddedFont>
    <p:embeddedFont>
      <p:font typeface="Overpass" panose="020B0604020202020204" charset="0"/>
      <p:regular r:id="rId16"/>
    </p:embeddedFont>
    <p:embeddedFont>
      <p:font typeface="Tenor Sans" panose="020B0604020202020204" charset="0"/>
      <p:regular r:id="rId17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FAEF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ile medio 2 - Color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3C2FFA5D-87B4-456A-9821-1D502468CF0F}" styleName="Stile con tema 1 - Colore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 autoAdjust="0"/>
    <p:restoredTop sz="94622" autoAdjust="0"/>
  </p:normalViewPr>
  <p:slideViewPr>
    <p:cSldViewPr>
      <p:cViewPr varScale="1">
        <p:scale>
          <a:sx n="68" d="100"/>
          <a:sy n="68" d="100"/>
        </p:scale>
        <p:origin x="894" y="84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1.fntdata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17" Type="http://schemas.openxmlformats.org/officeDocument/2006/relationships/font" Target="fonts/font5.fntdata"/><Relationship Id="rId2" Type="http://schemas.openxmlformats.org/officeDocument/2006/relationships/slide" Target="slides/slide1.xml"/><Relationship Id="rId16" Type="http://schemas.openxmlformats.org/officeDocument/2006/relationships/font" Target="fonts/font4.fntdata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font" Target="fonts/font3.fntdata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2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ntestazion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it-IT"/>
          </a:p>
        </p:txBody>
      </p:sp>
      <p:sp>
        <p:nvSpPr>
          <p:cNvPr id="3" name="Segnaposto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C233B30-4F8C-4A4C-AB5E-3B02323E36F5}" type="datetimeFigureOut">
              <a:rPr lang="it-IT" smtClean="0"/>
              <a:t>28/01/2026</a:t>
            </a:fld>
            <a:endParaRPr lang="it-IT"/>
          </a:p>
        </p:txBody>
      </p:sp>
      <p:sp>
        <p:nvSpPr>
          <p:cNvPr id="4" name="Segnaposto immagin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it-IT"/>
          </a:p>
        </p:txBody>
      </p:sp>
      <p:sp>
        <p:nvSpPr>
          <p:cNvPr id="5" name="Segnaposto note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6" name="Segnaposto piè di pa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it-IT"/>
          </a:p>
        </p:txBody>
      </p:sp>
      <p:sp>
        <p:nvSpPr>
          <p:cNvPr id="7" name="Segnaposto numero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C08170C-5CFB-499E-8257-3D18EF4D2E05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72563358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C08170C-5CFB-499E-8257-3D18EF4D2E05}" type="slidenum">
              <a:rPr lang="it-IT" smtClean="0"/>
              <a:t>2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403410874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C729B2-3DD6-7934-967B-094C75BF9B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24AFF852-E89E-057A-1D38-453DED56324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9CB22940-E3D2-376D-0073-1B881715BE0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3773DBCD-C00D-1B3C-1E8F-C66246A4FB1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C08170C-5CFB-499E-8257-3D18EF4D2E05}" type="slidenum">
              <a:rPr lang="it-IT" smtClean="0"/>
              <a:t>3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49344030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C7FE87-2A41-EF13-931E-A4331075AC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6975F18D-5865-BE05-2685-AE965157AC2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79C6E39D-65D5-05CE-5936-3D082ED8FAD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C2F618B9-FE6A-9DB0-E592-4A8CD622128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C08170C-5CFB-499E-8257-3D18EF4D2E05}" type="slidenum">
              <a:rPr lang="it-IT" smtClean="0"/>
              <a:t>4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25188455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DBBBFB-0D3A-756A-36DA-8F999709DE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3B986AB1-AC2C-2322-F30B-7AF8FDA2202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1FB8B50F-AF93-1A44-8C7A-01B9C0C92B1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767CF5ED-BDE1-B97C-49BA-0CEDF70FD9B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C08170C-5CFB-499E-8257-3D18EF4D2E05}" type="slidenum">
              <a:rPr lang="it-IT" smtClean="0"/>
              <a:t>5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96005228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583220-EBB2-564E-5A5F-A58C3DA763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38B56BFC-7EC0-CC53-A615-1DA4BD521F7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DCE8BE82-2835-14AC-C8ED-FAE434305F2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437AF6D6-E6ED-A350-CFF3-E03CC1C096D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C08170C-5CFB-499E-8257-3D18EF4D2E05}" type="slidenum">
              <a:rPr lang="it-IT" smtClean="0"/>
              <a:t>6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425995570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72CE31-21CD-0E24-21EF-DF54B61CA5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0591AB6B-4E16-DC36-2073-2BBDBBE6AF5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01D894E1-756A-DA2C-FA44-BA3681DEA6E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3073C369-D487-4293-85AD-AFDBF172B00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C08170C-5CFB-499E-8257-3D18EF4D2E05}" type="slidenum">
              <a:rPr lang="it-IT" smtClean="0"/>
              <a:t>7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84909833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3DF6F7-88DC-E72E-3CFA-AD4E6486F7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82067189-0CA7-5825-DB9D-95447D90E75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262EF846-0E74-54CD-1254-1E928C1B660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90A155DF-27D3-4C66-D3A2-F02DA99363C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C08170C-5CFB-499E-8257-3D18EF4D2E05}" type="slidenum">
              <a:rPr lang="it-IT" smtClean="0"/>
              <a:t>8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8968719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2736E4-3525-3E78-439B-1850799912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023980AF-A41B-7095-D781-D740DD1E050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B44EB5CE-F43D-6D55-884E-74E52461424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13DCA36B-C317-D179-33A1-8A7C96F1B58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C08170C-5CFB-499E-8257-3D18EF4D2E05}" type="slidenum">
              <a:rPr lang="it-IT" smtClean="0"/>
              <a:t>9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26749990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FE5F2A-E41C-8FB7-F77D-375E5484B0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86117E72-EEBC-2213-BE3E-7C845721298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D2463D8E-83FB-DB2D-5007-2721D2AB6D6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8FB0CFA6-A5F6-6284-4AC3-B516091BAB0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C08170C-5CFB-499E-8257-3D18EF4D2E05}" type="slidenum">
              <a:rPr lang="it-IT" smtClean="0"/>
              <a:t>10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03928755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1/28/2026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1/28/2026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1/28/2026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1/28/2026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‹N›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gif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.gif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gif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gif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gif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.gif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gif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4.gif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gif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.gif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gif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.gif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gif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.gif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gif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.gif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gif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.gif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1E3D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553441" y="8020450"/>
            <a:ext cx="2394262" cy="1358721"/>
            <a:chOff x="0" y="-30918"/>
            <a:chExt cx="630588" cy="357853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630588" cy="300703"/>
            </a:xfrm>
            <a:custGeom>
              <a:avLst/>
              <a:gdLst/>
              <a:ahLst/>
              <a:cxnLst/>
              <a:rect l="l" t="t" r="r" b="b"/>
              <a:pathLst>
                <a:path w="630588" h="300703">
                  <a:moveTo>
                    <a:pt x="0" y="0"/>
                  </a:moveTo>
                  <a:lnTo>
                    <a:pt x="630588" y="0"/>
                  </a:lnTo>
                  <a:lnTo>
                    <a:pt x="630588" y="300703"/>
                  </a:lnTo>
                  <a:lnTo>
                    <a:pt x="0" y="300703"/>
                  </a:lnTo>
                  <a:close/>
                </a:path>
              </a:pathLst>
            </a:custGeom>
            <a:solidFill>
              <a:srgbClr val="98C4EC"/>
            </a:solidFill>
          </p:spPr>
          <p:txBody>
            <a:bodyPr/>
            <a:lstStyle/>
            <a:p>
              <a:endParaRPr lang="it-IT" noProof="0" dirty="0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30918"/>
              <a:ext cx="630588" cy="35785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4199"/>
                </a:lnSpc>
              </a:pPr>
              <a:r>
                <a:rPr lang="it-IT" sz="2999" b="1" noProof="0" dirty="0">
                  <a:solidFill>
                    <a:srgbClr val="000000"/>
                  </a:solidFill>
                  <a:latin typeface="Neue Montreal Bold"/>
                  <a:ea typeface="Neue Montreal Bold"/>
                  <a:cs typeface="Neue Montreal Bold"/>
                  <a:sym typeface="Neue Montreal Bold"/>
                </a:rPr>
                <a:t>GRUPPO 4</a:t>
              </a:r>
            </a:p>
            <a:p>
              <a:pPr algn="ctr">
                <a:lnSpc>
                  <a:spcPts val="4199"/>
                </a:lnSpc>
              </a:pPr>
              <a:r>
                <a:rPr lang="it-IT" sz="2999" b="1" noProof="0" dirty="0" err="1">
                  <a:solidFill>
                    <a:srgbClr val="000000"/>
                  </a:solidFill>
                  <a:latin typeface="Neue Montreal Bold"/>
                  <a:ea typeface="Neue Montreal Bold"/>
                  <a:cs typeface="Neue Montreal Bold"/>
                  <a:sym typeface="Neue Montreal Bold"/>
                </a:rPr>
                <a:t>BugBusters</a:t>
              </a:r>
              <a:endParaRPr lang="it-IT" sz="2999" b="1" noProof="0" dirty="0">
                <a:solidFill>
                  <a:srgbClr val="000000"/>
                </a:solidFill>
                <a:latin typeface="Neue Montreal Bold"/>
                <a:ea typeface="Neue Montreal Bold"/>
                <a:cs typeface="Neue Montreal Bold"/>
                <a:sym typeface="Neue Montreal Bold"/>
              </a:endParaRPr>
            </a:p>
          </p:txBody>
        </p:sp>
      </p:grpSp>
      <p:grpSp>
        <p:nvGrpSpPr>
          <p:cNvPr id="5" name="Group 5"/>
          <p:cNvGrpSpPr/>
          <p:nvPr/>
        </p:nvGrpSpPr>
        <p:grpSpPr>
          <a:xfrm rot="-10800000">
            <a:off x="16856440" y="0"/>
            <a:ext cx="1431560" cy="10287000"/>
            <a:chOff x="0" y="0"/>
            <a:chExt cx="377036" cy="2709333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377036" cy="2709333"/>
            </a:xfrm>
            <a:custGeom>
              <a:avLst/>
              <a:gdLst/>
              <a:ahLst/>
              <a:cxnLst/>
              <a:rect l="l" t="t" r="r" b="b"/>
              <a:pathLst>
                <a:path w="377036" h="2709333">
                  <a:moveTo>
                    <a:pt x="0" y="0"/>
                  </a:moveTo>
                  <a:lnTo>
                    <a:pt x="377036" y="0"/>
                  </a:lnTo>
                  <a:lnTo>
                    <a:pt x="377036" y="2709333"/>
                  </a:lnTo>
                  <a:lnTo>
                    <a:pt x="0" y="2709333"/>
                  </a:lnTo>
                  <a:close/>
                </a:path>
              </a:pathLst>
            </a:custGeom>
            <a:gradFill rotWithShape="1">
              <a:gsLst>
                <a:gs pos="0">
                  <a:srgbClr val="FF3B4B">
                    <a:alpha val="100000"/>
                  </a:srgbClr>
                </a:gs>
                <a:gs pos="100000">
                  <a:srgbClr val="98C4EC">
                    <a:alpha val="100000"/>
                  </a:srgbClr>
                </a:gs>
              </a:gsLst>
              <a:lin ang="5400000"/>
            </a:gradFill>
          </p:spPr>
          <p:txBody>
            <a:bodyPr/>
            <a:lstStyle/>
            <a:p>
              <a:endParaRPr lang="it-IT" noProof="0" dirty="0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-38100"/>
              <a:ext cx="377036" cy="274743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359"/>
                </a:lnSpc>
              </a:pPr>
              <a:endParaRPr lang="it-IT" noProof="0" dirty="0"/>
            </a:p>
          </p:txBody>
        </p:sp>
      </p:grpSp>
      <p:sp>
        <p:nvSpPr>
          <p:cNvPr id="8" name="Freeform 8"/>
          <p:cNvSpPr/>
          <p:nvPr/>
        </p:nvSpPr>
        <p:spPr>
          <a:xfrm>
            <a:off x="310726" y="359613"/>
            <a:ext cx="1431560" cy="1484953"/>
          </a:xfrm>
          <a:custGeom>
            <a:avLst/>
            <a:gdLst/>
            <a:ahLst/>
            <a:cxnLst/>
            <a:rect l="l" t="t" r="r" b="b"/>
            <a:pathLst>
              <a:path w="1852447" h="1852447">
                <a:moveTo>
                  <a:pt x="0" y="0"/>
                </a:moveTo>
                <a:lnTo>
                  <a:pt x="1852447" y="0"/>
                </a:lnTo>
                <a:lnTo>
                  <a:pt x="1852447" y="1852447"/>
                </a:lnTo>
                <a:lnTo>
                  <a:pt x="0" y="185244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it-IT" noProof="0" dirty="0"/>
          </a:p>
        </p:txBody>
      </p:sp>
      <p:sp>
        <p:nvSpPr>
          <p:cNvPr id="10" name="TextBox 10"/>
          <p:cNvSpPr txBox="1"/>
          <p:nvPr/>
        </p:nvSpPr>
        <p:spPr>
          <a:xfrm>
            <a:off x="282652" y="3424288"/>
            <a:ext cx="15185948" cy="373743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14399"/>
              </a:lnSpc>
            </a:pPr>
            <a:r>
              <a:rPr lang="it-IT" sz="15999" spc="-959" noProof="0" dirty="0">
                <a:solidFill>
                  <a:srgbClr val="000000"/>
                </a:solidFill>
                <a:latin typeface="Goudy"/>
                <a:ea typeface="Goudy"/>
                <a:cs typeface="Goudy"/>
                <a:sym typeface="Goudy"/>
              </a:rPr>
              <a:t>PRESENTAZIONE RTB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2060349" y="681623"/>
            <a:ext cx="3272849" cy="95436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2469"/>
              </a:lnSpc>
            </a:pPr>
            <a:r>
              <a:rPr lang="it-IT" sz="2713" noProof="0" dirty="0">
                <a:solidFill>
                  <a:srgbClr val="000000"/>
                </a:solidFill>
                <a:latin typeface="Tenor Sans"/>
                <a:ea typeface="Tenor Sans"/>
                <a:cs typeface="Tenor Sans"/>
                <a:sym typeface="Tenor Sans"/>
              </a:rPr>
              <a:t>UNIVERSITÁ DEGLI STUDI DI PADOVA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3860974" y="8137842"/>
            <a:ext cx="9381636" cy="82073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220"/>
              </a:lnSpc>
            </a:pPr>
            <a:r>
              <a:rPr lang="it-IT" sz="2800" b="1" noProof="0" dirty="0">
                <a:solidFill>
                  <a:srgbClr val="000000"/>
                </a:solidFill>
                <a:latin typeface="Neue Montreal Bold"/>
                <a:ea typeface="Neue Montreal Bold"/>
                <a:cs typeface="Neue Montreal Bold"/>
                <a:sym typeface="Neue Montreal Bold"/>
              </a:rPr>
              <a:t>Team:</a:t>
            </a:r>
            <a:r>
              <a:rPr lang="it-IT" sz="2800" noProof="0" dirty="0">
                <a:solidFill>
                  <a:srgbClr val="000000"/>
                </a:solidFill>
                <a:latin typeface="Neue Montreal"/>
                <a:ea typeface="Neue Montreal"/>
                <a:cs typeface="Neue Montreal"/>
                <a:sym typeface="Neue Montreal"/>
              </a:rPr>
              <a:t> Alberto Autiero, Marco Favero, Alberto Pignat, Marco Piro, </a:t>
            </a:r>
            <a:r>
              <a:rPr lang="it-IT" sz="2800" noProof="0" dirty="0" err="1">
                <a:solidFill>
                  <a:srgbClr val="000000"/>
                </a:solidFill>
                <a:latin typeface="Neue Montreal"/>
                <a:ea typeface="Neue Montreal"/>
                <a:cs typeface="Neue Montreal"/>
                <a:sym typeface="Neue Montreal"/>
              </a:rPr>
              <a:t>Linor</a:t>
            </a:r>
            <a:r>
              <a:rPr lang="it-IT" sz="2800" noProof="0" dirty="0">
                <a:solidFill>
                  <a:srgbClr val="000000"/>
                </a:solidFill>
                <a:latin typeface="Neue Montreal"/>
                <a:ea typeface="Neue Montreal"/>
                <a:cs typeface="Neue Montreal"/>
                <a:sym typeface="Neue Montreal"/>
              </a:rPr>
              <a:t> </a:t>
            </a:r>
            <a:r>
              <a:rPr lang="it-IT" sz="2800" noProof="0" dirty="0" err="1">
                <a:solidFill>
                  <a:srgbClr val="000000"/>
                </a:solidFill>
                <a:latin typeface="Neue Montreal"/>
                <a:ea typeface="Neue Montreal"/>
                <a:cs typeface="Neue Montreal"/>
                <a:sym typeface="Neue Montreal"/>
              </a:rPr>
              <a:t>Sadè</a:t>
            </a:r>
            <a:r>
              <a:rPr lang="it-IT" sz="2800" noProof="0" dirty="0">
                <a:solidFill>
                  <a:srgbClr val="000000"/>
                </a:solidFill>
                <a:latin typeface="Neue Montreal"/>
                <a:ea typeface="Neue Montreal"/>
                <a:cs typeface="Neue Montreal"/>
                <a:sym typeface="Neue Montreal"/>
              </a:rPr>
              <a:t>, Leonardo Salviato, Luca Slongo</a:t>
            </a:r>
          </a:p>
        </p:txBody>
      </p:sp>
      <p:pic>
        <p:nvPicPr>
          <p:cNvPr id="14" name="Immagine 13" descr="Immagine che contiene logo, Elementi grafici, design, simbolo&#10;&#10;Il contenuto generato dall'IA potrebbe non essere corretto.">
            <a:extLst>
              <a:ext uri="{FF2B5EF4-FFF2-40B4-BE49-F238E27FC236}">
                <a16:creationId xmlns:a16="http://schemas.microsoft.com/office/drawing/2014/main" id="{75F21F41-09A7-54FF-8F57-7FC200200F35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114369" y="7707964"/>
            <a:ext cx="18288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A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3"/>
          <a:srcRect l="62989" t="67035"/>
          <a:stretch>
            <a:fillRect/>
          </a:stretch>
        </p:blipFill>
        <p:spPr>
          <a:xfrm>
            <a:off x="15813626" y="7962068"/>
            <a:ext cx="2610335" cy="2324931"/>
          </a:xfrm>
          <a:prstGeom prst="rect">
            <a:avLst/>
          </a:prstGeom>
        </p:spPr>
      </p:pic>
      <p:pic>
        <p:nvPicPr>
          <p:cNvPr id="3" name="Picture 3"/>
          <p:cNvPicPr>
            <a:picLocks noChangeAspect="1"/>
          </p:cNvPicPr>
          <p:nvPr/>
        </p:nvPicPr>
        <p:blipFill>
          <a:blip r:embed="rId4"/>
          <a:srcRect r="64034" b="46739"/>
          <a:stretch>
            <a:fillRect/>
          </a:stretch>
        </p:blipFill>
        <p:spPr>
          <a:xfrm rot="-5400000" flipH="1">
            <a:off x="796990" y="-796989"/>
            <a:ext cx="3314701" cy="4908680"/>
          </a:xfrm>
          <a:prstGeom prst="rect">
            <a:avLst/>
          </a:prstGeom>
        </p:spPr>
      </p:pic>
      <p:grpSp>
        <p:nvGrpSpPr>
          <p:cNvPr id="4" name="Group 4"/>
          <p:cNvGrpSpPr/>
          <p:nvPr/>
        </p:nvGrpSpPr>
        <p:grpSpPr>
          <a:xfrm>
            <a:off x="188063" y="0"/>
            <a:ext cx="17566536" cy="2935483"/>
            <a:chOff x="0" y="471724"/>
            <a:chExt cx="23422050" cy="3913976"/>
          </a:xfrm>
        </p:grpSpPr>
        <p:sp>
          <p:nvSpPr>
            <p:cNvPr id="5" name="TextBox 5"/>
            <p:cNvSpPr txBox="1"/>
            <p:nvPr/>
          </p:nvSpPr>
          <p:spPr>
            <a:xfrm>
              <a:off x="0" y="3571631"/>
              <a:ext cx="11609426" cy="814069"/>
            </a:xfrm>
            <a:prstGeom prst="rect">
              <a:avLst/>
            </a:prstGeom>
          </p:spPr>
          <p:txBody>
            <a:bodyPr wrap="square" lIns="0" tIns="0" rIns="0" bIns="0" rtlCol="0" anchor="t">
              <a:spAutoFit/>
            </a:bodyPr>
            <a:lstStyle/>
            <a:p>
              <a:pPr marL="587428" lvl="1" indent="-342900" algn="ctr">
                <a:lnSpc>
                  <a:spcPct val="150000"/>
                </a:lnSpc>
                <a:buFont typeface="Wingdings" panose="05000000000000000000" pitchFamily="2" charset="2"/>
                <a:buChar char="Ø"/>
              </a:pPr>
              <a:endParaRPr lang="it-IT" sz="3000" noProof="0" dirty="0">
                <a:solidFill>
                  <a:srgbClr val="000000"/>
                </a:solidFill>
                <a:latin typeface="Overpass"/>
                <a:ea typeface="Overpass"/>
                <a:cs typeface="Arial" panose="020B0604020202020204" pitchFamily="34" charset="0"/>
                <a:sym typeface="Overpass"/>
              </a:endParaRPr>
            </a:p>
          </p:txBody>
        </p:sp>
        <p:sp>
          <p:nvSpPr>
            <p:cNvPr id="6" name="TextBox 6"/>
            <p:cNvSpPr txBox="1"/>
            <p:nvPr/>
          </p:nvSpPr>
          <p:spPr>
            <a:xfrm>
              <a:off x="0" y="471724"/>
              <a:ext cx="23422050" cy="2182819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212"/>
                </a:lnSpc>
              </a:pPr>
              <a:r>
                <a:rPr lang="it-IT" sz="6000" dirty="0">
                  <a:latin typeface="Arial" panose="020B0604020202020204" pitchFamily="34" charset="0"/>
                  <a:cs typeface="Arial" panose="020B0604020202020204" pitchFamily="34" charset="0"/>
                </a:rPr>
                <a:t>COMPRENSIONE OBIETTIVI DEL CAPITOLATO</a:t>
              </a:r>
              <a:endParaRPr lang="it-IT" sz="6600" b="1" noProof="0" dirty="0">
                <a:solidFill>
                  <a:srgbClr val="000000"/>
                </a:solidFill>
                <a:latin typeface="Arial" panose="020B0604020202020204" pitchFamily="34" charset="0"/>
                <a:ea typeface="Fredoka"/>
                <a:cs typeface="Arial" panose="020B0604020202020204" pitchFamily="34" charset="0"/>
                <a:sym typeface="Fredoka"/>
              </a:endParaRPr>
            </a:p>
          </p:txBody>
        </p:sp>
      </p:grpSp>
      <p:sp>
        <p:nvSpPr>
          <p:cNvPr id="10" name="CasellaDiTesto 9">
            <a:extLst>
              <a:ext uri="{FF2B5EF4-FFF2-40B4-BE49-F238E27FC236}">
                <a16:creationId xmlns:a16="http://schemas.microsoft.com/office/drawing/2014/main" id="{1C2EA72E-9248-B9E8-48BD-1D01611DB3C9}"/>
              </a:ext>
            </a:extLst>
          </p:cNvPr>
          <p:cNvSpPr txBox="1"/>
          <p:nvPr/>
        </p:nvSpPr>
        <p:spPr>
          <a:xfrm>
            <a:off x="916433" y="2324931"/>
            <a:ext cx="15773400" cy="8206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16028" lvl="1" indent="-5715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it-IT" sz="3600" dirty="0">
                <a:solidFill>
                  <a:srgbClr val="000000"/>
                </a:solidFill>
                <a:latin typeface="Arial" panose="020B0604020202020204" pitchFamily="34" charset="0"/>
                <a:ea typeface="Overpass"/>
                <a:cs typeface="Arial" panose="020B0604020202020204" pitchFamily="34" charset="0"/>
                <a:sym typeface="Overpass"/>
              </a:rPr>
              <a:t>Analisi dei Requisiti: abbiamo trovato molti requisiti impliciti;</a:t>
            </a:r>
          </a:p>
        </p:txBody>
      </p:sp>
      <p:graphicFrame>
        <p:nvGraphicFramePr>
          <p:cNvPr id="9" name="Tabella 8">
            <a:extLst>
              <a:ext uri="{FF2B5EF4-FFF2-40B4-BE49-F238E27FC236}">
                <a16:creationId xmlns:a16="http://schemas.microsoft.com/office/drawing/2014/main" id="{F1DD467D-F790-0BBE-883B-A6AF2AAAF40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48669414"/>
              </p:ext>
            </p:extLst>
          </p:nvPr>
        </p:nvGraphicFramePr>
        <p:xfrm>
          <a:off x="916433" y="3623300"/>
          <a:ext cx="15773400" cy="4474845"/>
        </p:xfrm>
        <a:graphic>
          <a:graphicData uri="http://schemas.openxmlformats.org/drawingml/2006/table">
            <a:tbl>
              <a:tblPr>
                <a:tableStyleId>{3C2FFA5D-87B4-456A-9821-1D502468CF0F}</a:tableStyleId>
              </a:tblPr>
              <a:tblGrid>
                <a:gridCol w="6520848">
                  <a:extLst>
                    <a:ext uri="{9D8B030D-6E8A-4147-A177-3AD203B41FA5}">
                      <a16:colId xmlns:a16="http://schemas.microsoft.com/office/drawing/2014/main" val="3835509842"/>
                    </a:ext>
                  </a:extLst>
                </a:gridCol>
                <a:gridCol w="2907945">
                  <a:extLst>
                    <a:ext uri="{9D8B030D-6E8A-4147-A177-3AD203B41FA5}">
                      <a16:colId xmlns:a16="http://schemas.microsoft.com/office/drawing/2014/main" val="2437700987"/>
                    </a:ext>
                  </a:extLst>
                </a:gridCol>
                <a:gridCol w="2907945">
                  <a:extLst>
                    <a:ext uri="{9D8B030D-6E8A-4147-A177-3AD203B41FA5}">
                      <a16:colId xmlns:a16="http://schemas.microsoft.com/office/drawing/2014/main" val="2592525380"/>
                    </a:ext>
                  </a:extLst>
                </a:gridCol>
                <a:gridCol w="3436662">
                  <a:extLst>
                    <a:ext uri="{9D8B030D-6E8A-4147-A177-3AD203B41FA5}">
                      <a16:colId xmlns:a16="http://schemas.microsoft.com/office/drawing/2014/main" val="2755886477"/>
                    </a:ext>
                  </a:extLst>
                </a:gridCol>
              </a:tblGrid>
              <a:tr h="355178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3200" b="1" u="none" strike="noStrike" dirty="0">
                          <a:effectLst/>
                        </a:rPr>
                        <a:t>Categoria Requisito</a:t>
                      </a:r>
                      <a:endParaRPr lang="it-IT" sz="3200" b="1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>
                    <a:solidFill>
                      <a:srgbClr val="FFFAE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3200" b="1" u="none" strike="noStrike" dirty="0">
                          <a:effectLst/>
                        </a:rPr>
                        <a:t>Tipo</a:t>
                      </a:r>
                      <a:endParaRPr lang="it-IT" sz="3200" b="1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>
                    <a:solidFill>
                      <a:srgbClr val="FFFAE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3200" b="1" u="none" strike="noStrike" dirty="0">
                          <a:effectLst/>
                        </a:rPr>
                        <a:t>Quantità</a:t>
                      </a:r>
                      <a:endParaRPr lang="it-IT" sz="3200" b="1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>
                    <a:solidFill>
                      <a:srgbClr val="FFFAE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3200" b="1" u="none" strike="noStrike" dirty="0">
                          <a:effectLst/>
                        </a:rPr>
                        <a:t>Totale Categoria</a:t>
                      </a:r>
                      <a:endParaRPr lang="it-IT" sz="3200" b="1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>
                    <a:solidFill>
                      <a:srgbClr val="FFFA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62989477"/>
                  </a:ext>
                </a:extLst>
              </a:tr>
              <a:tr h="355178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3200" b="1" u="none" strike="noStrike" dirty="0">
                          <a:effectLst/>
                        </a:rPr>
                        <a:t>Requisiti </a:t>
                      </a:r>
                      <a:r>
                        <a:rPr lang="it-IT" sz="3200" b="1" u="none" strike="noStrike" dirty="0">
                          <a:solidFill>
                            <a:sysClr val="windowText" lastClr="000000"/>
                          </a:solidFill>
                          <a:effectLst/>
                        </a:rPr>
                        <a:t>Funzionali</a:t>
                      </a:r>
                      <a:r>
                        <a:rPr lang="it-IT" sz="3200" b="1" u="none" strike="noStrike" dirty="0">
                          <a:effectLst/>
                        </a:rPr>
                        <a:t> (RF)</a:t>
                      </a:r>
                      <a:endParaRPr lang="it-IT" sz="3200" b="1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>
                    <a:solidFill>
                      <a:srgbClr val="FFFAE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3200" b="1" u="none" strike="noStrike" dirty="0">
                          <a:effectLst/>
                        </a:rPr>
                        <a:t>Obbligatori</a:t>
                      </a:r>
                      <a:endParaRPr lang="it-IT" sz="3200" b="1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>
                    <a:solidFill>
                      <a:srgbClr val="FFFAE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3200" u="none" strike="noStrike">
                          <a:effectLst/>
                        </a:rPr>
                        <a:t>105</a:t>
                      </a:r>
                      <a:endParaRPr lang="it-IT" sz="32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>
                    <a:solidFill>
                      <a:srgbClr val="FFFAE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3200" u="none" strike="noStrike">
                          <a:effectLst/>
                        </a:rPr>
                        <a:t> </a:t>
                      </a:r>
                      <a:endParaRPr lang="it-IT" sz="32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>
                    <a:solidFill>
                      <a:srgbClr val="FFFA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6256522"/>
                  </a:ext>
                </a:extLst>
              </a:tr>
              <a:tr h="355178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3200" b="1" u="none" strike="noStrike" dirty="0">
                          <a:effectLst/>
                        </a:rPr>
                        <a:t> </a:t>
                      </a:r>
                      <a:endParaRPr lang="it-IT" sz="3200" b="1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>
                    <a:solidFill>
                      <a:srgbClr val="FFFAE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3200" b="1" u="none" strike="noStrike">
                          <a:effectLst/>
                        </a:rPr>
                        <a:t>Opzionali</a:t>
                      </a:r>
                      <a:endParaRPr lang="it-IT" sz="3200" b="1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>
                    <a:solidFill>
                      <a:srgbClr val="FFFAE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3200" u="none" strike="noStrike">
                          <a:effectLst/>
                        </a:rPr>
                        <a:t>38</a:t>
                      </a:r>
                      <a:endParaRPr lang="it-IT" sz="32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>
                    <a:solidFill>
                      <a:srgbClr val="FFFAE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3200" u="none" strike="noStrike" dirty="0">
                          <a:effectLst/>
                        </a:rPr>
                        <a:t>143</a:t>
                      </a:r>
                      <a:endParaRPr lang="it-IT" sz="32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>
                    <a:solidFill>
                      <a:srgbClr val="FFFA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90224886"/>
                  </a:ext>
                </a:extLst>
              </a:tr>
              <a:tr h="355178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3200" b="1" u="none" strike="noStrike" dirty="0">
                          <a:effectLst/>
                        </a:rPr>
                        <a:t>Requisiti di Qualità (RQ)</a:t>
                      </a:r>
                      <a:endParaRPr lang="it-IT" sz="3200" b="1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>
                    <a:solidFill>
                      <a:srgbClr val="FFFAE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3200" b="1" u="none" strike="noStrike">
                          <a:effectLst/>
                        </a:rPr>
                        <a:t>Obbligatori</a:t>
                      </a:r>
                      <a:endParaRPr lang="it-IT" sz="3200" b="1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>
                    <a:solidFill>
                      <a:srgbClr val="FFFAE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3200" u="none" strike="noStrike">
                          <a:effectLst/>
                        </a:rPr>
                        <a:t>6</a:t>
                      </a:r>
                      <a:endParaRPr lang="it-IT" sz="32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>
                    <a:solidFill>
                      <a:srgbClr val="FFFAE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3200" u="none" strike="noStrike">
                          <a:effectLst/>
                        </a:rPr>
                        <a:t>6</a:t>
                      </a:r>
                      <a:endParaRPr lang="it-IT" sz="32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>
                    <a:solidFill>
                      <a:srgbClr val="FFFA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16610654"/>
                  </a:ext>
                </a:extLst>
              </a:tr>
              <a:tr h="355178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3200" b="1" u="none" strike="noStrike" dirty="0">
                          <a:effectLst/>
                        </a:rPr>
                        <a:t>Requisiti di Vincolo (RV)</a:t>
                      </a:r>
                      <a:endParaRPr lang="it-IT" sz="3200" b="1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>
                    <a:solidFill>
                      <a:srgbClr val="FFFAE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3200" b="1" u="none" strike="noStrike" dirty="0">
                          <a:effectLst/>
                        </a:rPr>
                        <a:t>Obbligatori</a:t>
                      </a:r>
                      <a:endParaRPr lang="it-IT" sz="3200" b="1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>
                    <a:solidFill>
                      <a:srgbClr val="FFFAE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3200" u="none" strike="noStrike">
                          <a:effectLst/>
                        </a:rPr>
                        <a:t>5</a:t>
                      </a:r>
                      <a:endParaRPr lang="it-IT" sz="32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>
                    <a:solidFill>
                      <a:srgbClr val="FFFAE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3200" u="none" strike="noStrike">
                          <a:effectLst/>
                        </a:rPr>
                        <a:t> </a:t>
                      </a:r>
                      <a:endParaRPr lang="it-IT" sz="32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>
                    <a:solidFill>
                      <a:srgbClr val="FFFA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13632447"/>
                  </a:ext>
                </a:extLst>
              </a:tr>
              <a:tr h="355178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3200" b="1" u="none" strike="noStrike" dirty="0">
                          <a:effectLst/>
                        </a:rPr>
                        <a:t> </a:t>
                      </a:r>
                      <a:endParaRPr lang="it-IT" sz="3200" b="1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>
                    <a:solidFill>
                      <a:srgbClr val="FFFAE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3200" b="1" u="none" strike="noStrike">
                          <a:effectLst/>
                        </a:rPr>
                        <a:t>Opzionali</a:t>
                      </a:r>
                      <a:endParaRPr lang="it-IT" sz="3200" b="1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>
                    <a:solidFill>
                      <a:srgbClr val="FFFAE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3200" u="none" strike="noStrike">
                          <a:effectLst/>
                        </a:rPr>
                        <a:t>1</a:t>
                      </a:r>
                      <a:endParaRPr lang="it-IT" sz="32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>
                    <a:solidFill>
                      <a:srgbClr val="FFFAE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3200" u="none" strike="noStrike">
                          <a:effectLst/>
                        </a:rPr>
                        <a:t>6</a:t>
                      </a:r>
                      <a:endParaRPr lang="it-IT" sz="32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>
                    <a:solidFill>
                      <a:srgbClr val="FFFA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12286880"/>
                  </a:ext>
                </a:extLst>
              </a:tr>
              <a:tr h="355178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3200" b="1" u="none" strike="noStrike" dirty="0">
                          <a:effectLst/>
                        </a:rPr>
                        <a:t>Requisiti Prestazionali (RP)</a:t>
                      </a:r>
                      <a:endParaRPr lang="it-IT" sz="3200" b="1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>
                    <a:solidFill>
                      <a:srgbClr val="FFFAE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3200" b="1" u="none" strike="noStrike">
                          <a:effectLst/>
                        </a:rPr>
                        <a:t>Obbligatori</a:t>
                      </a:r>
                      <a:endParaRPr lang="it-IT" sz="3200" b="1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>
                    <a:solidFill>
                      <a:srgbClr val="FFFAE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3200" u="none" strike="noStrike">
                          <a:effectLst/>
                        </a:rPr>
                        <a:t>5</a:t>
                      </a:r>
                      <a:endParaRPr lang="it-IT" sz="32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>
                    <a:solidFill>
                      <a:srgbClr val="FFFAE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3200" u="none" strike="noStrike">
                          <a:effectLst/>
                        </a:rPr>
                        <a:t> </a:t>
                      </a:r>
                      <a:endParaRPr lang="it-IT" sz="32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>
                    <a:solidFill>
                      <a:srgbClr val="FFFA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35238322"/>
                  </a:ext>
                </a:extLst>
              </a:tr>
              <a:tr h="355178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3200" b="1" u="none" strike="noStrike" dirty="0">
                          <a:effectLst/>
                        </a:rPr>
                        <a:t> </a:t>
                      </a:r>
                      <a:endParaRPr lang="it-IT" sz="3200" b="1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>
                    <a:solidFill>
                      <a:srgbClr val="FFFAE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3200" b="1" u="none" strike="noStrike" dirty="0">
                          <a:effectLst/>
                        </a:rPr>
                        <a:t>Desiderabili</a:t>
                      </a:r>
                      <a:endParaRPr lang="it-IT" sz="3200" b="1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>
                    <a:solidFill>
                      <a:srgbClr val="FFFAE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3200" u="none" strike="noStrike">
                          <a:effectLst/>
                        </a:rPr>
                        <a:t>3</a:t>
                      </a:r>
                      <a:endParaRPr lang="it-IT" sz="32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>
                    <a:solidFill>
                      <a:srgbClr val="FFFAE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3200" u="none" strike="noStrike">
                          <a:effectLst/>
                        </a:rPr>
                        <a:t>8</a:t>
                      </a:r>
                      <a:endParaRPr lang="it-IT" sz="32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>
                    <a:solidFill>
                      <a:srgbClr val="FFFA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58060485"/>
                  </a:ext>
                </a:extLst>
              </a:tr>
              <a:tr h="355178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3200" b="1" u="none" strike="noStrike" dirty="0">
                          <a:effectLst/>
                        </a:rPr>
                        <a:t>TOTALE COMPLESSIVO</a:t>
                      </a:r>
                      <a:endParaRPr lang="it-IT" sz="3200" b="1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>
                    <a:solidFill>
                      <a:srgbClr val="FFFAE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3200" u="none" strike="noStrike" dirty="0">
                          <a:effectLst/>
                        </a:rPr>
                        <a:t> </a:t>
                      </a:r>
                      <a:endParaRPr lang="it-IT" sz="32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>
                    <a:solidFill>
                      <a:srgbClr val="FFFAE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3200" u="none" strike="noStrike" dirty="0">
                          <a:effectLst/>
                        </a:rPr>
                        <a:t> </a:t>
                      </a:r>
                      <a:endParaRPr lang="it-IT" sz="32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>
                    <a:solidFill>
                      <a:srgbClr val="FFFAE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3200" u="none" strike="noStrike" dirty="0">
                          <a:effectLst/>
                        </a:rPr>
                        <a:t>163</a:t>
                      </a:r>
                      <a:endParaRPr lang="it-IT" sz="32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>
                    <a:solidFill>
                      <a:srgbClr val="FFFA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51170338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AE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C00F40E-F280-F313-B170-16E6288FFC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>
            <a:extLst>
              <a:ext uri="{FF2B5EF4-FFF2-40B4-BE49-F238E27FC236}">
                <a16:creationId xmlns:a16="http://schemas.microsoft.com/office/drawing/2014/main" id="{D2636085-A693-D4A3-30C8-9A81F36B8047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62989" t="67035"/>
          <a:stretch>
            <a:fillRect/>
          </a:stretch>
        </p:blipFill>
        <p:spPr>
          <a:xfrm>
            <a:off x="15813626" y="7962068"/>
            <a:ext cx="2610335" cy="2324931"/>
          </a:xfrm>
          <a:prstGeom prst="rect">
            <a:avLst/>
          </a:prstGeom>
        </p:spPr>
      </p:pic>
      <p:pic>
        <p:nvPicPr>
          <p:cNvPr id="3" name="Picture 3">
            <a:extLst>
              <a:ext uri="{FF2B5EF4-FFF2-40B4-BE49-F238E27FC236}">
                <a16:creationId xmlns:a16="http://schemas.microsoft.com/office/drawing/2014/main" id="{F131F50A-5B16-F590-D8AA-9DC13126C4CD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r="64034" b="46739"/>
          <a:stretch>
            <a:fillRect/>
          </a:stretch>
        </p:blipFill>
        <p:spPr>
          <a:xfrm rot="-5400000" flipH="1">
            <a:off x="796990" y="-796989"/>
            <a:ext cx="3314701" cy="4908680"/>
          </a:xfrm>
          <a:prstGeom prst="rect">
            <a:avLst/>
          </a:prstGeom>
        </p:spPr>
      </p:pic>
      <p:grpSp>
        <p:nvGrpSpPr>
          <p:cNvPr id="4" name="Group 4">
            <a:extLst>
              <a:ext uri="{FF2B5EF4-FFF2-40B4-BE49-F238E27FC236}">
                <a16:creationId xmlns:a16="http://schemas.microsoft.com/office/drawing/2014/main" id="{674D9BAB-0694-8FA4-B90B-BED632C0A45D}"/>
              </a:ext>
            </a:extLst>
          </p:cNvPr>
          <p:cNvGrpSpPr/>
          <p:nvPr/>
        </p:nvGrpSpPr>
        <p:grpSpPr>
          <a:xfrm>
            <a:off x="188063" y="0"/>
            <a:ext cx="17566536" cy="2935483"/>
            <a:chOff x="0" y="471724"/>
            <a:chExt cx="23422050" cy="3913976"/>
          </a:xfrm>
        </p:grpSpPr>
        <p:sp>
          <p:nvSpPr>
            <p:cNvPr id="5" name="TextBox 5">
              <a:extLst>
                <a:ext uri="{FF2B5EF4-FFF2-40B4-BE49-F238E27FC236}">
                  <a16:creationId xmlns:a16="http://schemas.microsoft.com/office/drawing/2014/main" id="{8E434A78-CD44-62AA-A20C-9C574E44F3B0}"/>
                </a:ext>
              </a:extLst>
            </p:cNvPr>
            <p:cNvSpPr txBox="1"/>
            <p:nvPr/>
          </p:nvSpPr>
          <p:spPr>
            <a:xfrm>
              <a:off x="0" y="3571631"/>
              <a:ext cx="11609426" cy="814069"/>
            </a:xfrm>
            <a:prstGeom prst="rect">
              <a:avLst/>
            </a:prstGeom>
          </p:spPr>
          <p:txBody>
            <a:bodyPr wrap="square" lIns="0" tIns="0" rIns="0" bIns="0" rtlCol="0" anchor="t">
              <a:spAutoFit/>
            </a:bodyPr>
            <a:lstStyle/>
            <a:p>
              <a:pPr marL="587428" lvl="1" indent="-342900" algn="ctr">
                <a:lnSpc>
                  <a:spcPct val="150000"/>
                </a:lnSpc>
                <a:buFont typeface="Wingdings" panose="05000000000000000000" pitchFamily="2" charset="2"/>
                <a:buChar char="Ø"/>
              </a:pPr>
              <a:endParaRPr lang="it-IT" sz="3000" noProof="0" dirty="0">
                <a:solidFill>
                  <a:srgbClr val="000000"/>
                </a:solidFill>
                <a:latin typeface="Overpass"/>
                <a:ea typeface="Overpass"/>
                <a:cs typeface="Arial" panose="020B0604020202020204" pitchFamily="34" charset="0"/>
                <a:sym typeface="Overpass"/>
              </a:endParaRPr>
            </a:p>
          </p:txBody>
        </p:sp>
        <p:sp>
          <p:nvSpPr>
            <p:cNvPr id="6" name="TextBox 6">
              <a:extLst>
                <a:ext uri="{FF2B5EF4-FFF2-40B4-BE49-F238E27FC236}">
                  <a16:creationId xmlns:a16="http://schemas.microsoft.com/office/drawing/2014/main" id="{271B642E-30D7-1A33-189C-B4EB591A7541}"/>
                </a:ext>
              </a:extLst>
            </p:cNvPr>
            <p:cNvSpPr txBox="1"/>
            <p:nvPr/>
          </p:nvSpPr>
          <p:spPr>
            <a:xfrm>
              <a:off x="0" y="471724"/>
              <a:ext cx="23422050" cy="2182819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212"/>
                </a:lnSpc>
              </a:pPr>
              <a:r>
                <a:rPr lang="it-IT" sz="6000" dirty="0">
                  <a:latin typeface="Arial" panose="020B0604020202020204" pitchFamily="34" charset="0"/>
                  <a:cs typeface="Arial" panose="020B0604020202020204" pitchFamily="34" charset="0"/>
                </a:rPr>
                <a:t>COMPRENSIONE OBIETTIVI DEL CAPITOLATO</a:t>
              </a:r>
              <a:endParaRPr lang="it-IT" sz="6600" b="1" noProof="0" dirty="0">
                <a:solidFill>
                  <a:srgbClr val="000000"/>
                </a:solidFill>
                <a:latin typeface="Arial" panose="020B0604020202020204" pitchFamily="34" charset="0"/>
                <a:ea typeface="Fredoka"/>
                <a:cs typeface="Arial" panose="020B0604020202020204" pitchFamily="34" charset="0"/>
                <a:sym typeface="Fredoka"/>
              </a:endParaRPr>
            </a:p>
          </p:txBody>
        </p:sp>
      </p:grpSp>
      <p:sp>
        <p:nvSpPr>
          <p:cNvPr id="10" name="CasellaDiTesto 9">
            <a:extLst>
              <a:ext uri="{FF2B5EF4-FFF2-40B4-BE49-F238E27FC236}">
                <a16:creationId xmlns:a16="http://schemas.microsoft.com/office/drawing/2014/main" id="{93CB4F33-0BAA-CFF4-A4F8-FDA9B325A1B4}"/>
              </a:ext>
            </a:extLst>
          </p:cNvPr>
          <p:cNvSpPr txBox="1"/>
          <p:nvPr/>
        </p:nvSpPr>
        <p:spPr>
          <a:xfrm>
            <a:off x="916433" y="2324931"/>
            <a:ext cx="15773400" cy="16516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16028" lvl="1" indent="-5715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it-IT" sz="3600" dirty="0">
                <a:solidFill>
                  <a:srgbClr val="000000"/>
                </a:solidFill>
                <a:latin typeface="Arial" panose="020B0604020202020204" pitchFamily="34" charset="0"/>
                <a:ea typeface="Overpass"/>
                <a:cs typeface="Arial" panose="020B0604020202020204" pitchFamily="34" charset="0"/>
                <a:sym typeface="Overpass"/>
              </a:rPr>
              <a:t>Alto rischio tecnologico dovuto alla poca esperienza del gruppo con le tecnologie utilizzate</a:t>
            </a:r>
          </a:p>
        </p:txBody>
      </p:sp>
      <p:pic>
        <p:nvPicPr>
          <p:cNvPr id="8" name="Immagine 7" descr="Immagine che contiene Carattere, Elementi grafici, logo, grafica&#10;&#10;Il contenuto generato dall'IA potrebbe non essere corretto.">
            <a:extLst>
              <a:ext uri="{FF2B5EF4-FFF2-40B4-BE49-F238E27FC236}">
                <a16:creationId xmlns:a16="http://schemas.microsoft.com/office/drawing/2014/main" id="{F46F7CF8-0E4D-E768-7C1D-3926AFFCE1C8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62400" y="4680395"/>
            <a:ext cx="3486637" cy="1314633"/>
          </a:xfrm>
          <a:prstGeom prst="rect">
            <a:avLst/>
          </a:prstGeom>
        </p:spPr>
      </p:pic>
      <p:pic>
        <p:nvPicPr>
          <p:cNvPr id="12" name="Immagine 11" descr="Immagine che contiene simbolo, Elementi grafici, design&#10;&#10;Il contenuto generato dall'IA potrebbe non essere corretto.">
            <a:extLst>
              <a:ext uri="{FF2B5EF4-FFF2-40B4-BE49-F238E27FC236}">
                <a16:creationId xmlns:a16="http://schemas.microsoft.com/office/drawing/2014/main" id="{7344410B-1D5D-AAFC-EDF9-C507CB0B45BB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53800" y="3878063"/>
            <a:ext cx="3656768" cy="36567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5851179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AE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78E8E62-5108-D482-AAA3-E715343C00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>
            <a:extLst>
              <a:ext uri="{FF2B5EF4-FFF2-40B4-BE49-F238E27FC236}">
                <a16:creationId xmlns:a16="http://schemas.microsoft.com/office/drawing/2014/main" id="{E4EC249A-9DDC-7352-79CB-6D8E954031AB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62989" t="67035"/>
          <a:stretch>
            <a:fillRect/>
          </a:stretch>
        </p:blipFill>
        <p:spPr>
          <a:xfrm>
            <a:off x="15813626" y="7962068"/>
            <a:ext cx="2610335" cy="2324931"/>
          </a:xfrm>
          <a:prstGeom prst="rect">
            <a:avLst/>
          </a:prstGeom>
        </p:spPr>
      </p:pic>
      <p:pic>
        <p:nvPicPr>
          <p:cNvPr id="3" name="Picture 3">
            <a:extLst>
              <a:ext uri="{FF2B5EF4-FFF2-40B4-BE49-F238E27FC236}">
                <a16:creationId xmlns:a16="http://schemas.microsoft.com/office/drawing/2014/main" id="{75268FE3-745A-1979-4FFD-6B8BFC6BF59D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r="64034" b="46739"/>
          <a:stretch>
            <a:fillRect/>
          </a:stretch>
        </p:blipFill>
        <p:spPr>
          <a:xfrm rot="-5400000" flipH="1">
            <a:off x="796990" y="-796989"/>
            <a:ext cx="3314701" cy="4908680"/>
          </a:xfrm>
          <a:prstGeom prst="rect">
            <a:avLst/>
          </a:prstGeom>
        </p:spPr>
      </p:pic>
      <p:grpSp>
        <p:nvGrpSpPr>
          <p:cNvPr id="4" name="Group 4">
            <a:extLst>
              <a:ext uri="{FF2B5EF4-FFF2-40B4-BE49-F238E27FC236}">
                <a16:creationId xmlns:a16="http://schemas.microsoft.com/office/drawing/2014/main" id="{361B0CD7-A89E-DE2A-6FBB-1BEC96A7593F}"/>
              </a:ext>
            </a:extLst>
          </p:cNvPr>
          <p:cNvGrpSpPr/>
          <p:nvPr/>
        </p:nvGrpSpPr>
        <p:grpSpPr>
          <a:xfrm>
            <a:off x="188063" y="0"/>
            <a:ext cx="17566536" cy="2935483"/>
            <a:chOff x="0" y="471724"/>
            <a:chExt cx="23422050" cy="3913976"/>
          </a:xfrm>
        </p:grpSpPr>
        <p:sp>
          <p:nvSpPr>
            <p:cNvPr id="5" name="TextBox 5">
              <a:extLst>
                <a:ext uri="{FF2B5EF4-FFF2-40B4-BE49-F238E27FC236}">
                  <a16:creationId xmlns:a16="http://schemas.microsoft.com/office/drawing/2014/main" id="{0E66CC5B-1415-040E-2D86-BD69EAC51F76}"/>
                </a:ext>
              </a:extLst>
            </p:cNvPr>
            <p:cNvSpPr txBox="1"/>
            <p:nvPr/>
          </p:nvSpPr>
          <p:spPr>
            <a:xfrm>
              <a:off x="0" y="3571631"/>
              <a:ext cx="11609426" cy="814069"/>
            </a:xfrm>
            <a:prstGeom prst="rect">
              <a:avLst/>
            </a:prstGeom>
          </p:spPr>
          <p:txBody>
            <a:bodyPr wrap="square" lIns="0" tIns="0" rIns="0" bIns="0" rtlCol="0" anchor="t">
              <a:spAutoFit/>
            </a:bodyPr>
            <a:lstStyle/>
            <a:p>
              <a:pPr marL="587428" lvl="1" indent="-342900" algn="ctr">
                <a:lnSpc>
                  <a:spcPct val="150000"/>
                </a:lnSpc>
                <a:buFont typeface="Wingdings" panose="05000000000000000000" pitchFamily="2" charset="2"/>
                <a:buChar char="Ø"/>
              </a:pPr>
              <a:endParaRPr lang="it-IT" sz="3000" noProof="0" dirty="0">
                <a:solidFill>
                  <a:srgbClr val="000000"/>
                </a:solidFill>
                <a:latin typeface="Overpass"/>
                <a:ea typeface="Overpass"/>
                <a:cs typeface="Arial" panose="020B0604020202020204" pitchFamily="34" charset="0"/>
                <a:sym typeface="Overpass"/>
              </a:endParaRPr>
            </a:p>
          </p:txBody>
        </p:sp>
        <p:sp>
          <p:nvSpPr>
            <p:cNvPr id="6" name="TextBox 6">
              <a:extLst>
                <a:ext uri="{FF2B5EF4-FFF2-40B4-BE49-F238E27FC236}">
                  <a16:creationId xmlns:a16="http://schemas.microsoft.com/office/drawing/2014/main" id="{B8BE740A-FE9A-E344-E349-87ED38E70557}"/>
                </a:ext>
              </a:extLst>
            </p:cNvPr>
            <p:cNvSpPr txBox="1"/>
            <p:nvPr/>
          </p:nvSpPr>
          <p:spPr>
            <a:xfrm>
              <a:off x="0" y="471724"/>
              <a:ext cx="23422050" cy="2206074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212"/>
                </a:lnSpc>
              </a:pPr>
              <a:r>
                <a:rPr lang="it-IT" sz="6000" b="1" noProof="0" dirty="0">
                  <a:solidFill>
                    <a:srgbClr val="000000"/>
                  </a:solidFill>
                  <a:latin typeface="Arial" panose="020B0604020202020204" pitchFamily="34" charset="0"/>
                  <a:ea typeface="Fredoka"/>
                  <a:cs typeface="Arial" panose="020B0604020202020204" pitchFamily="34" charset="0"/>
                  <a:sym typeface="Fredoka"/>
                </a:rPr>
                <a:t>MODIFICHE MIGLIORATIVE EFFETTUATE</a:t>
              </a:r>
              <a:endParaRPr lang="it-IT" sz="6600" b="1" noProof="0" dirty="0">
                <a:solidFill>
                  <a:srgbClr val="000000"/>
                </a:solidFill>
                <a:latin typeface="Arial" panose="020B0604020202020204" pitchFamily="34" charset="0"/>
                <a:ea typeface="Fredoka"/>
                <a:cs typeface="Arial" panose="020B0604020202020204" pitchFamily="34" charset="0"/>
                <a:sym typeface="Fredoka"/>
              </a:endParaRPr>
            </a:p>
          </p:txBody>
        </p:sp>
      </p:grpSp>
      <p:sp>
        <p:nvSpPr>
          <p:cNvPr id="10" name="CasellaDiTesto 9">
            <a:extLst>
              <a:ext uri="{FF2B5EF4-FFF2-40B4-BE49-F238E27FC236}">
                <a16:creationId xmlns:a16="http://schemas.microsoft.com/office/drawing/2014/main" id="{F8FC53A6-2E64-008D-E70C-C3D2536341D2}"/>
              </a:ext>
            </a:extLst>
          </p:cNvPr>
          <p:cNvSpPr txBox="1"/>
          <p:nvPr/>
        </p:nvSpPr>
        <p:spPr>
          <a:xfrm>
            <a:off x="916433" y="2324931"/>
            <a:ext cx="15773400" cy="16516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16028" lvl="1" indent="-5715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it-IT" sz="3600" dirty="0">
                <a:solidFill>
                  <a:srgbClr val="000000"/>
                </a:solidFill>
                <a:latin typeface="Arial" panose="020B0604020202020204" pitchFamily="34" charset="0"/>
                <a:ea typeface="Overpass"/>
                <a:cs typeface="Arial" panose="020B0604020202020204" pitchFamily="34" charset="0"/>
                <a:sym typeface="Overpass"/>
              </a:rPr>
              <a:t>Aggiunta di una versione del Glossario utilizzabile ogni volta che si apre un documento del sito</a:t>
            </a:r>
          </a:p>
        </p:txBody>
      </p:sp>
    </p:spTree>
    <p:extLst>
      <p:ext uri="{BB962C8B-B14F-4D97-AF65-F5344CB8AC3E}">
        <p14:creationId xmlns:p14="http://schemas.microsoft.com/office/powerpoint/2010/main" val="388713525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AE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D37E254-2660-76BF-DABA-E29EB3ECC1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>
            <a:extLst>
              <a:ext uri="{FF2B5EF4-FFF2-40B4-BE49-F238E27FC236}">
                <a16:creationId xmlns:a16="http://schemas.microsoft.com/office/drawing/2014/main" id="{9A07EF05-BB3A-AA4E-51F0-55F87AF3F31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62989" t="67035"/>
          <a:stretch>
            <a:fillRect/>
          </a:stretch>
        </p:blipFill>
        <p:spPr>
          <a:xfrm>
            <a:off x="15813626" y="7962068"/>
            <a:ext cx="2610335" cy="2324931"/>
          </a:xfrm>
          <a:prstGeom prst="rect">
            <a:avLst/>
          </a:prstGeom>
        </p:spPr>
      </p:pic>
      <p:pic>
        <p:nvPicPr>
          <p:cNvPr id="3" name="Picture 3">
            <a:extLst>
              <a:ext uri="{FF2B5EF4-FFF2-40B4-BE49-F238E27FC236}">
                <a16:creationId xmlns:a16="http://schemas.microsoft.com/office/drawing/2014/main" id="{17D02B76-37BA-B73E-A9DE-E1F7BFC4AC40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r="64034" b="46739"/>
          <a:stretch>
            <a:fillRect/>
          </a:stretch>
        </p:blipFill>
        <p:spPr>
          <a:xfrm rot="-5400000" flipH="1">
            <a:off x="796990" y="-796989"/>
            <a:ext cx="3314701" cy="4908680"/>
          </a:xfrm>
          <a:prstGeom prst="rect">
            <a:avLst/>
          </a:prstGeom>
        </p:spPr>
      </p:pic>
      <p:grpSp>
        <p:nvGrpSpPr>
          <p:cNvPr id="4" name="Group 4">
            <a:extLst>
              <a:ext uri="{FF2B5EF4-FFF2-40B4-BE49-F238E27FC236}">
                <a16:creationId xmlns:a16="http://schemas.microsoft.com/office/drawing/2014/main" id="{AC7F0BB9-A6EB-2176-8478-76EBD056C514}"/>
              </a:ext>
            </a:extLst>
          </p:cNvPr>
          <p:cNvGrpSpPr/>
          <p:nvPr/>
        </p:nvGrpSpPr>
        <p:grpSpPr>
          <a:xfrm>
            <a:off x="188063" y="-228599"/>
            <a:ext cx="17566536" cy="1485899"/>
            <a:chOff x="0" y="471724"/>
            <a:chExt cx="23422050" cy="3913976"/>
          </a:xfrm>
        </p:grpSpPr>
        <p:sp>
          <p:nvSpPr>
            <p:cNvPr id="5" name="TextBox 5">
              <a:extLst>
                <a:ext uri="{FF2B5EF4-FFF2-40B4-BE49-F238E27FC236}">
                  <a16:creationId xmlns:a16="http://schemas.microsoft.com/office/drawing/2014/main" id="{6D72DF4B-077A-88D2-45F8-83AEEECB7871}"/>
                </a:ext>
              </a:extLst>
            </p:cNvPr>
            <p:cNvSpPr txBox="1"/>
            <p:nvPr/>
          </p:nvSpPr>
          <p:spPr>
            <a:xfrm>
              <a:off x="0" y="3571631"/>
              <a:ext cx="11609426" cy="814069"/>
            </a:xfrm>
            <a:prstGeom prst="rect">
              <a:avLst/>
            </a:prstGeom>
          </p:spPr>
          <p:txBody>
            <a:bodyPr wrap="square" lIns="0" tIns="0" rIns="0" bIns="0" rtlCol="0" anchor="t">
              <a:spAutoFit/>
            </a:bodyPr>
            <a:lstStyle/>
            <a:p>
              <a:pPr marL="587428" lvl="1" indent="-342900" algn="ctr">
                <a:lnSpc>
                  <a:spcPct val="150000"/>
                </a:lnSpc>
                <a:buFont typeface="Wingdings" panose="05000000000000000000" pitchFamily="2" charset="2"/>
                <a:buChar char="Ø"/>
              </a:pPr>
              <a:endParaRPr lang="it-IT" sz="3000" noProof="0" dirty="0">
                <a:solidFill>
                  <a:srgbClr val="000000"/>
                </a:solidFill>
                <a:latin typeface="Overpass"/>
                <a:ea typeface="Overpass"/>
                <a:cs typeface="Arial" panose="020B0604020202020204" pitchFamily="34" charset="0"/>
                <a:sym typeface="Overpass"/>
              </a:endParaRPr>
            </a:p>
          </p:txBody>
        </p:sp>
        <p:sp>
          <p:nvSpPr>
            <p:cNvPr id="6" name="TextBox 6">
              <a:extLst>
                <a:ext uri="{FF2B5EF4-FFF2-40B4-BE49-F238E27FC236}">
                  <a16:creationId xmlns:a16="http://schemas.microsoft.com/office/drawing/2014/main" id="{AEB526A9-A007-4C63-4DDF-4D661FFD04CE}"/>
                </a:ext>
              </a:extLst>
            </p:cNvPr>
            <p:cNvSpPr txBox="1"/>
            <p:nvPr/>
          </p:nvSpPr>
          <p:spPr>
            <a:xfrm>
              <a:off x="0" y="471724"/>
              <a:ext cx="23422050" cy="2206074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212"/>
                </a:lnSpc>
              </a:pPr>
              <a:r>
                <a:rPr lang="it-IT" sz="6000" b="1" noProof="0" dirty="0">
                  <a:solidFill>
                    <a:srgbClr val="000000"/>
                  </a:solidFill>
                  <a:latin typeface="Arial" panose="020B0604020202020204" pitchFamily="34" charset="0"/>
                  <a:ea typeface="Fredoka"/>
                  <a:cs typeface="Arial" panose="020B0604020202020204" pitchFamily="34" charset="0"/>
                  <a:sym typeface="Fredoka"/>
                </a:rPr>
                <a:t>MODIFICHE MIGLIORATIVE EFFETTUATE</a:t>
              </a:r>
              <a:endParaRPr lang="it-IT" sz="6600" b="1" noProof="0" dirty="0">
                <a:solidFill>
                  <a:srgbClr val="000000"/>
                </a:solidFill>
                <a:latin typeface="Arial" panose="020B0604020202020204" pitchFamily="34" charset="0"/>
                <a:ea typeface="Fredoka"/>
                <a:cs typeface="Arial" panose="020B0604020202020204" pitchFamily="34" charset="0"/>
                <a:sym typeface="Fredoka"/>
              </a:endParaRPr>
            </a:p>
          </p:txBody>
        </p:sp>
      </p:grpSp>
      <p:sp>
        <p:nvSpPr>
          <p:cNvPr id="10" name="CasellaDiTesto 9">
            <a:extLst>
              <a:ext uri="{FF2B5EF4-FFF2-40B4-BE49-F238E27FC236}">
                <a16:creationId xmlns:a16="http://schemas.microsoft.com/office/drawing/2014/main" id="{96B5B760-63D5-F27A-63C1-CD0ECBCC2770}"/>
              </a:ext>
            </a:extLst>
          </p:cNvPr>
          <p:cNvSpPr txBox="1"/>
          <p:nvPr/>
        </p:nvSpPr>
        <p:spPr>
          <a:xfrm>
            <a:off x="916433" y="1739229"/>
            <a:ext cx="15773400" cy="16516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16028" lvl="1" indent="-5715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it-IT" sz="3600" dirty="0">
                <a:solidFill>
                  <a:srgbClr val="000000"/>
                </a:solidFill>
                <a:latin typeface="Arial" panose="020B0604020202020204" pitchFamily="34" charset="0"/>
                <a:ea typeface="Overpass"/>
                <a:cs typeface="Arial" panose="020B0604020202020204" pitchFamily="34" charset="0"/>
                <a:sym typeface="Overpass"/>
              </a:rPr>
              <a:t>Ristrutturazione del sito dividendolo in CANDIDATURA, DIAPOSITIVE E RTB</a:t>
            </a:r>
          </a:p>
        </p:txBody>
      </p:sp>
      <p:pic>
        <p:nvPicPr>
          <p:cNvPr id="9" name="Immagine 8">
            <a:extLst>
              <a:ext uri="{FF2B5EF4-FFF2-40B4-BE49-F238E27FC236}">
                <a16:creationId xmlns:a16="http://schemas.microsoft.com/office/drawing/2014/main" id="{A6C1D2AB-FFA0-C45F-7A4D-D28A6083D0AA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0888534" y="3872829"/>
            <a:ext cx="4908680" cy="6390138"/>
          </a:xfrm>
          <a:prstGeom prst="rect">
            <a:avLst/>
          </a:prstGeom>
        </p:spPr>
      </p:pic>
      <p:pic>
        <p:nvPicPr>
          <p:cNvPr id="8" name="Immagine 7" descr="Immagine che contiene testo, software, Pagina Web, numero&#10;&#10;Il contenuto generato dall'IA potrebbe non essere corretto.">
            <a:extLst>
              <a:ext uri="{FF2B5EF4-FFF2-40B4-BE49-F238E27FC236}">
                <a16:creationId xmlns:a16="http://schemas.microsoft.com/office/drawing/2014/main" id="{1D420CE6-53C6-A0AD-AB37-58BCAC66CA45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24000" y="3872829"/>
            <a:ext cx="7052366" cy="6213864"/>
          </a:xfrm>
          <a:prstGeom prst="rect">
            <a:avLst/>
          </a:prstGeom>
        </p:spPr>
      </p:pic>
      <p:sp>
        <p:nvSpPr>
          <p:cNvPr id="11" name="CasellaDiTesto 10">
            <a:extLst>
              <a:ext uri="{FF2B5EF4-FFF2-40B4-BE49-F238E27FC236}">
                <a16:creationId xmlns:a16="http://schemas.microsoft.com/office/drawing/2014/main" id="{28942479-65D2-9A5A-09B2-DC2049201200}"/>
              </a:ext>
            </a:extLst>
          </p:cNvPr>
          <p:cNvSpPr txBox="1"/>
          <p:nvPr/>
        </p:nvSpPr>
        <p:spPr>
          <a:xfrm>
            <a:off x="4198070" y="3248786"/>
            <a:ext cx="1593706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4000" dirty="0">
                <a:solidFill>
                  <a:srgbClr val="0070C0"/>
                </a:solidFill>
              </a:rPr>
              <a:t>PRIMA</a:t>
            </a:r>
          </a:p>
        </p:txBody>
      </p:sp>
      <p:sp>
        <p:nvSpPr>
          <p:cNvPr id="12" name="CasellaDiTesto 11">
            <a:extLst>
              <a:ext uri="{FF2B5EF4-FFF2-40B4-BE49-F238E27FC236}">
                <a16:creationId xmlns:a16="http://schemas.microsoft.com/office/drawing/2014/main" id="{C358EEC8-AB83-4625-696B-C42D283CBDEA}"/>
              </a:ext>
            </a:extLst>
          </p:cNvPr>
          <p:cNvSpPr txBox="1"/>
          <p:nvPr/>
        </p:nvSpPr>
        <p:spPr>
          <a:xfrm>
            <a:off x="12546021" y="3164943"/>
            <a:ext cx="1444626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4000" dirty="0">
                <a:solidFill>
                  <a:srgbClr val="0070C0"/>
                </a:solidFill>
              </a:rPr>
              <a:t>DOPO</a:t>
            </a:r>
          </a:p>
        </p:txBody>
      </p:sp>
    </p:spTree>
    <p:extLst>
      <p:ext uri="{BB962C8B-B14F-4D97-AF65-F5344CB8AC3E}">
        <p14:creationId xmlns:p14="http://schemas.microsoft.com/office/powerpoint/2010/main" val="131962051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AE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484F251-74D2-D6A0-DF35-810DC97A1C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>
            <a:extLst>
              <a:ext uri="{FF2B5EF4-FFF2-40B4-BE49-F238E27FC236}">
                <a16:creationId xmlns:a16="http://schemas.microsoft.com/office/drawing/2014/main" id="{EC761D68-B4C9-E056-9434-30C6476BF600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62989" t="67035"/>
          <a:stretch>
            <a:fillRect/>
          </a:stretch>
        </p:blipFill>
        <p:spPr>
          <a:xfrm>
            <a:off x="15813626" y="7962068"/>
            <a:ext cx="2610335" cy="2324931"/>
          </a:xfrm>
          <a:prstGeom prst="rect">
            <a:avLst/>
          </a:prstGeom>
        </p:spPr>
      </p:pic>
      <p:pic>
        <p:nvPicPr>
          <p:cNvPr id="3" name="Picture 3">
            <a:extLst>
              <a:ext uri="{FF2B5EF4-FFF2-40B4-BE49-F238E27FC236}">
                <a16:creationId xmlns:a16="http://schemas.microsoft.com/office/drawing/2014/main" id="{3B97A3C2-BDE2-E7C2-3AC0-A52E0EAE3E75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r="64034" b="46739"/>
          <a:stretch>
            <a:fillRect/>
          </a:stretch>
        </p:blipFill>
        <p:spPr>
          <a:xfrm rot="-5400000" flipH="1">
            <a:off x="796990" y="-796989"/>
            <a:ext cx="3314701" cy="4908680"/>
          </a:xfrm>
          <a:prstGeom prst="rect">
            <a:avLst/>
          </a:prstGeom>
        </p:spPr>
      </p:pic>
      <p:grpSp>
        <p:nvGrpSpPr>
          <p:cNvPr id="4" name="Group 4">
            <a:extLst>
              <a:ext uri="{FF2B5EF4-FFF2-40B4-BE49-F238E27FC236}">
                <a16:creationId xmlns:a16="http://schemas.microsoft.com/office/drawing/2014/main" id="{593F4571-6FA0-AFD7-E270-4B4EF9438ACF}"/>
              </a:ext>
            </a:extLst>
          </p:cNvPr>
          <p:cNvGrpSpPr/>
          <p:nvPr/>
        </p:nvGrpSpPr>
        <p:grpSpPr>
          <a:xfrm>
            <a:off x="188063" y="266700"/>
            <a:ext cx="17566536" cy="1485899"/>
            <a:chOff x="0" y="471724"/>
            <a:chExt cx="23422050" cy="3913976"/>
          </a:xfrm>
        </p:grpSpPr>
        <p:sp>
          <p:nvSpPr>
            <p:cNvPr id="5" name="TextBox 5">
              <a:extLst>
                <a:ext uri="{FF2B5EF4-FFF2-40B4-BE49-F238E27FC236}">
                  <a16:creationId xmlns:a16="http://schemas.microsoft.com/office/drawing/2014/main" id="{B2CA414E-7EB1-AD3A-E4E0-06C1C55B727C}"/>
                </a:ext>
              </a:extLst>
            </p:cNvPr>
            <p:cNvSpPr txBox="1"/>
            <p:nvPr/>
          </p:nvSpPr>
          <p:spPr>
            <a:xfrm>
              <a:off x="0" y="3571631"/>
              <a:ext cx="11609426" cy="814069"/>
            </a:xfrm>
            <a:prstGeom prst="rect">
              <a:avLst/>
            </a:prstGeom>
          </p:spPr>
          <p:txBody>
            <a:bodyPr wrap="square" lIns="0" tIns="0" rIns="0" bIns="0" rtlCol="0" anchor="t">
              <a:spAutoFit/>
            </a:bodyPr>
            <a:lstStyle/>
            <a:p>
              <a:pPr marL="587428" lvl="1" indent="-342900" algn="ctr">
                <a:lnSpc>
                  <a:spcPct val="150000"/>
                </a:lnSpc>
                <a:buFont typeface="Wingdings" panose="05000000000000000000" pitchFamily="2" charset="2"/>
                <a:buChar char="Ø"/>
              </a:pPr>
              <a:endParaRPr lang="it-IT" sz="3000" noProof="0" dirty="0">
                <a:solidFill>
                  <a:srgbClr val="000000"/>
                </a:solidFill>
                <a:latin typeface="Overpass"/>
                <a:ea typeface="Overpass"/>
                <a:cs typeface="Arial" panose="020B0604020202020204" pitchFamily="34" charset="0"/>
                <a:sym typeface="Overpass"/>
              </a:endParaRPr>
            </a:p>
          </p:txBody>
        </p:sp>
        <p:sp>
          <p:nvSpPr>
            <p:cNvPr id="6" name="TextBox 6">
              <a:extLst>
                <a:ext uri="{FF2B5EF4-FFF2-40B4-BE49-F238E27FC236}">
                  <a16:creationId xmlns:a16="http://schemas.microsoft.com/office/drawing/2014/main" id="{696068F1-B303-CDE0-05D6-4E0639955D50}"/>
                </a:ext>
              </a:extLst>
            </p:cNvPr>
            <p:cNvSpPr txBox="1"/>
            <p:nvPr/>
          </p:nvSpPr>
          <p:spPr>
            <a:xfrm>
              <a:off x="0" y="471724"/>
              <a:ext cx="23422050" cy="2206074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212"/>
                </a:lnSpc>
              </a:pPr>
              <a:r>
                <a:rPr lang="it-IT" sz="6000" b="1" noProof="0" dirty="0">
                  <a:solidFill>
                    <a:srgbClr val="000000"/>
                  </a:solidFill>
                  <a:latin typeface="Arial" panose="020B0604020202020204" pitchFamily="34" charset="0"/>
                  <a:ea typeface="Fredoka"/>
                  <a:cs typeface="Arial" panose="020B0604020202020204" pitchFamily="34" charset="0"/>
                  <a:sym typeface="Fredoka"/>
                </a:rPr>
                <a:t>MODIFICHE MIGLIORATIVE EFFETTUATE</a:t>
              </a:r>
              <a:endParaRPr lang="it-IT" sz="6600" b="1" noProof="0" dirty="0">
                <a:solidFill>
                  <a:srgbClr val="000000"/>
                </a:solidFill>
                <a:latin typeface="Arial" panose="020B0604020202020204" pitchFamily="34" charset="0"/>
                <a:ea typeface="Fredoka"/>
                <a:cs typeface="Arial" panose="020B0604020202020204" pitchFamily="34" charset="0"/>
                <a:sym typeface="Fredoka"/>
              </a:endParaRPr>
            </a:p>
          </p:txBody>
        </p:sp>
      </p:grpSp>
      <p:sp>
        <p:nvSpPr>
          <p:cNvPr id="10" name="CasellaDiTesto 9">
            <a:extLst>
              <a:ext uri="{FF2B5EF4-FFF2-40B4-BE49-F238E27FC236}">
                <a16:creationId xmlns:a16="http://schemas.microsoft.com/office/drawing/2014/main" id="{587392E7-25AA-5C8B-B179-59FF6061F484}"/>
              </a:ext>
            </a:extLst>
          </p:cNvPr>
          <p:cNvSpPr txBox="1"/>
          <p:nvPr/>
        </p:nvSpPr>
        <p:spPr>
          <a:xfrm>
            <a:off x="916433" y="2729829"/>
            <a:ext cx="15773400" cy="16516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16028" lvl="1" indent="-5715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it-IT" sz="3600" dirty="0">
                <a:solidFill>
                  <a:srgbClr val="000000"/>
                </a:solidFill>
                <a:latin typeface="Arial" panose="020B0604020202020204" pitchFamily="34" charset="0"/>
                <a:ea typeface="Overpass"/>
                <a:cs typeface="Arial" panose="020B0604020202020204" pitchFamily="34" charset="0"/>
                <a:sym typeface="Overpass"/>
              </a:rPr>
              <a:t>È stata migliorata l’organizzazione del gruppo con compiti più specifici</a:t>
            </a:r>
          </a:p>
          <a:p>
            <a:pPr marL="816028" lvl="1" indent="-5715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it-IT" sz="3600" dirty="0">
                <a:solidFill>
                  <a:srgbClr val="000000"/>
                </a:solidFill>
                <a:latin typeface="Arial" panose="020B0604020202020204" pitchFamily="34" charset="0"/>
                <a:ea typeface="Overpass"/>
                <a:cs typeface="Arial" panose="020B0604020202020204" pitchFamily="34" charset="0"/>
                <a:sym typeface="Overpass"/>
              </a:rPr>
              <a:t>Ora vengono utilizzate le Pull </a:t>
            </a:r>
            <a:r>
              <a:rPr lang="it-IT" sz="3600" dirty="0" err="1">
                <a:solidFill>
                  <a:srgbClr val="000000"/>
                </a:solidFill>
                <a:latin typeface="Arial" panose="020B0604020202020204" pitchFamily="34" charset="0"/>
                <a:ea typeface="Overpass"/>
                <a:cs typeface="Arial" panose="020B0604020202020204" pitchFamily="34" charset="0"/>
                <a:sym typeface="Overpass"/>
              </a:rPr>
              <a:t>Request</a:t>
            </a:r>
            <a:endParaRPr lang="it-IT" sz="3600" dirty="0">
              <a:solidFill>
                <a:srgbClr val="000000"/>
              </a:solidFill>
              <a:latin typeface="Arial" panose="020B0604020202020204" pitchFamily="34" charset="0"/>
              <a:ea typeface="Overpass"/>
              <a:cs typeface="Arial" panose="020B0604020202020204" pitchFamily="34" charset="0"/>
              <a:sym typeface="Overpass"/>
            </a:endParaRPr>
          </a:p>
        </p:txBody>
      </p:sp>
    </p:spTree>
    <p:extLst>
      <p:ext uri="{BB962C8B-B14F-4D97-AF65-F5344CB8AC3E}">
        <p14:creationId xmlns:p14="http://schemas.microsoft.com/office/powerpoint/2010/main" val="301979471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AE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883E44A-613E-D92F-837E-A019C5B861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>
            <a:extLst>
              <a:ext uri="{FF2B5EF4-FFF2-40B4-BE49-F238E27FC236}">
                <a16:creationId xmlns:a16="http://schemas.microsoft.com/office/drawing/2014/main" id="{646DE6D0-D9B0-734A-1FCA-F0CE8876532B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62989" t="67035"/>
          <a:stretch>
            <a:fillRect/>
          </a:stretch>
        </p:blipFill>
        <p:spPr>
          <a:xfrm>
            <a:off x="15813626" y="7962068"/>
            <a:ext cx="2610335" cy="2324931"/>
          </a:xfrm>
          <a:prstGeom prst="rect">
            <a:avLst/>
          </a:prstGeom>
        </p:spPr>
      </p:pic>
      <p:pic>
        <p:nvPicPr>
          <p:cNvPr id="3" name="Picture 3">
            <a:extLst>
              <a:ext uri="{FF2B5EF4-FFF2-40B4-BE49-F238E27FC236}">
                <a16:creationId xmlns:a16="http://schemas.microsoft.com/office/drawing/2014/main" id="{7984546D-9349-8D71-3F0B-50319B1D30ED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r="64034" b="46739"/>
          <a:stretch>
            <a:fillRect/>
          </a:stretch>
        </p:blipFill>
        <p:spPr>
          <a:xfrm rot="-5400000" flipH="1">
            <a:off x="796990" y="-796989"/>
            <a:ext cx="3314701" cy="4908680"/>
          </a:xfrm>
          <a:prstGeom prst="rect">
            <a:avLst/>
          </a:prstGeom>
        </p:spPr>
      </p:pic>
      <p:grpSp>
        <p:nvGrpSpPr>
          <p:cNvPr id="4" name="Group 4">
            <a:extLst>
              <a:ext uri="{FF2B5EF4-FFF2-40B4-BE49-F238E27FC236}">
                <a16:creationId xmlns:a16="http://schemas.microsoft.com/office/drawing/2014/main" id="{16CAF2C4-D6E9-870F-DF10-8C565897E6C4}"/>
              </a:ext>
            </a:extLst>
          </p:cNvPr>
          <p:cNvGrpSpPr/>
          <p:nvPr/>
        </p:nvGrpSpPr>
        <p:grpSpPr>
          <a:xfrm>
            <a:off x="188063" y="266700"/>
            <a:ext cx="17566536" cy="1637115"/>
            <a:chOff x="0" y="471724"/>
            <a:chExt cx="23422050" cy="4312291"/>
          </a:xfrm>
        </p:grpSpPr>
        <p:sp>
          <p:nvSpPr>
            <p:cNvPr id="5" name="TextBox 5">
              <a:extLst>
                <a:ext uri="{FF2B5EF4-FFF2-40B4-BE49-F238E27FC236}">
                  <a16:creationId xmlns:a16="http://schemas.microsoft.com/office/drawing/2014/main" id="{7DB642F9-0563-89DB-E2FC-DB36054AC348}"/>
                </a:ext>
              </a:extLst>
            </p:cNvPr>
            <p:cNvSpPr txBox="1"/>
            <p:nvPr/>
          </p:nvSpPr>
          <p:spPr>
            <a:xfrm>
              <a:off x="0" y="3571631"/>
              <a:ext cx="11609426" cy="814069"/>
            </a:xfrm>
            <a:prstGeom prst="rect">
              <a:avLst/>
            </a:prstGeom>
          </p:spPr>
          <p:txBody>
            <a:bodyPr wrap="square" lIns="0" tIns="0" rIns="0" bIns="0" rtlCol="0" anchor="t">
              <a:spAutoFit/>
            </a:bodyPr>
            <a:lstStyle/>
            <a:p>
              <a:pPr marL="587428" lvl="1" indent="-342900" algn="ctr">
                <a:lnSpc>
                  <a:spcPct val="150000"/>
                </a:lnSpc>
                <a:buFont typeface="Wingdings" panose="05000000000000000000" pitchFamily="2" charset="2"/>
                <a:buChar char="Ø"/>
              </a:pPr>
              <a:endParaRPr lang="it-IT" sz="3000" noProof="0" dirty="0">
                <a:solidFill>
                  <a:srgbClr val="000000"/>
                </a:solidFill>
                <a:latin typeface="Overpass"/>
                <a:ea typeface="Overpass"/>
                <a:cs typeface="Arial" panose="020B0604020202020204" pitchFamily="34" charset="0"/>
                <a:sym typeface="Overpass"/>
              </a:endParaRPr>
            </a:p>
          </p:txBody>
        </p:sp>
        <p:sp>
          <p:nvSpPr>
            <p:cNvPr id="6" name="TextBox 6">
              <a:extLst>
                <a:ext uri="{FF2B5EF4-FFF2-40B4-BE49-F238E27FC236}">
                  <a16:creationId xmlns:a16="http://schemas.microsoft.com/office/drawing/2014/main" id="{3163DFA1-F0AD-9454-C503-A5B96B5BD3B1}"/>
                </a:ext>
              </a:extLst>
            </p:cNvPr>
            <p:cNvSpPr txBox="1"/>
            <p:nvPr/>
          </p:nvSpPr>
          <p:spPr>
            <a:xfrm>
              <a:off x="0" y="471724"/>
              <a:ext cx="23422050" cy="4312291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212"/>
                </a:lnSpc>
              </a:pPr>
              <a:r>
                <a:rPr lang="it-IT" sz="6000" b="1" noProof="0" dirty="0">
                  <a:solidFill>
                    <a:srgbClr val="000000"/>
                  </a:solidFill>
                  <a:latin typeface="Arial" panose="020B0604020202020204" pitchFamily="34" charset="0"/>
                  <a:ea typeface="Fredoka"/>
                  <a:cs typeface="Arial" panose="020B0604020202020204" pitchFamily="34" charset="0"/>
                  <a:sym typeface="Fredoka"/>
                </a:rPr>
                <a:t>AUTOVALUTAZIONE DEL LAVORO SVOLTO</a:t>
              </a:r>
              <a:endParaRPr lang="it-IT" sz="6600" b="1" noProof="0" dirty="0">
                <a:solidFill>
                  <a:srgbClr val="000000"/>
                </a:solidFill>
                <a:latin typeface="Arial" panose="020B0604020202020204" pitchFamily="34" charset="0"/>
                <a:ea typeface="Fredoka"/>
                <a:cs typeface="Arial" panose="020B0604020202020204" pitchFamily="34" charset="0"/>
                <a:sym typeface="Fredoka"/>
              </a:endParaRPr>
            </a:p>
          </p:txBody>
        </p:sp>
      </p:grpSp>
      <p:sp>
        <p:nvSpPr>
          <p:cNvPr id="10" name="CasellaDiTesto 9">
            <a:extLst>
              <a:ext uri="{FF2B5EF4-FFF2-40B4-BE49-F238E27FC236}">
                <a16:creationId xmlns:a16="http://schemas.microsoft.com/office/drawing/2014/main" id="{2BFC49D7-239D-F711-638F-37B046268569}"/>
              </a:ext>
            </a:extLst>
          </p:cNvPr>
          <p:cNvSpPr txBox="1"/>
          <p:nvPr/>
        </p:nvSpPr>
        <p:spPr>
          <a:xfrm>
            <a:off x="916433" y="2729829"/>
            <a:ext cx="15773400" cy="41578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16028" lvl="1" indent="-5715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it-IT" sz="3600" dirty="0">
                <a:solidFill>
                  <a:srgbClr val="000000"/>
                </a:solidFill>
                <a:latin typeface="Arial" panose="020B0604020202020204" pitchFamily="34" charset="0"/>
                <a:ea typeface="Overpass"/>
                <a:cs typeface="Arial" panose="020B0604020202020204" pitchFamily="34" charset="0"/>
                <a:sym typeface="Overpass"/>
              </a:rPr>
              <a:t>Generalmente, il gruppo è molto soddisfatto di come sta lavorando</a:t>
            </a:r>
          </a:p>
          <a:p>
            <a:pPr marL="816028" lvl="1" indent="-5715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it-IT" sz="3600" dirty="0">
                <a:solidFill>
                  <a:srgbClr val="000000"/>
                </a:solidFill>
                <a:latin typeface="Arial" panose="020B0604020202020204" pitchFamily="34" charset="0"/>
                <a:ea typeface="Overpass"/>
                <a:cs typeface="Arial" panose="020B0604020202020204" pitchFamily="34" charset="0"/>
                <a:sym typeface="Overpass"/>
              </a:rPr>
              <a:t>Tutti hanno contribuito al raggiungimento della </a:t>
            </a:r>
            <a:r>
              <a:rPr lang="it-IT" sz="3600" dirty="0" err="1">
                <a:solidFill>
                  <a:srgbClr val="000000"/>
                </a:solidFill>
                <a:latin typeface="Arial" panose="020B0604020202020204" pitchFamily="34" charset="0"/>
                <a:ea typeface="Overpass"/>
                <a:cs typeface="Arial" panose="020B0604020202020204" pitchFamily="34" charset="0"/>
                <a:sym typeface="Overpass"/>
              </a:rPr>
              <a:t>Requirements</a:t>
            </a:r>
            <a:r>
              <a:rPr lang="it-IT" sz="3600" dirty="0">
                <a:solidFill>
                  <a:srgbClr val="000000"/>
                </a:solidFill>
                <a:latin typeface="Arial" panose="020B0604020202020204" pitchFamily="34" charset="0"/>
                <a:ea typeface="Overpass"/>
                <a:cs typeface="Arial" panose="020B0604020202020204" pitchFamily="34" charset="0"/>
                <a:sym typeface="Overpass"/>
              </a:rPr>
              <a:t> and Technology Baseline (ognuno con un compito specifico)</a:t>
            </a:r>
          </a:p>
          <a:p>
            <a:pPr marL="816028" lvl="1" indent="-5715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it-IT" sz="3600" dirty="0"/>
              <a:t>Siamo soddisfatti anche del Proponente </a:t>
            </a:r>
            <a:r>
              <a:rPr lang="it-IT" sz="3600" dirty="0" err="1"/>
              <a:t>Eggon</a:t>
            </a:r>
            <a:r>
              <a:rPr lang="it-IT" sz="3600" dirty="0"/>
              <a:t>, che ci sta seguendo e consigliando con competenza e diligenza.</a:t>
            </a:r>
            <a:endParaRPr lang="it-IT" sz="3600" dirty="0">
              <a:solidFill>
                <a:srgbClr val="000000"/>
              </a:solidFill>
              <a:latin typeface="Arial" panose="020B0604020202020204" pitchFamily="34" charset="0"/>
              <a:ea typeface="Overpass"/>
              <a:cs typeface="Arial" panose="020B0604020202020204" pitchFamily="34" charset="0"/>
              <a:sym typeface="Overpass"/>
            </a:endParaRPr>
          </a:p>
        </p:txBody>
      </p:sp>
    </p:spTree>
    <p:extLst>
      <p:ext uri="{BB962C8B-B14F-4D97-AF65-F5344CB8AC3E}">
        <p14:creationId xmlns:p14="http://schemas.microsoft.com/office/powerpoint/2010/main" val="137742670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AE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8CFE1C5-31B8-FC55-EF7C-366C8B3AF5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>
            <a:extLst>
              <a:ext uri="{FF2B5EF4-FFF2-40B4-BE49-F238E27FC236}">
                <a16:creationId xmlns:a16="http://schemas.microsoft.com/office/drawing/2014/main" id="{530D894E-9F81-0799-261D-26F26F6E21F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62989" t="67035"/>
          <a:stretch>
            <a:fillRect/>
          </a:stretch>
        </p:blipFill>
        <p:spPr>
          <a:xfrm>
            <a:off x="15813626" y="7962068"/>
            <a:ext cx="2610335" cy="2324931"/>
          </a:xfrm>
          <a:prstGeom prst="rect">
            <a:avLst/>
          </a:prstGeom>
        </p:spPr>
      </p:pic>
      <p:pic>
        <p:nvPicPr>
          <p:cNvPr id="3" name="Picture 3">
            <a:extLst>
              <a:ext uri="{FF2B5EF4-FFF2-40B4-BE49-F238E27FC236}">
                <a16:creationId xmlns:a16="http://schemas.microsoft.com/office/drawing/2014/main" id="{87834DC9-29B1-E974-D1B3-0D026A1189CE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r="64034" b="46739"/>
          <a:stretch>
            <a:fillRect/>
          </a:stretch>
        </p:blipFill>
        <p:spPr>
          <a:xfrm rot="-5400000" flipH="1">
            <a:off x="796990" y="-796989"/>
            <a:ext cx="3314701" cy="4908680"/>
          </a:xfrm>
          <a:prstGeom prst="rect">
            <a:avLst/>
          </a:prstGeom>
        </p:spPr>
      </p:pic>
      <p:grpSp>
        <p:nvGrpSpPr>
          <p:cNvPr id="4" name="Group 4">
            <a:extLst>
              <a:ext uri="{FF2B5EF4-FFF2-40B4-BE49-F238E27FC236}">
                <a16:creationId xmlns:a16="http://schemas.microsoft.com/office/drawing/2014/main" id="{AD9F58E3-1890-1D4B-C0F4-0EB0C8E4F516}"/>
              </a:ext>
            </a:extLst>
          </p:cNvPr>
          <p:cNvGrpSpPr/>
          <p:nvPr/>
        </p:nvGrpSpPr>
        <p:grpSpPr>
          <a:xfrm>
            <a:off x="188063" y="266700"/>
            <a:ext cx="17566536" cy="1637115"/>
            <a:chOff x="0" y="471724"/>
            <a:chExt cx="23422050" cy="4312291"/>
          </a:xfrm>
        </p:grpSpPr>
        <p:sp>
          <p:nvSpPr>
            <p:cNvPr id="5" name="TextBox 5">
              <a:extLst>
                <a:ext uri="{FF2B5EF4-FFF2-40B4-BE49-F238E27FC236}">
                  <a16:creationId xmlns:a16="http://schemas.microsoft.com/office/drawing/2014/main" id="{35D18617-82DE-DA34-1F16-E2D0676DC643}"/>
                </a:ext>
              </a:extLst>
            </p:cNvPr>
            <p:cNvSpPr txBox="1"/>
            <p:nvPr/>
          </p:nvSpPr>
          <p:spPr>
            <a:xfrm>
              <a:off x="0" y="3571631"/>
              <a:ext cx="11609426" cy="814069"/>
            </a:xfrm>
            <a:prstGeom prst="rect">
              <a:avLst/>
            </a:prstGeom>
          </p:spPr>
          <p:txBody>
            <a:bodyPr wrap="square" lIns="0" tIns="0" rIns="0" bIns="0" rtlCol="0" anchor="t">
              <a:spAutoFit/>
            </a:bodyPr>
            <a:lstStyle/>
            <a:p>
              <a:pPr marL="587428" lvl="1" indent="-342900" algn="ctr">
                <a:lnSpc>
                  <a:spcPct val="150000"/>
                </a:lnSpc>
                <a:buFont typeface="Wingdings" panose="05000000000000000000" pitchFamily="2" charset="2"/>
                <a:buChar char="Ø"/>
              </a:pPr>
              <a:endParaRPr lang="it-IT" sz="3000" noProof="0" dirty="0">
                <a:solidFill>
                  <a:srgbClr val="000000"/>
                </a:solidFill>
                <a:latin typeface="Overpass"/>
                <a:ea typeface="Overpass"/>
                <a:cs typeface="Arial" panose="020B0604020202020204" pitchFamily="34" charset="0"/>
                <a:sym typeface="Overpass"/>
              </a:endParaRPr>
            </a:p>
          </p:txBody>
        </p:sp>
        <p:sp>
          <p:nvSpPr>
            <p:cNvPr id="6" name="TextBox 6">
              <a:extLst>
                <a:ext uri="{FF2B5EF4-FFF2-40B4-BE49-F238E27FC236}">
                  <a16:creationId xmlns:a16="http://schemas.microsoft.com/office/drawing/2014/main" id="{2AD933A2-B2B9-22ED-4DF8-95471540F4B1}"/>
                </a:ext>
              </a:extLst>
            </p:cNvPr>
            <p:cNvSpPr txBox="1"/>
            <p:nvPr/>
          </p:nvSpPr>
          <p:spPr>
            <a:xfrm>
              <a:off x="0" y="471724"/>
              <a:ext cx="23422050" cy="4312291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212"/>
                </a:lnSpc>
              </a:pPr>
              <a:r>
                <a:rPr lang="it-IT" sz="6000" b="1" noProof="0" dirty="0">
                  <a:solidFill>
                    <a:srgbClr val="000000"/>
                  </a:solidFill>
                  <a:latin typeface="Arial" panose="020B0604020202020204" pitchFamily="34" charset="0"/>
                  <a:ea typeface="Fredoka"/>
                  <a:cs typeface="Arial" panose="020B0604020202020204" pitchFamily="34" charset="0"/>
                  <a:sym typeface="Fredoka"/>
                </a:rPr>
                <a:t>ESITO DELLA RIUNIONE CON IL PROF. CARDIN</a:t>
              </a:r>
              <a:endParaRPr lang="it-IT" sz="6600" b="1" noProof="0" dirty="0">
                <a:solidFill>
                  <a:srgbClr val="000000"/>
                </a:solidFill>
                <a:latin typeface="Arial" panose="020B0604020202020204" pitchFamily="34" charset="0"/>
                <a:ea typeface="Fredoka"/>
                <a:cs typeface="Arial" panose="020B0604020202020204" pitchFamily="34" charset="0"/>
                <a:sym typeface="Fredoka"/>
              </a:endParaRPr>
            </a:p>
          </p:txBody>
        </p:sp>
      </p:grpSp>
      <p:sp>
        <p:nvSpPr>
          <p:cNvPr id="10" name="CasellaDiTesto 9">
            <a:extLst>
              <a:ext uri="{FF2B5EF4-FFF2-40B4-BE49-F238E27FC236}">
                <a16:creationId xmlns:a16="http://schemas.microsoft.com/office/drawing/2014/main" id="{457A3278-2F26-2792-E468-CCB134F64108}"/>
              </a:ext>
            </a:extLst>
          </p:cNvPr>
          <p:cNvSpPr txBox="1"/>
          <p:nvPr/>
        </p:nvSpPr>
        <p:spPr>
          <a:xfrm>
            <a:off x="916433" y="2729829"/>
            <a:ext cx="15773400" cy="64665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16028" lvl="1" indent="-5715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it-IT" sz="9600" dirty="0">
                <a:solidFill>
                  <a:srgbClr val="FF0000"/>
                </a:solidFill>
                <a:latin typeface="Arial" panose="020B0604020202020204" pitchFamily="34" charset="0"/>
                <a:ea typeface="Overpass"/>
                <a:cs typeface="Arial" panose="020B0604020202020204" pitchFamily="34" charset="0"/>
                <a:sym typeface="Overpass"/>
              </a:rPr>
              <a:t>DA FARE DOPO AVER AVUTO IL SEMAFORO VERDE</a:t>
            </a:r>
          </a:p>
        </p:txBody>
      </p:sp>
    </p:spTree>
    <p:extLst>
      <p:ext uri="{BB962C8B-B14F-4D97-AF65-F5344CB8AC3E}">
        <p14:creationId xmlns:p14="http://schemas.microsoft.com/office/powerpoint/2010/main" val="316146102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AE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AD4D9B0-7A4C-77CA-6F86-61352E3840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>
            <a:extLst>
              <a:ext uri="{FF2B5EF4-FFF2-40B4-BE49-F238E27FC236}">
                <a16:creationId xmlns:a16="http://schemas.microsoft.com/office/drawing/2014/main" id="{E88F7ECE-4608-AEEA-6C84-A8FB95AC7B57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62989" t="67035"/>
          <a:stretch>
            <a:fillRect/>
          </a:stretch>
        </p:blipFill>
        <p:spPr>
          <a:xfrm>
            <a:off x="15813626" y="7962068"/>
            <a:ext cx="2610335" cy="2324931"/>
          </a:xfrm>
          <a:prstGeom prst="rect">
            <a:avLst/>
          </a:prstGeom>
        </p:spPr>
      </p:pic>
      <p:pic>
        <p:nvPicPr>
          <p:cNvPr id="3" name="Picture 3">
            <a:extLst>
              <a:ext uri="{FF2B5EF4-FFF2-40B4-BE49-F238E27FC236}">
                <a16:creationId xmlns:a16="http://schemas.microsoft.com/office/drawing/2014/main" id="{EBC4EDA7-3E7A-0119-B8BF-2243AA82BC00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r="64034" b="46739"/>
          <a:stretch>
            <a:fillRect/>
          </a:stretch>
        </p:blipFill>
        <p:spPr>
          <a:xfrm rot="-5400000" flipH="1">
            <a:off x="796990" y="-796989"/>
            <a:ext cx="3314701" cy="4908680"/>
          </a:xfrm>
          <a:prstGeom prst="rect">
            <a:avLst/>
          </a:prstGeom>
        </p:spPr>
      </p:pic>
      <p:grpSp>
        <p:nvGrpSpPr>
          <p:cNvPr id="4" name="Group 4">
            <a:extLst>
              <a:ext uri="{FF2B5EF4-FFF2-40B4-BE49-F238E27FC236}">
                <a16:creationId xmlns:a16="http://schemas.microsoft.com/office/drawing/2014/main" id="{4BA6D79A-42A3-C42E-CE50-8BF632182851}"/>
              </a:ext>
            </a:extLst>
          </p:cNvPr>
          <p:cNvGrpSpPr/>
          <p:nvPr/>
        </p:nvGrpSpPr>
        <p:grpSpPr>
          <a:xfrm>
            <a:off x="188063" y="-419100"/>
            <a:ext cx="17566536" cy="2171699"/>
            <a:chOff x="0" y="-1334729"/>
            <a:chExt cx="23422050" cy="5720429"/>
          </a:xfrm>
        </p:grpSpPr>
        <p:sp>
          <p:nvSpPr>
            <p:cNvPr id="5" name="TextBox 5">
              <a:extLst>
                <a:ext uri="{FF2B5EF4-FFF2-40B4-BE49-F238E27FC236}">
                  <a16:creationId xmlns:a16="http://schemas.microsoft.com/office/drawing/2014/main" id="{1902543C-BCD1-5CE3-06D3-3D8062697C9A}"/>
                </a:ext>
              </a:extLst>
            </p:cNvPr>
            <p:cNvSpPr txBox="1"/>
            <p:nvPr/>
          </p:nvSpPr>
          <p:spPr>
            <a:xfrm>
              <a:off x="0" y="3571631"/>
              <a:ext cx="11609426" cy="814069"/>
            </a:xfrm>
            <a:prstGeom prst="rect">
              <a:avLst/>
            </a:prstGeom>
          </p:spPr>
          <p:txBody>
            <a:bodyPr wrap="square" lIns="0" tIns="0" rIns="0" bIns="0" rtlCol="0" anchor="t">
              <a:spAutoFit/>
            </a:bodyPr>
            <a:lstStyle/>
            <a:p>
              <a:pPr marL="587428" lvl="1" indent="-342900" algn="ctr">
                <a:lnSpc>
                  <a:spcPct val="150000"/>
                </a:lnSpc>
                <a:buFont typeface="Wingdings" panose="05000000000000000000" pitchFamily="2" charset="2"/>
                <a:buChar char="Ø"/>
              </a:pPr>
              <a:endParaRPr lang="it-IT" sz="3000" noProof="0" dirty="0">
                <a:solidFill>
                  <a:srgbClr val="000000"/>
                </a:solidFill>
                <a:latin typeface="Overpass"/>
                <a:ea typeface="Overpass"/>
                <a:cs typeface="Arial" panose="020B0604020202020204" pitchFamily="34" charset="0"/>
                <a:sym typeface="Overpass"/>
              </a:endParaRPr>
            </a:p>
          </p:txBody>
        </p:sp>
        <p:sp>
          <p:nvSpPr>
            <p:cNvPr id="6" name="TextBox 6">
              <a:extLst>
                <a:ext uri="{FF2B5EF4-FFF2-40B4-BE49-F238E27FC236}">
                  <a16:creationId xmlns:a16="http://schemas.microsoft.com/office/drawing/2014/main" id="{50D82B6C-4CC0-9C4B-F2EC-FA94D2C99DCD}"/>
                </a:ext>
              </a:extLst>
            </p:cNvPr>
            <p:cNvSpPr txBox="1"/>
            <p:nvPr/>
          </p:nvSpPr>
          <p:spPr>
            <a:xfrm>
              <a:off x="0" y="-1334729"/>
              <a:ext cx="23422050" cy="426618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212"/>
                </a:lnSpc>
              </a:pPr>
              <a:r>
                <a:rPr lang="it-IT" sz="5400" b="1" noProof="0" dirty="0">
                  <a:solidFill>
                    <a:srgbClr val="000000"/>
                  </a:solidFill>
                  <a:latin typeface="Arial" panose="020B0604020202020204" pitchFamily="34" charset="0"/>
                  <a:ea typeface="Fredoka"/>
                  <a:cs typeface="Arial" panose="020B0604020202020204" pitchFamily="34" charset="0"/>
                  <a:sym typeface="Fredoka"/>
                </a:rPr>
                <a:t>CONSUNTIVO DI PERIODO ALLO STATO ATTUALE</a:t>
              </a:r>
              <a:endParaRPr lang="it-IT" sz="6000" b="1" noProof="0" dirty="0">
                <a:solidFill>
                  <a:srgbClr val="000000"/>
                </a:solidFill>
                <a:latin typeface="Arial" panose="020B0604020202020204" pitchFamily="34" charset="0"/>
                <a:ea typeface="Fredoka"/>
                <a:cs typeface="Arial" panose="020B0604020202020204" pitchFamily="34" charset="0"/>
                <a:sym typeface="Fredoka"/>
              </a:endParaRPr>
            </a:p>
          </p:txBody>
        </p:sp>
      </p:grp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0FA244DA-B435-F2A0-5FB4-CFA19085ECFA}"/>
              </a:ext>
            </a:extLst>
          </p:cNvPr>
          <p:cNvSpPr>
            <a:spLocks noGrp="1"/>
          </p:cNvSpPr>
          <p:nvPr/>
        </p:nvSpPr>
        <p:spPr>
          <a:xfrm>
            <a:off x="2797241" y="1485900"/>
            <a:ext cx="13335000" cy="788670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ct val="20000"/>
              </a:spcBef>
              <a:buFont typeface="Arial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spcAft>
                <a:spcPts val="600"/>
              </a:spcAft>
              <a:buNone/>
              <a:defRPr sz="1600">
                <a:solidFill>
                  <a:srgbClr val="212529"/>
                </a:solidFill>
              </a:defRPr>
            </a:pPr>
            <a:r>
              <a:rPr lang="it-IT" sz="3500" dirty="0">
                <a:solidFill>
                  <a:srgbClr val="FF0000"/>
                </a:solidFill>
              </a:rPr>
              <a:t>Risorse</a:t>
            </a:r>
            <a:r>
              <a:rPr sz="3500" dirty="0">
                <a:solidFill>
                  <a:srgbClr val="FF0000"/>
                </a:solidFill>
              </a:rPr>
              <a:t> </a:t>
            </a:r>
            <a:r>
              <a:rPr sz="3500" dirty="0" err="1">
                <a:solidFill>
                  <a:srgbClr val="FF0000"/>
                </a:solidFill>
              </a:rPr>
              <a:t>utilizzate</a:t>
            </a:r>
            <a:r>
              <a:rPr sz="3500" dirty="0">
                <a:solidFill>
                  <a:srgbClr val="FF0000"/>
                </a:solidFill>
              </a:rPr>
              <a:t> </a:t>
            </a:r>
            <a:r>
              <a:rPr sz="3500" dirty="0" err="1">
                <a:solidFill>
                  <a:srgbClr val="FF0000"/>
                </a:solidFill>
              </a:rPr>
              <a:t>fino</a:t>
            </a:r>
            <a:r>
              <a:rPr lang="it-IT" sz="3500" dirty="0">
                <a:solidFill>
                  <a:srgbClr val="FF0000"/>
                </a:solidFill>
              </a:rPr>
              <a:t> allo</a:t>
            </a:r>
            <a:r>
              <a:rPr sz="3500" dirty="0">
                <a:solidFill>
                  <a:srgbClr val="FF0000"/>
                </a:solidFill>
              </a:rPr>
              <a:t> Sprint 4:</a:t>
            </a:r>
          </a:p>
        </p:txBody>
      </p:sp>
      <p:graphicFrame>
        <p:nvGraphicFramePr>
          <p:cNvPr id="8" name="Tabella 7">
            <a:extLst>
              <a:ext uri="{FF2B5EF4-FFF2-40B4-BE49-F238E27FC236}">
                <a16:creationId xmlns:a16="http://schemas.microsoft.com/office/drawing/2014/main" id="{5F25C64C-22F5-9AE8-6A66-186454EE69B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15165607"/>
              </p:ext>
            </p:extLst>
          </p:nvPr>
        </p:nvGraphicFramePr>
        <p:xfrm>
          <a:off x="4491110" y="2277584"/>
          <a:ext cx="9525000" cy="352203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175000">
                  <a:extLst>
                    <a:ext uri="{9D8B030D-6E8A-4147-A177-3AD203B41FA5}">
                      <a16:colId xmlns:a16="http://schemas.microsoft.com/office/drawing/2014/main" val="532949470"/>
                    </a:ext>
                  </a:extLst>
                </a:gridCol>
                <a:gridCol w="3175000">
                  <a:extLst>
                    <a:ext uri="{9D8B030D-6E8A-4147-A177-3AD203B41FA5}">
                      <a16:colId xmlns:a16="http://schemas.microsoft.com/office/drawing/2014/main" val="1154503784"/>
                    </a:ext>
                  </a:extLst>
                </a:gridCol>
                <a:gridCol w="3175000">
                  <a:extLst>
                    <a:ext uri="{9D8B030D-6E8A-4147-A177-3AD203B41FA5}">
                      <a16:colId xmlns:a16="http://schemas.microsoft.com/office/drawing/2014/main" val="1526813476"/>
                    </a:ext>
                  </a:extLst>
                </a:gridCol>
              </a:tblGrid>
              <a:tr h="440254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800" b="1" u="none" strike="noStrike" dirty="0">
                          <a:effectLst/>
                        </a:rPr>
                        <a:t>Descrizione</a:t>
                      </a:r>
                      <a:endParaRPr lang="it-IT" sz="2800" b="1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E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800" b="1" u="none" strike="noStrike" dirty="0">
                          <a:effectLst/>
                        </a:rPr>
                        <a:t>Ore (h)</a:t>
                      </a:r>
                      <a:endParaRPr lang="it-IT" sz="2800" b="1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E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800" b="1" u="none" strike="noStrike" dirty="0">
                          <a:effectLst/>
                        </a:rPr>
                        <a:t>Costo (€)</a:t>
                      </a:r>
                      <a:endParaRPr lang="it-IT" sz="2800" b="1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24993060"/>
                  </a:ext>
                </a:extLst>
              </a:tr>
              <a:tr h="440254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800" b="1" u="none" strike="noStrike">
                          <a:effectLst/>
                        </a:rPr>
                        <a:t>Sprint 1</a:t>
                      </a:r>
                      <a:endParaRPr lang="it-IT" sz="2800" b="1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E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800" u="none" strike="noStrike" dirty="0">
                          <a:effectLst/>
                        </a:rPr>
                        <a:t>46h</a:t>
                      </a:r>
                      <a:endParaRPr lang="it-IT" sz="28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E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800" u="none" strike="noStrike" dirty="0">
                          <a:effectLst/>
                        </a:rPr>
                        <a:t>1125€</a:t>
                      </a:r>
                      <a:endParaRPr lang="it-IT" sz="28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91651540"/>
                  </a:ext>
                </a:extLst>
              </a:tr>
              <a:tr h="440254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800" b="1" u="none" strike="noStrike">
                          <a:effectLst/>
                        </a:rPr>
                        <a:t>Sprint 2</a:t>
                      </a:r>
                      <a:endParaRPr lang="it-IT" sz="2800" b="1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E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800" u="none" strike="noStrike" dirty="0">
                          <a:effectLst/>
                        </a:rPr>
                        <a:t>44h</a:t>
                      </a:r>
                      <a:endParaRPr lang="it-IT" sz="28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E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800" u="none" strike="noStrike" dirty="0">
                          <a:effectLst/>
                        </a:rPr>
                        <a:t>990€</a:t>
                      </a:r>
                      <a:endParaRPr lang="it-IT" sz="28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63488967"/>
                  </a:ext>
                </a:extLst>
              </a:tr>
              <a:tr h="440254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800" b="1" u="none" strike="noStrike" dirty="0">
                          <a:effectLst/>
                        </a:rPr>
                        <a:t>Sprint 3</a:t>
                      </a:r>
                      <a:endParaRPr lang="it-IT" sz="2800" b="1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E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800" u="none" strike="noStrike" dirty="0">
                          <a:effectLst/>
                        </a:rPr>
                        <a:t>49h</a:t>
                      </a:r>
                      <a:endParaRPr lang="it-IT" sz="28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E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800" u="none" strike="noStrike" dirty="0">
                          <a:effectLst/>
                        </a:rPr>
                        <a:t>910€</a:t>
                      </a:r>
                      <a:endParaRPr lang="it-IT" sz="28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68274904"/>
                  </a:ext>
                </a:extLst>
              </a:tr>
              <a:tr h="440254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800" b="1" u="none" strike="noStrike" dirty="0">
                          <a:effectLst/>
                        </a:rPr>
                        <a:t>Sprint 4</a:t>
                      </a:r>
                      <a:endParaRPr lang="it-IT" sz="2800" b="1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E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800" u="none" strike="noStrike" dirty="0">
                          <a:effectLst/>
                        </a:rPr>
                        <a:t>45h</a:t>
                      </a:r>
                      <a:endParaRPr lang="it-IT" sz="28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E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800" u="none" strike="noStrike" dirty="0">
                          <a:effectLst/>
                        </a:rPr>
                        <a:t>905€</a:t>
                      </a:r>
                      <a:endParaRPr lang="it-IT" sz="28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83559990"/>
                  </a:ext>
                </a:extLst>
              </a:tr>
              <a:tr h="440254"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it-IT" sz="2800" b="1" u="none" strike="noStrike" dirty="0">
                          <a:effectLst/>
                        </a:rPr>
                        <a:t>Sprint 5</a:t>
                      </a:r>
                      <a:endParaRPr lang="it-IT" sz="2800" b="1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E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it-IT" sz="2800" u="none" strike="noStrike" dirty="0">
                          <a:effectLst/>
                        </a:rPr>
                        <a:t>46h</a:t>
                      </a:r>
                      <a:endParaRPr lang="it-IT" sz="28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E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it-IT" sz="2800" u="none" strike="noStrike" dirty="0">
                          <a:effectLst/>
                        </a:rPr>
                        <a:t>790€</a:t>
                      </a:r>
                      <a:endParaRPr lang="it-IT" sz="28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55408780"/>
                  </a:ext>
                </a:extLst>
              </a:tr>
              <a:tr h="440254"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it-IT" sz="2800" b="1" u="none" strike="noStrike" dirty="0">
                          <a:effectLst/>
                        </a:rPr>
                        <a:t>Sprint 6</a:t>
                      </a:r>
                      <a:endParaRPr lang="it-IT" sz="2800" b="1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E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it-IT" sz="2800" u="none" strike="noStrike" dirty="0">
                          <a:effectLst/>
                        </a:rPr>
                        <a:t>53h</a:t>
                      </a:r>
                      <a:endParaRPr lang="it-IT" sz="28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E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it-IT" sz="2800" u="none" strike="noStrike" dirty="0">
                          <a:effectLst/>
                        </a:rPr>
                        <a:t>935€</a:t>
                      </a:r>
                      <a:endParaRPr lang="it-IT" sz="28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41241163"/>
                  </a:ext>
                </a:extLst>
              </a:tr>
              <a:tr h="440254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800" b="1" u="none" strike="noStrike" dirty="0">
                          <a:effectLst/>
                        </a:rPr>
                        <a:t>Totale utilizzato</a:t>
                      </a:r>
                      <a:endParaRPr lang="it-IT" sz="2800" b="1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E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800" u="none" strike="noStrike">
                          <a:effectLst/>
                        </a:rPr>
                        <a:t>292h</a:t>
                      </a:r>
                      <a:endParaRPr lang="it-IT" sz="28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E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800" u="none" strike="noStrike" dirty="0">
                          <a:effectLst/>
                        </a:rPr>
                        <a:t>5655€</a:t>
                      </a:r>
                      <a:endParaRPr lang="it-IT" sz="28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75393398"/>
                  </a:ext>
                </a:extLst>
              </a:tr>
            </a:tbl>
          </a:graphicData>
        </a:graphic>
      </p:graphicFrame>
      <p:graphicFrame>
        <p:nvGraphicFramePr>
          <p:cNvPr id="9" name="Tabella 8">
            <a:extLst>
              <a:ext uri="{FF2B5EF4-FFF2-40B4-BE49-F238E27FC236}">
                <a16:creationId xmlns:a16="http://schemas.microsoft.com/office/drawing/2014/main" id="{FCDA4C9E-2610-BA54-8981-DBEB6AF0988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89446055"/>
              </p:ext>
            </p:extLst>
          </p:nvPr>
        </p:nvGraphicFramePr>
        <p:xfrm>
          <a:off x="4491110" y="6591300"/>
          <a:ext cx="9525000" cy="3059085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175000">
                  <a:extLst>
                    <a:ext uri="{9D8B030D-6E8A-4147-A177-3AD203B41FA5}">
                      <a16:colId xmlns:a16="http://schemas.microsoft.com/office/drawing/2014/main" val="1514292223"/>
                    </a:ext>
                  </a:extLst>
                </a:gridCol>
                <a:gridCol w="3175000">
                  <a:extLst>
                    <a:ext uri="{9D8B030D-6E8A-4147-A177-3AD203B41FA5}">
                      <a16:colId xmlns:a16="http://schemas.microsoft.com/office/drawing/2014/main" val="1270357705"/>
                    </a:ext>
                  </a:extLst>
                </a:gridCol>
                <a:gridCol w="3175000">
                  <a:extLst>
                    <a:ext uri="{9D8B030D-6E8A-4147-A177-3AD203B41FA5}">
                      <a16:colId xmlns:a16="http://schemas.microsoft.com/office/drawing/2014/main" val="3104626968"/>
                    </a:ext>
                  </a:extLst>
                </a:gridCol>
              </a:tblGrid>
              <a:tr h="510999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b="1" u="none" strike="noStrike" dirty="0">
                          <a:effectLst/>
                        </a:rPr>
                        <a:t>Ruolo</a:t>
                      </a:r>
                      <a:endParaRPr lang="it-IT" sz="2000" b="1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E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b="1" u="none" strike="noStrike" dirty="0">
                          <a:effectLst/>
                        </a:rPr>
                        <a:t>Ore Rimanenti (h)</a:t>
                      </a:r>
                      <a:endParaRPr lang="it-IT" sz="2000" b="1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E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b="1" u="none" strike="noStrike" dirty="0">
                          <a:effectLst/>
                        </a:rPr>
                        <a:t>Costo Rimanente (€)</a:t>
                      </a:r>
                      <a:endParaRPr lang="it-IT" sz="2000" b="1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97201991"/>
                  </a:ext>
                </a:extLst>
              </a:tr>
              <a:tr h="411177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b="1" u="none" strike="noStrike">
                          <a:effectLst/>
                        </a:rPr>
                        <a:t>Responsabile</a:t>
                      </a:r>
                      <a:endParaRPr lang="it-IT" sz="2000" b="1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E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u="none" strike="noStrike" dirty="0">
                          <a:effectLst/>
                        </a:rPr>
                        <a:t>20h</a:t>
                      </a:r>
                      <a:endParaRPr lang="it-IT" sz="20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E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u="none" strike="noStrike" dirty="0">
                          <a:effectLst/>
                        </a:rPr>
                        <a:t>600€</a:t>
                      </a:r>
                      <a:endParaRPr lang="it-IT" sz="20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8961988"/>
                  </a:ext>
                </a:extLst>
              </a:tr>
              <a:tr h="325182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b="1" u="none" strike="noStrike" dirty="0">
                          <a:effectLst/>
                        </a:rPr>
                        <a:t>Amministratore</a:t>
                      </a:r>
                      <a:endParaRPr lang="it-IT" sz="2000" b="1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E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u="none" strike="noStrike" dirty="0">
                          <a:effectLst/>
                        </a:rPr>
                        <a:t>17h</a:t>
                      </a:r>
                      <a:endParaRPr lang="it-IT" sz="20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E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u="none" strike="noStrike" dirty="0">
                          <a:effectLst/>
                        </a:rPr>
                        <a:t>340€</a:t>
                      </a:r>
                      <a:endParaRPr lang="it-IT" sz="20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3431345"/>
                  </a:ext>
                </a:extLst>
              </a:tr>
              <a:tr h="325182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b="1" u="none" strike="noStrike">
                          <a:effectLst/>
                        </a:rPr>
                        <a:t>Analista</a:t>
                      </a:r>
                      <a:endParaRPr lang="it-IT" sz="2000" b="1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E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u="none" strike="noStrike" dirty="0">
                          <a:effectLst/>
                        </a:rPr>
                        <a:t>0h</a:t>
                      </a:r>
                      <a:endParaRPr lang="it-IT" sz="20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E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u="none" strike="noStrike" dirty="0">
                          <a:effectLst/>
                        </a:rPr>
                        <a:t>0€</a:t>
                      </a:r>
                      <a:endParaRPr lang="it-IT" sz="20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40825016"/>
                  </a:ext>
                </a:extLst>
              </a:tr>
              <a:tr h="325182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b="1" u="none" strike="noStrike">
                          <a:effectLst/>
                        </a:rPr>
                        <a:t>Progettista</a:t>
                      </a:r>
                      <a:endParaRPr lang="it-IT" sz="2000" b="1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E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u="none" strike="noStrike" dirty="0">
                          <a:effectLst/>
                        </a:rPr>
                        <a:t>147h</a:t>
                      </a:r>
                      <a:endParaRPr lang="it-IT" sz="20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E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u="none" strike="noStrike" dirty="0">
                          <a:effectLst/>
                        </a:rPr>
                        <a:t>3675€</a:t>
                      </a:r>
                      <a:endParaRPr lang="it-IT" sz="20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4735743"/>
                  </a:ext>
                </a:extLst>
              </a:tr>
              <a:tr h="510999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b="1" u="none" strike="noStrike" dirty="0">
                          <a:effectLst/>
                        </a:rPr>
                        <a:t>Programmatore</a:t>
                      </a:r>
                      <a:endParaRPr lang="it-IT" sz="2000" b="1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E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u="none" strike="noStrike" dirty="0">
                          <a:effectLst/>
                        </a:rPr>
                        <a:t>107h</a:t>
                      </a:r>
                      <a:endParaRPr lang="it-IT" sz="20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E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u="none" strike="noStrike" dirty="0">
                          <a:effectLst/>
                        </a:rPr>
                        <a:t>1605€</a:t>
                      </a:r>
                      <a:endParaRPr lang="it-IT" sz="20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27877036"/>
                  </a:ext>
                </a:extLst>
              </a:tr>
              <a:tr h="325182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b="1" u="none" strike="noStrike">
                          <a:effectLst/>
                        </a:rPr>
                        <a:t>Verificatore</a:t>
                      </a:r>
                      <a:endParaRPr lang="it-IT" sz="2000" b="1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E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u="none" strike="noStrike" dirty="0">
                          <a:effectLst/>
                        </a:rPr>
                        <a:t>61h</a:t>
                      </a:r>
                      <a:endParaRPr lang="it-IT" sz="20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E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u="none" strike="noStrike" dirty="0">
                          <a:effectLst/>
                        </a:rPr>
                        <a:t>915€</a:t>
                      </a:r>
                      <a:endParaRPr lang="it-IT" sz="20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18710412"/>
                  </a:ext>
                </a:extLst>
              </a:tr>
              <a:tr h="325182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b="1" u="none" strike="noStrike" dirty="0">
                          <a:effectLst/>
                        </a:rPr>
                        <a:t>TOTALE</a:t>
                      </a:r>
                      <a:endParaRPr lang="it-IT" sz="2000" b="1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E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u="none" strike="noStrike" dirty="0">
                          <a:effectLst/>
                        </a:rPr>
                        <a:t>352h</a:t>
                      </a:r>
                      <a:endParaRPr lang="it-IT" sz="20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E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u="none" strike="noStrike" dirty="0">
                          <a:effectLst/>
                        </a:rPr>
                        <a:t>7135€</a:t>
                      </a:r>
                      <a:endParaRPr lang="it-IT" sz="20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64644836"/>
                  </a:ext>
                </a:extLst>
              </a:tr>
            </a:tbl>
          </a:graphicData>
        </a:graphic>
      </p:graphicFrame>
      <p:sp>
        <p:nvSpPr>
          <p:cNvPr id="12" name="CasellaDiTesto 11">
            <a:extLst>
              <a:ext uri="{FF2B5EF4-FFF2-40B4-BE49-F238E27FC236}">
                <a16:creationId xmlns:a16="http://schemas.microsoft.com/office/drawing/2014/main" id="{5E0363CB-548F-CB69-7CE7-04DB4FF33DC4}"/>
              </a:ext>
            </a:extLst>
          </p:cNvPr>
          <p:cNvSpPr txBox="1"/>
          <p:nvPr/>
        </p:nvSpPr>
        <p:spPr>
          <a:xfrm>
            <a:off x="4541597" y="5998045"/>
            <a:ext cx="9215436" cy="63094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ctr">
              <a:spcAft>
                <a:spcPts val="600"/>
              </a:spcAft>
              <a:buNone/>
              <a:defRPr sz="1600">
                <a:solidFill>
                  <a:srgbClr val="212529"/>
                </a:solidFill>
              </a:defRPr>
            </a:pPr>
            <a:r>
              <a:rPr lang="it-IT" sz="3500" dirty="0">
                <a:solidFill>
                  <a:srgbClr val="FF0000"/>
                </a:solidFill>
              </a:rPr>
              <a:t>Risorse rimanenti</a:t>
            </a:r>
          </a:p>
        </p:txBody>
      </p:sp>
    </p:spTree>
    <p:extLst>
      <p:ext uri="{BB962C8B-B14F-4D97-AF65-F5344CB8AC3E}">
        <p14:creationId xmlns:p14="http://schemas.microsoft.com/office/powerpoint/2010/main" val="390326646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AE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1E2D0EF-912F-B7B2-D128-0F4227BE50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>
            <a:extLst>
              <a:ext uri="{FF2B5EF4-FFF2-40B4-BE49-F238E27FC236}">
                <a16:creationId xmlns:a16="http://schemas.microsoft.com/office/drawing/2014/main" id="{90787627-B2AA-EB99-8F1D-4EE8F9052A4B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62989" t="67035"/>
          <a:stretch>
            <a:fillRect/>
          </a:stretch>
        </p:blipFill>
        <p:spPr>
          <a:xfrm>
            <a:off x="15813626" y="7962068"/>
            <a:ext cx="2610335" cy="2324931"/>
          </a:xfrm>
          <a:prstGeom prst="rect">
            <a:avLst/>
          </a:prstGeom>
        </p:spPr>
      </p:pic>
      <p:pic>
        <p:nvPicPr>
          <p:cNvPr id="3" name="Picture 3">
            <a:extLst>
              <a:ext uri="{FF2B5EF4-FFF2-40B4-BE49-F238E27FC236}">
                <a16:creationId xmlns:a16="http://schemas.microsoft.com/office/drawing/2014/main" id="{9D61B407-D401-5A8F-E8CA-D21C66FF1672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r="64034" b="46739"/>
          <a:stretch>
            <a:fillRect/>
          </a:stretch>
        </p:blipFill>
        <p:spPr>
          <a:xfrm rot="-5400000" flipH="1">
            <a:off x="796990" y="-796989"/>
            <a:ext cx="3314701" cy="4908680"/>
          </a:xfrm>
          <a:prstGeom prst="rect">
            <a:avLst/>
          </a:prstGeom>
        </p:spPr>
      </p:pic>
      <p:grpSp>
        <p:nvGrpSpPr>
          <p:cNvPr id="4" name="Group 4">
            <a:extLst>
              <a:ext uri="{FF2B5EF4-FFF2-40B4-BE49-F238E27FC236}">
                <a16:creationId xmlns:a16="http://schemas.microsoft.com/office/drawing/2014/main" id="{43E1120F-173E-1A26-ECC3-12A127D2BFAA}"/>
              </a:ext>
            </a:extLst>
          </p:cNvPr>
          <p:cNvGrpSpPr/>
          <p:nvPr/>
        </p:nvGrpSpPr>
        <p:grpSpPr>
          <a:xfrm>
            <a:off x="188063" y="-152399"/>
            <a:ext cx="17566536" cy="2171699"/>
            <a:chOff x="0" y="-1334729"/>
            <a:chExt cx="23422050" cy="5720429"/>
          </a:xfrm>
        </p:grpSpPr>
        <p:sp>
          <p:nvSpPr>
            <p:cNvPr id="5" name="TextBox 5">
              <a:extLst>
                <a:ext uri="{FF2B5EF4-FFF2-40B4-BE49-F238E27FC236}">
                  <a16:creationId xmlns:a16="http://schemas.microsoft.com/office/drawing/2014/main" id="{305B438E-459C-F638-136A-659146638115}"/>
                </a:ext>
              </a:extLst>
            </p:cNvPr>
            <p:cNvSpPr txBox="1"/>
            <p:nvPr/>
          </p:nvSpPr>
          <p:spPr>
            <a:xfrm>
              <a:off x="0" y="3571631"/>
              <a:ext cx="11609426" cy="814069"/>
            </a:xfrm>
            <a:prstGeom prst="rect">
              <a:avLst/>
            </a:prstGeom>
          </p:spPr>
          <p:txBody>
            <a:bodyPr wrap="square" lIns="0" tIns="0" rIns="0" bIns="0" rtlCol="0" anchor="t">
              <a:spAutoFit/>
            </a:bodyPr>
            <a:lstStyle/>
            <a:p>
              <a:pPr marL="587428" lvl="1" indent="-342900" algn="ctr">
                <a:lnSpc>
                  <a:spcPct val="150000"/>
                </a:lnSpc>
                <a:buFont typeface="Wingdings" panose="05000000000000000000" pitchFamily="2" charset="2"/>
                <a:buChar char="Ø"/>
              </a:pPr>
              <a:endParaRPr lang="it-IT" sz="3000" noProof="0" dirty="0">
                <a:solidFill>
                  <a:srgbClr val="000000"/>
                </a:solidFill>
                <a:latin typeface="Overpass"/>
                <a:ea typeface="Overpass"/>
                <a:cs typeface="Arial" panose="020B0604020202020204" pitchFamily="34" charset="0"/>
                <a:sym typeface="Overpass"/>
              </a:endParaRPr>
            </a:p>
          </p:txBody>
        </p:sp>
        <p:sp>
          <p:nvSpPr>
            <p:cNvPr id="6" name="TextBox 6">
              <a:extLst>
                <a:ext uri="{FF2B5EF4-FFF2-40B4-BE49-F238E27FC236}">
                  <a16:creationId xmlns:a16="http://schemas.microsoft.com/office/drawing/2014/main" id="{B0F51ACA-F2EE-1AFD-FA56-006D184A1AD3}"/>
                </a:ext>
              </a:extLst>
            </p:cNvPr>
            <p:cNvSpPr txBox="1"/>
            <p:nvPr/>
          </p:nvSpPr>
          <p:spPr>
            <a:xfrm>
              <a:off x="0" y="-1334729"/>
              <a:ext cx="23422050" cy="4312292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212"/>
                </a:lnSpc>
              </a:pPr>
              <a:r>
                <a:rPr lang="it-IT" sz="5400" b="1" dirty="0">
                  <a:solidFill>
                    <a:srgbClr val="000000"/>
                  </a:solidFill>
                  <a:latin typeface="Arial" panose="020B0604020202020204" pitchFamily="34" charset="0"/>
                  <a:ea typeface="Fredoka"/>
                  <a:cs typeface="Arial" panose="020B0604020202020204" pitchFamily="34" charset="0"/>
                  <a:sym typeface="Fredoka"/>
                </a:rPr>
                <a:t>NUMERO DI ORE PER MEMBRO DEL GRUPPO</a:t>
              </a:r>
              <a:endParaRPr lang="it-IT" sz="6000" b="1" noProof="0" dirty="0">
                <a:solidFill>
                  <a:srgbClr val="000000"/>
                </a:solidFill>
                <a:latin typeface="Arial" panose="020B0604020202020204" pitchFamily="34" charset="0"/>
                <a:ea typeface="Fredoka"/>
                <a:cs typeface="Arial" panose="020B0604020202020204" pitchFamily="34" charset="0"/>
                <a:sym typeface="Fredoka"/>
              </a:endParaRPr>
            </a:p>
          </p:txBody>
        </p:sp>
      </p:grpSp>
      <p:graphicFrame>
        <p:nvGraphicFramePr>
          <p:cNvPr id="10" name="Tabella 9">
            <a:extLst>
              <a:ext uri="{FF2B5EF4-FFF2-40B4-BE49-F238E27FC236}">
                <a16:creationId xmlns:a16="http://schemas.microsoft.com/office/drawing/2014/main" id="{F38B5841-F094-A81A-DA41-9D64B1B5EE0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12013286"/>
              </p:ext>
            </p:extLst>
          </p:nvPr>
        </p:nvGraphicFramePr>
        <p:xfrm>
          <a:off x="1198931" y="2244832"/>
          <a:ext cx="15544800" cy="404834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943100">
                  <a:extLst>
                    <a:ext uri="{9D8B030D-6E8A-4147-A177-3AD203B41FA5}">
                      <a16:colId xmlns:a16="http://schemas.microsoft.com/office/drawing/2014/main" val="3898645536"/>
                    </a:ext>
                  </a:extLst>
                </a:gridCol>
                <a:gridCol w="1943100">
                  <a:extLst>
                    <a:ext uri="{9D8B030D-6E8A-4147-A177-3AD203B41FA5}">
                      <a16:colId xmlns:a16="http://schemas.microsoft.com/office/drawing/2014/main" val="3567244114"/>
                    </a:ext>
                  </a:extLst>
                </a:gridCol>
                <a:gridCol w="1943100">
                  <a:extLst>
                    <a:ext uri="{9D8B030D-6E8A-4147-A177-3AD203B41FA5}">
                      <a16:colId xmlns:a16="http://schemas.microsoft.com/office/drawing/2014/main" val="3164377366"/>
                    </a:ext>
                  </a:extLst>
                </a:gridCol>
                <a:gridCol w="1943100">
                  <a:extLst>
                    <a:ext uri="{9D8B030D-6E8A-4147-A177-3AD203B41FA5}">
                      <a16:colId xmlns:a16="http://schemas.microsoft.com/office/drawing/2014/main" val="2480997553"/>
                    </a:ext>
                  </a:extLst>
                </a:gridCol>
                <a:gridCol w="1943100">
                  <a:extLst>
                    <a:ext uri="{9D8B030D-6E8A-4147-A177-3AD203B41FA5}">
                      <a16:colId xmlns:a16="http://schemas.microsoft.com/office/drawing/2014/main" val="308316877"/>
                    </a:ext>
                  </a:extLst>
                </a:gridCol>
                <a:gridCol w="1943100">
                  <a:extLst>
                    <a:ext uri="{9D8B030D-6E8A-4147-A177-3AD203B41FA5}">
                      <a16:colId xmlns:a16="http://schemas.microsoft.com/office/drawing/2014/main" val="2034702653"/>
                    </a:ext>
                  </a:extLst>
                </a:gridCol>
                <a:gridCol w="1943100">
                  <a:extLst>
                    <a:ext uri="{9D8B030D-6E8A-4147-A177-3AD203B41FA5}">
                      <a16:colId xmlns:a16="http://schemas.microsoft.com/office/drawing/2014/main" val="931636665"/>
                    </a:ext>
                  </a:extLst>
                </a:gridCol>
                <a:gridCol w="1943100">
                  <a:extLst>
                    <a:ext uri="{9D8B030D-6E8A-4147-A177-3AD203B41FA5}">
                      <a16:colId xmlns:a16="http://schemas.microsoft.com/office/drawing/2014/main" val="3471413214"/>
                    </a:ext>
                  </a:extLst>
                </a:gridCol>
              </a:tblGrid>
              <a:tr h="439953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b="1" u="none" strike="noStrike" dirty="0">
                          <a:effectLst/>
                        </a:rPr>
                        <a:t>Membro</a:t>
                      </a:r>
                      <a:endParaRPr lang="it-IT" sz="20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E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b="1" u="none" strike="noStrike">
                          <a:effectLst/>
                        </a:rPr>
                        <a:t>Responsabile</a:t>
                      </a:r>
                      <a:endParaRPr lang="it-IT" sz="20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E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b="1" u="none" strike="noStrike">
                          <a:effectLst/>
                        </a:rPr>
                        <a:t>Amministratore</a:t>
                      </a:r>
                      <a:endParaRPr lang="it-IT" sz="20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E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b="1" u="none" strike="noStrike">
                          <a:effectLst/>
                        </a:rPr>
                        <a:t>Analista</a:t>
                      </a:r>
                      <a:endParaRPr lang="it-IT" sz="20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E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b="1" u="none" strike="noStrike">
                          <a:effectLst/>
                        </a:rPr>
                        <a:t>Progettista</a:t>
                      </a:r>
                      <a:endParaRPr lang="it-IT" sz="20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E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b="1" u="none" strike="noStrike">
                          <a:effectLst/>
                        </a:rPr>
                        <a:t>Programmatore</a:t>
                      </a:r>
                      <a:endParaRPr lang="it-IT" sz="20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E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b="1" u="none" strike="noStrike">
                          <a:effectLst/>
                        </a:rPr>
                        <a:t>Verificatore</a:t>
                      </a:r>
                      <a:endParaRPr lang="it-IT" sz="20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E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b="1" u="none" strike="noStrike" dirty="0">
                          <a:effectLst/>
                        </a:rPr>
                        <a:t>Totale Ore</a:t>
                      </a:r>
                      <a:endParaRPr lang="it-IT" sz="20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11105988"/>
                  </a:ext>
                </a:extLst>
              </a:tr>
              <a:tr h="439953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b="1" u="none" strike="noStrike" dirty="0">
                          <a:effectLst/>
                        </a:rPr>
                        <a:t>Alberto Autiero</a:t>
                      </a:r>
                      <a:endParaRPr lang="it-IT" sz="20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E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u="none" strike="noStrike" dirty="0">
                          <a:effectLst/>
                        </a:rPr>
                        <a:t>8</a:t>
                      </a:r>
                      <a:endParaRPr lang="it-IT" sz="2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E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u="none" strike="noStrike">
                          <a:effectLst/>
                        </a:rPr>
                        <a:t>0</a:t>
                      </a:r>
                      <a:endParaRPr lang="it-IT" sz="2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E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u="none" strike="noStrike" dirty="0">
                          <a:effectLst/>
                        </a:rPr>
                        <a:t>8</a:t>
                      </a:r>
                      <a:endParaRPr lang="it-IT" sz="2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E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u="none" strike="noStrike" dirty="0">
                          <a:effectLst/>
                        </a:rPr>
                        <a:t>0</a:t>
                      </a:r>
                      <a:endParaRPr lang="it-IT" sz="2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E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11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E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u="none" strike="noStrike" dirty="0">
                          <a:effectLst/>
                        </a:rPr>
                        <a:t>12</a:t>
                      </a:r>
                      <a:endParaRPr lang="it-IT" sz="2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E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39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99661217"/>
                  </a:ext>
                </a:extLst>
              </a:tr>
              <a:tr h="439953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b="1" u="none" strike="noStrike" dirty="0">
                          <a:effectLst/>
                        </a:rPr>
                        <a:t>Marco Favero</a:t>
                      </a:r>
                      <a:endParaRPr lang="it-IT" sz="20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E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u="none" strike="noStrike" dirty="0">
                          <a:effectLst/>
                        </a:rPr>
                        <a:t>4</a:t>
                      </a:r>
                      <a:endParaRPr lang="it-IT" sz="2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E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8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E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8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E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E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8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E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11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E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39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60777072"/>
                  </a:ext>
                </a:extLst>
              </a:tr>
              <a:tr h="439953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b="1" u="none" strike="noStrike" dirty="0">
                          <a:effectLst/>
                        </a:rPr>
                        <a:t>Alberto Pignat</a:t>
                      </a:r>
                      <a:endParaRPr lang="it-IT" sz="20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E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E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7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E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7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E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E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12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E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12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E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42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71198408"/>
                  </a:ext>
                </a:extLst>
              </a:tr>
              <a:tr h="439953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b="1" u="none" strike="noStrike" dirty="0">
                          <a:effectLst/>
                        </a:rPr>
                        <a:t>Marco Piro</a:t>
                      </a:r>
                      <a:endParaRPr lang="it-IT" sz="20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E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8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E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E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8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E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E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6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E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23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E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49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47518722"/>
                  </a:ext>
                </a:extLst>
              </a:tr>
              <a:tr h="234493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b="1" u="none" strike="noStrike" dirty="0" err="1">
                          <a:effectLst/>
                        </a:rPr>
                        <a:t>Linor</a:t>
                      </a:r>
                      <a:r>
                        <a:rPr lang="it-IT" sz="2000" b="1" u="none" strike="noStrike" dirty="0">
                          <a:effectLst/>
                        </a:rPr>
                        <a:t> </a:t>
                      </a:r>
                      <a:r>
                        <a:rPr lang="it-IT" sz="2000" b="1" u="none" strike="noStrike" dirty="0" err="1">
                          <a:effectLst/>
                        </a:rPr>
                        <a:t>Sadè</a:t>
                      </a:r>
                      <a:endParaRPr lang="it-IT" sz="20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E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E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8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E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8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E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E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12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E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12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E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44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49415534"/>
                  </a:ext>
                </a:extLst>
              </a:tr>
              <a:tr h="439953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b="1" u="none" strike="noStrike" dirty="0">
                          <a:effectLst/>
                        </a:rPr>
                        <a:t>Leonardo Salviato</a:t>
                      </a:r>
                      <a:endParaRPr lang="it-IT" sz="20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E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8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E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E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u="none" strike="noStrike" dirty="0">
                          <a:effectLst/>
                        </a:rPr>
                        <a:t>9</a:t>
                      </a:r>
                      <a:endParaRPr lang="it-IT" sz="2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E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E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5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E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12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E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38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50264963"/>
                  </a:ext>
                </a:extLst>
              </a:tr>
              <a:tr h="439953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b="1" u="none" strike="noStrike" dirty="0">
                          <a:effectLst/>
                        </a:rPr>
                        <a:t>Luca Slongo</a:t>
                      </a:r>
                      <a:endParaRPr lang="it-IT" sz="20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E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E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E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8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E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E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6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E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23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E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41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31914584"/>
                  </a:ext>
                </a:extLst>
              </a:tr>
              <a:tr h="654346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b="1" u="none" strike="noStrike" dirty="0">
                          <a:effectLst/>
                        </a:rPr>
                        <a:t>TOTALE COMPLESSIVO</a:t>
                      </a:r>
                      <a:endParaRPr lang="it-IT" sz="20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E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36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E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35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E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56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E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E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60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E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105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E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292</a:t>
                      </a:r>
                      <a:endParaRPr lang="it-IT" sz="2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32945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0686725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275</TotalTime>
  <Words>434</Words>
  <Application>Microsoft Office PowerPoint</Application>
  <PresentationFormat>Personalizzato</PresentationFormat>
  <Paragraphs>193</Paragraphs>
  <Slides>10</Slides>
  <Notes>9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9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10</vt:i4>
      </vt:variant>
    </vt:vector>
  </HeadingPairs>
  <TitlesOfParts>
    <vt:vector size="20" baseType="lpstr">
      <vt:lpstr>Neue Montreal Bold</vt:lpstr>
      <vt:lpstr>Tenor Sans</vt:lpstr>
      <vt:lpstr>Neue Montreal</vt:lpstr>
      <vt:lpstr>Goudy</vt:lpstr>
      <vt:lpstr>Calibri</vt:lpstr>
      <vt:lpstr>Overpass</vt:lpstr>
      <vt:lpstr>Aptos</vt:lpstr>
      <vt:lpstr>Arial</vt:lpstr>
      <vt:lpstr>Wingdings</vt:lpstr>
      <vt:lpstr>Office Theme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Presentazione Progetto di Gruppo</dc:title>
  <cp:lastModifiedBy>Alberto Autiero</cp:lastModifiedBy>
  <cp:revision>108</cp:revision>
  <dcterms:created xsi:type="dcterms:W3CDTF">2006-08-16T00:00:00Z</dcterms:created>
  <dcterms:modified xsi:type="dcterms:W3CDTF">2026-01-28T17:13:18Z</dcterms:modified>
  <dc:identifier>DAG2oYW1E2g</dc:identifier>
</cp:coreProperties>
</file>