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1" r:id="rId4"/>
    <p:sldId id="272" r:id="rId5"/>
    <p:sldId id="273" r:id="rId6"/>
    <p:sldId id="275" r:id="rId7"/>
    <p:sldId id="276" r:id="rId8"/>
    <p:sldId id="277" r:id="rId9"/>
    <p:sldId id="278" r:id="rId10"/>
  </p:sldIdLst>
  <p:sldSz cx="18288000" cy="10287000"/>
  <p:notesSz cx="6858000" cy="9144000"/>
  <p:embeddedFontLst>
    <p:embeddedFont>
      <p:font typeface="Goudy" panose="020B0604020202020204" charset="0"/>
      <p:regular r:id="rId12"/>
    </p:embeddedFont>
    <p:embeddedFont>
      <p:font typeface="Neue Montreal" panose="020B0604020202020204" charset="0"/>
      <p:regular r:id="rId13"/>
    </p:embeddedFont>
    <p:embeddedFont>
      <p:font typeface="Neue Montreal Bold" panose="020B0604020202020204" charset="0"/>
      <p:regular r:id="rId14"/>
    </p:embeddedFont>
    <p:embeddedFont>
      <p:font typeface="Overpass" panose="020B0604020202020204" charset="0"/>
      <p:regular r:id="rId15"/>
    </p:embeddedFont>
    <p:embeddedFont>
      <p:font typeface="Tenor San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CE34BD-122E-AD0F-E522-FE621DF38331}" v="1" dt="2026-02-17T20:26:05.911"/>
    <p1510:client id="{492ECB53-1E0B-E8AF-C511-951C6AE8ED14}" v="3" dt="2026-02-17T20:44:22.921"/>
    <p1510:client id="{616FD7DA-FFF4-441C-BB76-E0BABCB61185}" v="70" dt="2026-02-17T20:46:55.059"/>
    <p1510:client id="{6E5A5160-6634-3DD5-A1C1-9E15A5AD1F0E}" v="50" dt="2026-02-17T20:44:26.872"/>
    <p1510:client id="{859059CF-21FF-0DEC-6D13-72DAE0B886F4}" v="155" dt="2026-02-17T20:38:31.959"/>
    <p1510:client id="{911BC8AB-80A2-1F58-0D98-E2853EA2E50B}" v="130" dt="2026-02-17T20:46:29.228"/>
    <p1510:client id="{942AA0F8-F7EC-FB4A-A764-7F8A78DA38B5}" v="187" dt="2026-02-17T20:33:15.5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5:16:30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17/02/2026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C08170C-5CFB-499E-8257-3D18EF4D2E05}" type="slidenum">
              <a:rPr kumimoji="0" lang="it-I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it-I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5F2A-E41C-8FB7-F77D-375E5484B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117E72-EEBC-2213-BE3E-7C8457212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2463D8E-83FB-DB2D-5007-2721D2AB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FB0CFA6-A5F6-6284-4AC3-B516091BA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92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C3866ACE-636B-E5CA-32C8-40BE7E27A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marR="0" lvl="1" indent="-34290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endParaRPr kumimoji="0" lang="it-IT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ts val="15212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5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cs typeface="Arial"/>
                </a:rPr>
                <a:t>COMPRENSIONE </a:t>
              </a:r>
              <a:r>
                <a:rPr lang="it-IT" sz="5000">
                  <a:solidFill>
                    <a:prstClr val="black"/>
                  </a:solidFill>
                  <a:latin typeface="Arial"/>
                  <a:cs typeface="Arial"/>
                </a:rPr>
                <a:t>OBIETTIVI</a:t>
              </a:r>
              <a:r>
                <a:rPr kumimoji="0" lang="it-IT" sz="5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cs typeface="Arial"/>
                </a:rPr>
                <a:t> DEL CAPITOLATO</a:t>
              </a:r>
              <a:endParaRPr lang="it-IT" sz="5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Fredoka"/>
                <a:cs typeface="Arial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marR="0" lvl="1" indent="-5715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it-IT" sz="3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419034"/>
              </p:ext>
            </p:extLst>
          </p:nvPr>
        </p:nvGraphicFramePr>
        <p:xfrm>
          <a:off x="1676400" y="3623300"/>
          <a:ext cx="15013433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5760881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Categoria Requisito</a:t>
                      </a:r>
                      <a:endParaRPr lang="it-IT" sz="3200" b="1" i="0" u="none" strike="noStrike"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Tipo</a:t>
                      </a:r>
                      <a:endParaRPr lang="it-IT" sz="3200" b="1" i="0" u="none" strike="noStrike"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Quantità</a:t>
                      </a:r>
                      <a:endParaRPr lang="it-IT" sz="3200" b="1" i="0" u="none" strike="noStrike"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Totale Categoria</a:t>
                      </a:r>
                      <a:endParaRPr lang="it-IT" sz="3200" b="1" i="0" u="none" strike="noStrike"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b="1" i="0" u="none" strike="noStrike">
                          <a:solidFill>
                            <a:srgbClr val="000000"/>
                          </a:solidFill>
                          <a:effectLst/>
                          <a:latin typeface="Arial"/>
                          <a:cs typeface="Arial"/>
                        </a:rPr>
                        <a:t>Requisiti Funzionali (RF)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97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35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132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Requisiti di Qualità (RQ)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b="1" i="0" u="none" strike="noStrike">
                          <a:solidFill>
                            <a:srgbClr val="000000"/>
                          </a:solidFill>
                          <a:effectLst/>
                          <a:latin typeface="Arial"/>
                          <a:cs typeface="Arial"/>
                        </a:rPr>
                        <a:t>Requisiti di Vincolo (RV)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1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438912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sz="3200" b="1" i="0" u="none" strike="noStrike">
                          <a:solidFill>
                            <a:srgbClr val="000000"/>
                          </a:solidFill>
                          <a:effectLst/>
                          <a:latin typeface="Arial"/>
                          <a:cs typeface="Arial"/>
                        </a:rPr>
                        <a:t>Requisiti Prestazionali (RP)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438912">
                <a:tc v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Desiderabili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3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  <a:latin typeface="Arial"/>
                          <a:cs typeface="Arial"/>
                        </a:rPr>
                        <a:t>TOTALE COMPLESSIVO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  <a:latin typeface="Arial"/>
                          <a:cs typeface="Arial"/>
                        </a:rPr>
                        <a:t>162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/>
                        <a:cs typeface="Arial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14:cNvPr>
              <p14:cNvContentPartPr/>
              <p14:nvPr/>
            </p14:nvContentPartPr>
            <p14:xfrm>
              <a:off x="6246194" y="6752215"/>
              <a:ext cx="360" cy="360"/>
            </p14:xfrm>
          </p:contentPart>
        </mc:Choice>
        <mc:Fallback xmlns="">
          <p:pic>
            <p:nvPicPr>
              <p:cNvPr id="8" name="Input penna 7">
                <a:extLst>
                  <a:ext uri="{FF2B5EF4-FFF2-40B4-BE49-F238E27FC236}">
                    <a16:creationId xmlns:a16="http://schemas.microsoft.com/office/drawing/2014/main" id="{A29C99DC-E792-7A30-1FFA-AA97E1BF94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40074" y="6746095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16BBE9F-60AC-8E69-3A36-7DAD84627103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it-IT" sz="4000">
                <a:latin typeface="Calibri"/>
              </a:rPr>
              <a:t>1/8</a:t>
            </a:r>
            <a:endParaRPr lang="it-IT" sz="4000" kern="1200"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9093" y="4988126"/>
            <a:ext cx="4834790" cy="1827517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00338" y="3965986"/>
            <a:ext cx="3656768" cy="3656768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70E835F4-BC48-2633-7435-0A754F152D05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en-US" sz="4000">
                <a:latin typeface="Calibri"/>
              </a:rPr>
              <a:t>2</a:t>
            </a:r>
            <a:r>
              <a:rPr lang="it-IT" sz="4000">
                <a:latin typeface="Calibri"/>
              </a:rPr>
              <a:t>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99B213-1B71-E4EE-2F09-C74D28560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>
                  <a:solidFill>
                    <a:srgbClr val="000000"/>
                  </a:solidFill>
                  <a:latin typeface="Arial"/>
                  <a:ea typeface="Fredoka"/>
                  <a:cs typeface="Arial"/>
                  <a:sym typeface="Fredoka"/>
                </a:rPr>
                <a:t>MODIFICHE MIGLIORATIVE EFFETTUATE</a:t>
              </a:r>
              <a:r>
                <a:rPr lang="it-IT" sz="6000" b="1">
                  <a:solidFill>
                    <a:srgbClr val="000000"/>
                  </a:solidFill>
                  <a:latin typeface="Arial"/>
                  <a:ea typeface="Fredoka"/>
                  <a:cs typeface="Arial"/>
                  <a:sym typeface="Fredoka"/>
                </a:rPr>
                <a:t> 1/2</a:t>
              </a:r>
              <a:endParaRPr lang="it-IT" sz="66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  <p:sp>
        <p:nvSpPr>
          <p:cNvPr id="7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3975406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F8F1DAEF-5162-7CCF-DD21-2B8847A06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it-IT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BC809F3-79F7-EBF5-D226-B5CA68776A8D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latin typeface="Calibri"/>
              </a:rPr>
              <a:t>3/8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637117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>
                  <a:solidFill>
                    <a:srgbClr val="000000"/>
                  </a:solidFill>
                  <a:latin typeface="Arial"/>
                  <a:ea typeface="Fredoka"/>
                  <a:cs typeface="Arial"/>
                  <a:sym typeface="Fredoka"/>
                </a:rPr>
                <a:t>MODIFICHE MIGLIORATIVE EFFETTUATE</a:t>
              </a:r>
              <a:r>
                <a:rPr lang="it-IT" sz="6000" b="1">
                  <a:solidFill>
                    <a:srgbClr val="000000"/>
                  </a:solidFill>
                  <a:latin typeface="Arial"/>
                  <a:ea typeface="Fredoka"/>
                  <a:cs typeface="Arial"/>
                  <a:sym typeface="Fredoka"/>
                </a:rPr>
                <a:t> 2/2</a:t>
              </a:r>
              <a:endParaRPr lang="it-IT" sz="66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934948"/>
            <a:ext cx="8617779" cy="6151745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>
                <a:solidFill>
                  <a:srgbClr val="0070C0"/>
                </a:solidFill>
              </a:rPr>
              <a:t>DOPO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67F8EBA-9573-F40A-49B8-3F0E8AE4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it-IT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79ED7F-7C9F-7D7B-BE68-CCF2EC56B6E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latin typeface="Calibri"/>
              </a:rPr>
              <a:t>4/8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/>
              <a:t>Siamo soddisfatti anche del Proponente </a:t>
            </a:r>
            <a:r>
              <a:rPr lang="it-IT" sz="3600" err="1"/>
              <a:t>Eggon</a:t>
            </a:r>
            <a:r>
              <a:rPr lang="it-IT" sz="3600"/>
              <a:t>, che ci sta seguendo e consigliando con competenza e diligenza.</a:t>
            </a:r>
            <a:endParaRPr lang="it-IT" sz="360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D000D7A-4578-1253-E7E7-3800EC1E7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DCECB30-CBCD-29B0-E4BA-AFBDC7FC2D0D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latin typeface="Calibri"/>
              </a:rPr>
              <a:t>5/8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-2789"/>
            <a:ext cx="17566536" cy="1755390"/>
            <a:chOff x="0" y="-238129"/>
            <a:chExt cx="23422050" cy="46238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-238129"/>
              <a:ext cx="23422050" cy="41584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212"/>
                </a:lnSpc>
              </a:pPr>
              <a:r>
                <a:rPr lang="it-IT" sz="4000" b="1" noProof="0">
                  <a:solidFill>
                    <a:srgbClr val="000000"/>
                  </a:solidFill>
                  <a:latin typeface="Arial"/>
                  <a:ea typeface="Fredoka"/>
                  <a:cs typeface="Arial"/>
                  <a:sym typeface="Fredoka"/>
                </a:rPr>
                <a:t>ESITO DELLA RIUNIONE CON IL PROF. CARDIN</a:t>
              </a:r>
              <a:endParaRPr lang="it-IT" sz="4000" b="1" noProof="0">
                <a:solidFill>
                  <a:srgbClr val="000000"/>
                </a:solidFill>
                <a:latin typeface="Arial"/>
                <a:ea typeface="Fredoka"/>
                <a:cs typeface="Arial"/>
              </a:endParaRPr>
            </a:p>
          </p:txBody>
        </p:sp>
      </p:grp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3B0B2C-E11E-51D9-9CE3-8E5001BA00D9}"/>
              </a:ext>
            </a:extLst>
          </p:cNvPr>
          <p:cNvSpPr txBox="1"/>
          <p:nvPr/>
        </p:nvSpPr>
        <p:spPr>
          <a:xfrm>
            <a:off x="14145608" y="9570748"/>
            <a:ext cx="6988098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en-US" sz="4000">
                <a:latin typeface="Calibri"/>
              </a:rPr>
              <a:t>6</a:t>
            </a:r>
            <a:r>
              <a:rPr lang="it-IT" sz="4000">
                <a:latin typeface="Calibri"/>
              </a:rPr>
              <a:t>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7B90C6B-EE84-4FC3-4208-B328F784F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>
                <a:solidFill>
                  <a:srgbClr val="FF0000"/>
                </a:solidFill>
              </a:rPr>
              <a:t>Risorse</a:t>
            </a:r>
            <a:r>
              <a:rPr sz="3500">
                <a:solidFill>
                  <a:srgbClr val="FF0000"/>
                </a:solidFill>
              </a:rPr>
              <a:t> </a:t>
            </a:r>
            <a:r>
              <a:rPr sz="3500" err="1">
                <a:solidFill>
                  <a:srgbClr val="FF0000"/>
                </a:solidFill>
              </a:rPr>
              <a:t>utilizzate</a:t>
            </a:r>
            <a:r>
              <a:rPr sz="3500">
                <a:solidFill>
                  <a:srgbClr val="FF0000"/>
                </a:solidFill>
              </a:rPr>
              <a:t> </a:t>
            </a:r>
            <a:r>
              <a:rPr sz="3500" err="1">
                <a:solidFill>
                  <a:srgbClr val="FF0000"/>
                </a:solidFill>
              </a:rPr>
              <a:t>fino</a:t>
            </a:r>
            <a:r>
              <a:rPr lang="it-IT" sz="3500">
                <a:solidFill>
                  <a:srgbClr val="FF0000"/>
                </a:solidFill>
              </a:rPr>
              <a:t> allo</a:t>
            </a:r>
            <a:r>
              <a:rPr sz="3500">
                <a:solidFill>
                  <a:srgbClr val="FF0000"/>
                </a:solidFill>
              </a:rPr>
              <a:t> Sprint </a:t>
            </a:r>
            <a:r>
              <a:rPr lang="it-IT" sz="3500">
                <a:solidFill>
                  <a:srgbClr val="FF0000"/>
                </a:solidFill>
              </a:rPr>
              <a:t>6</a:t>
            </a:r>
            <a:r>
              <a:rPr sz="3500">
                <a:solidFill>
                  <a:srgbClr val="FF0000"/>
                </a:solidFill>
              </a:rPr>
              <a:t>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961938"/>
              </p:ext>
            </p:extLst>
          </p:nvPr>
        </p:nvGraphicFramePr>
        <p:xfrm>
          <a:off x="4491110" y="2277584"/>
          <a:ext cx="9525000" cy="3522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Descrizione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Ore (h)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Costo (€)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46h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1125€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44h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990€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3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49h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910€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4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45h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905€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>
                          <a:effectLst/>
                        </a:rPr>
                        <a:t>Sprint 5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46h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790€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40878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b="1" u="none" strike="noStrike">
                          <a:effectLst/>
                        </a:rPr>
                        <a:t>Sprint 6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53h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u="none" strike="noStrike">
                          <a:effectLst/>
                        </a:rPr>
                        <a:t>935€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41163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Totale utilizzato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292h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5655€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7826327"/>
              </p:ext>
            </p:extLst>
          </p:nvPr>
        </p:nvGraphicFramePr>
        <p:xfrm>
          <a:off x="4491110" y="6591300"/>
          <a:ext cx="9525000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Ruolo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Ore Rimanenti (h)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Costo Rimanente (€)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20h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600€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17h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340€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147h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3675€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107h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1605€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61h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915€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TOTALE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352h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7135€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541597" y="5998045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>
                <a:solidFill>
                  <a:srgbClr val="FF0000"/>
                </a:solidFill>
              </a:rPr>
              <a:t>Risorse rimanenti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C967D761-2380-82F6-D97F-96BACB739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256CC75-A4F6-75EF-FB8B-CCB0845CC5C8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latin typeface="Calibri"/>
              </a:rPr>
              <a:t>7/8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D0EF-912F-B7B2-D128-0F4227BE5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43E1120F-173E-1A26-ECC3-12A127D2BFAA}"/>
              </a:ext>
            </a:extLst>
          </p:cNvPr>
          <p:cNvGrpSpPr/>
          <p:nvPr/>
        </p:nvGrpSpPr>
        <p:grpSpPr>
          <a:xfrm>
            <a:off x="188063" y="-152399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05B438E-459C-F638-136A-659146638115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0F51ACA-F2EE-1AFD-FA56-006D184A1AD3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312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>
                  <a:solidFill>
                    <a:srgbClr val="000000"/>
                  </a:solidFill>
                  <a:latin typeface="Arial"/>
                  <a:cs typeface="Arial"/>
                  <a:sym typeface="Fredoka"/>
                </a:rPr>
                <a:t>PREVENTIVO A FINIRE</a:t>
              </a:r>
              <a:endParaRPr lang="it-IT"/>
            </a:p>
          </p:txBody>
        </p:sp>
      </p:grp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F38B5841-F094-A81A-DA41-9D64B1B5E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512455"/>
              </p:ext>
            </p:extLst>
          </p:nvPr>
        </p:nvGraphicFramePr>
        <p:xfrm>
          <a:off x="1198931" y="2244832"/>
          <a:ext cx="15544800" cy="40058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3100">
                  <a:extLst>
                    <a:ext uri="{9D8B030D-6E8A-4147-A177-3AD203B41FA5}">
                      <a16:colId xmlns:a16="http://schemas.microsoft.com/office/drawing/2014/main" val="389864553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567244114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164377366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4809975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08316877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34702653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931636665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347141321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Membro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Amministratore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Programmatore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Totale 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110598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Alberto Autiero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8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8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0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12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66121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Marco Favero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4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77707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Alberto Pignat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19840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Marco Piro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51872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err="1">
                          <a:effectLst/>
                        </a:rPr>
                        <a:t>Linor</a:t>
                      </a:r>
                      <a:r>
                        <a:rPr lang="it-IT" sz="2000" b="1" u="none" strike="noStrike">
                          <a:effectLst/>
                        </a:rPr>
                        <a:t> </a:t>
                      </a:r>
                      <a:r>
                        <a:rPr lang="it-IT" sz="2000" b="1" u="none" strike="noStrike" err="1">
                          <a:effectLst/>
                        </a:rPr>
                        <a:t>Sadè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41553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Leonardo Salviato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>
                          <a:effectLst/>
                        </a:rPr>
                        <a:t>9</a:t>
                      </a:r>
                      <a:endParaRPr lang="it-IT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264963"/>
                  </a:ext>
                </a:extLst>
              </a:tr>
              <a:tr h="3107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Luca Slongo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191458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TOTALE COMPLESSIVO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29455"/>
                  </a:ext>
                </a:extLst>
              </a:tr>
            </a:tbl>
          </a:graphicData>
        </a:graphic>
      </p:graphicFrame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1500906-EE6D-6F49-656A-60D9346C8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F9812B5-04E0-06E5-8FEE-5B8D6078CB27}"/>
              </a:ext>
            </a:extLst>
          </p:cNvPr>
          <p:cNvSpPr txBox="1"/>
          <p:nvPr/>
        </p:nvSpPr>
        <p:spPr>
          <a:xfrm>
            <a:off x="13086242" y="9589334"/>
            <a:ext cx="9144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algn="ctr" rtl="0"/>
            <a:r>
              <a:rPr lang="it-IT" sz="4000">
                <a:latin typeface="Calibri"/>
              </a:rPr>
              <a:t>8/8</a:t>
            </a:r>
            <a:endParaRPr lang="it-IT" sz="4000" kern="120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867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Personalizzato</PresentationFormat>
  <Slides>9</Slides>
  <Notes>8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0" baseType="lpstr"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revision>4</cp:revision>
  <dcterms:created xsi:type="dcterms:W3CDTF">2006-08-16T00:00:00Z</dcterms:created>
  <dcterms:modified xsi:type="dcterms:W3CDTF">2026-02-17T21:01:31Z</dcterms:modified>
  <dc:identifier>DAG2oYW1E2g</dc:identifier>
</cp:coreProperties>
</file>