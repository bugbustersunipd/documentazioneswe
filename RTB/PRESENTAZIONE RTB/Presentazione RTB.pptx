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</p:sldIdLst>
  <p:sldSz cx="18288000" cy="10287000"/>
  <p:notesSz cx="6858000" cy="9144000"/>
  <p:embeddedFontLst>
    <p:embeddedFont>
      <p:font typeface="Goudy" panose="020B0604020202020204" charset="0"/>
      <p:regular r:id="rId13"/>
    </p:embeddedFont>
    <p:embeddedFont>
      <p:font typeface="Neue Montreal" panose="020B0604020202020204" charset="0"/>
      <p:regular r:id="rId14"/>
    </p:embeddedFont>
    <p:embeddedFont>
      <p:font typeface="Neue Montreal Bold" panose="020B0604020202020204" charset="0"/>
      <p:regular r:id="rId15"/>
    </p:embeddedFont>
    <p:embeddedFont>
      <p:font typeface="Overpass" panose="020B0604020202020204" charset="0"/>
      <p:regular r:id="rId16"/>
    </p:embeddedFont>
    <p:embeddedFont>
      <p:font typeface="Tenor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E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9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729B2-3DD6-7934-967B-094C75BF9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4AFF852-E89E-057A-1D38-453DED563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CB22940-E3D2-376D-0073-1B881715B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73DBCD-C00D-1B3C-1E8F-C66246A4F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3440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7FE87-2A41-EF13-931E-A4331075A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975F18D-5865-BE05-2685-AE965157A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9C6E39D-65D5-05CE-5936-3D082ED8F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F618B9-FE6A-9DB0-E592-4A8CD6221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1884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BBBFB-0D3A-756A-36DA-8F999709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B986AB1-AC2C-2322-F30B-7AF8FDA22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FB8B50F-AF93-1A44-8C7A-01B9C0C92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67CF5ED-BDE1-B97C-49BA-0CEDF70FD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0052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83220-EBB2-564E-5A5F-A58C3DA76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8B56BFC-7EC0-CC53-A615-1DA4BD521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CE8BE82-2835-14AC-C8ED-FAE434305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7AF6D6-E6ED-A350-CFF3-E03CC1C09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9955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CE31-21CD-0E24-21EF-DF54B61CA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591AB6B-4E16-DC36-2073-2BBDBBE6A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1D894E1-756A-DA2C-FA44-BA3681DEA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73C369-D487-4293-85AD-AFDBF172B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9098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DF6F7-88DC-E72E-3CFA-AD4E6486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2067189-0CA7-5825-DB9D-95447D90E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2EF846-0E74-54CD-1254-1E928C1B6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0A155DF-27D3-4C66-D3A2-F02DA9936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687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736E4-3525-3E78-439B-185079991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23980AF-A41B-7095-D781-D740DD1E0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44EB5CE-F43D-6D55-884E-74E524614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DCA36B-C317-D179-33A1-8A7C96F1B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7499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E5F2A-E41C-8FB7-F77D-375E5484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6117E72-EEBC-2213-BE3E-7C8457212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2463D8E-83FB-DB2D-5007-2721D2AB6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B0CFA6-A5F6-6284-4AC3-B516091BA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9287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3441" y="8020450"/>
            <a:ext cx="2394262" cy="1358721"/>
            <a:chOff x="0" y="-30918"/>
            <a:chExt cx="630588" cy="357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588" cy="300703"/>
            </a:xfrm>
            <a:custGeom>
              <a:avLst/>
              <a:gdLst/>
              <a:ahLst/>
              <a:cxnLst/>
              <a:rect l="l" t="t" r="r" b="b"/>
              <a:pathLst>
                <a:path w="630588" h="300703">
                  <a:moveTo>
                    <a:pt x="0" y="0"/>
                  </a:moveTo>
                  <a:lnTo>
                    <a:pt x="630588" y="0"/>
                  </a:lnTo>
                  <a:lnTo>
                    <a:pt x="630588" y="300703"/>
                  </a:lnTo>
                  <a:lnTo>
                    <a:pt x="0" y="300703"/>
                  </a:ln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0918"/>
              <a:ext cx="63058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it-IT" sz="2999" b="1" noProof="0" dirty="0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GRUPPO 4</a:t>
              </a:r>
            </a:p>
            <a:p>
              <a:pPr algn="ctr">
                <a:lnSpc>
                  <a:spcPts val="4199"/>
                </a:lnSpc>
              </a:pPr>
              <a:r>
                <a:rPr lang="it-IT" sz="2999" b="1" noProof="0" dirty="0" err="1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BugBusters</a:t>
              </a:r>
              <a:endParaRPr lang="it-IT" sz="2999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lang="it-IT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10726" y="359613"/>
            <a:ext cx="1431560" cy="1484953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282652" y="3424288"/>
            <a:ext cx="15185948" cy="3737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399"/>
              </a:lnSpc>
            </a:pPr>
            <a:r>
              <a:rPr lang="it-IT" sz="15999" spc="-959" noProof="0" dirty="0">
                <a:solidFill>
                  <a:srgbClr val="000000"/>
                </a:solidFill>
                <a:latin typeface="Goudy"/>
                <a:ea typeface="Goudy"/>
                <a:cs typeface="Goudy"/>
                <a:sym typeface="Goudy"/>
              </a:rPr>
              <a:t>PRESENTAZIONE RTB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349" y="681623"/>
            <a:ext cx="3272849" cy="95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</a:pPr>
            <a:r>
              <a:rPr lang="it-IT" sz="2713" noProof="0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UNIVERSITÁ DEGLI STUDI DI PADOVA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60974" y="8137842"/>
            <a:ext cx="9381636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8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Team:</a:t>
            </a:r>
            <a:r>
              <a:rPr lang="it-IT" sz="28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Alberto Autiero, Marco Favero, Alberto Pignat, Marco Piro, </a:t>
            </a:r>
            <a:r>
              <a:rPr lang="it-IT" sz="28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28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28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28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75F21F41-09A7-54FF-8F57-7FC200200F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4369" y="7707964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5813626" y="7962068"/>
            <a:ext cx="2610335" cy="232493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88063" y="0"/>
            <a:ext cx="17566536" cy="2935483"/>
            <a:chOff x="0" y="471724"/>
            <a:chExt cx="23422050" cy="3913976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1724"/>
              <a:ext cx="23422050" cy="2182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2"/>
                </a:lnSpc>
              </a:pPr>
              <a:r>
                <a:rPr lang="it-IT" sz="6000" dirty="0">
                  <a:latin typeface="Arial" panose="020B0604020202020204" pitchFamily="34" charset="0"/>
                  <a:cs typeface="Arial" panose="020B0604020202020204" pitchFamily="34" charset="0"/>
                </a:rPr>
                <a:t>COMPRENSIONE OBIETTIVI DEL CAPITOLATO</a:t>
              </a:r>
              <a:endParaRPr lang="it-IT" sz="6600" b="1" noProof="0" dirty="0">
                <a:solidFill>
                  <a:srgbClr val="000000"/>
                </a:solidFill>
                <a:latin typeface="Arial" panose="020B0604020202020204" pitchFamily="34" charset="0"/>
                <a:ea typeface="Fredoka"/>
                <a:cs typeface="Arial" panose="020B0604020202020204" pitchFamily="34" charset="0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916433" y="2324931"/>
            <a:ext cx="15773400" cy="8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6028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0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Analisi dei Requisiti: abbiamo trovato molti requisiti impliciti;</a:t>
            </a: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F1DD467D-F790-0BBE-883B-A6AF2AAAF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669414"/>
              </p:ext>
            </p:extLst>
          </p:nvPr>
        </p:nvGraphicFramePr>
        <p:xfrm>
          <a:off x="916433" y="3623300"/>
          <a:ext cx="15773400" cy="447484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520848">
                  <a:extLst>
                    <a:ext uri="{9D8B030D-6E8A-4147-A177-3AD203B41FA5}">
                      <a16:colId xmlns:a16="http://schemas.microsoft.com/office/drawing/2014/main" val="3835509842"/>
                    </a:ext>
                  </a:extLst>
                </a:gridCol>
                <a:gridCol w="2907945">
                  <a:extLst>
                    <a:ext uri="{9D8B030D-6E8A-4147-A177-3AD203B41FA5}">
                      <a16:colId xmlns:a16="http://schemas.microsoft.com/office/drawing/2014/main" val="2437700987"/>
                    </a:ext>
                  </a:extLst>
                </a:gridCol>
                <a:gridCol w="2907945">
                  <a:extLst>
                    <a:ext uri="{9D8B030D-6E8A-4147-A177-3AD203B41FA5}">
                      <a16:colId xmlns:a16="http://schemas.microsoft.com/office/drawing/2014/main" val="2592525380"/>
                    </a:ext>
                  </a:extLst>
                </a:gridCol>
                <a:gridCol w="3436662">
                  <a:extLst>
                    <a:ext uri="{9D8B030D-6E8A-4147-A177-3AD203B41FA5}">
                      <a16:colId xmlns:a16="http://schemas.microsoft.com/office/drawing/2014/main" val="2755886477"/>
                    </a:ext>
                  </a:extLst>
                </a:gridCol>
              </a:tblGrid>
              <a:tr h="3551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Categoria Requisito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Tipo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Quantità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Totale Categoria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989477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Requisiti </a:t>
                      </a:r>
                      <a:r>
                        <a:rPr lang="it-IT" sz="32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Funzionali</a:t>
                      </a:r>
                      <a:r>
                        <a:rPr lang="it-IT" sz="3200" b="1" u="none" strike="noStrike" dirty="0">
                          <a:effectLst/>
                        </a:rPr>
                        <a:t> (RF)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Obbligatori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105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 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256522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 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>
                          <a:effectLst/>
                        </a:rPr>
                        <a:t>Opzionali</a:t>
                      </a:r>
                      <a:endParaRPr lang="it-IT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38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 dirty="0">
                          <a:effectLst/>
                        </a:rPr>
                        <a:t>143</a:t>
                      </a:r>
                      <a:endParaRPr lang="it-IT" sz="3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24886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Requisiti di Qualità (RQ)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>
                          <a:effectLst/>
                        </a:rPr>
                        <a:t>Obbligatori</a:t>
                      </a:r>
                      <a:endParaRPr lang="it-IT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6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6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610654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Requisiti di Vincolo (RV)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Obbligatori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5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 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632447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 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>
                          <a:effectLst/>
                        </a:rPr>
                        <a:t>Opzionali</a:t>
                      </a:r>
                      <a:endParaRPr lang="it-IT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1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6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286880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Requisiti Prestazionali (RP)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>
                          <a:effectLst/>
                        </a:rPr>
                        <a:t>Obbligatori</a:t>
                      </a:r>
                      <a:endParaRPr lang="it-IT" sz="3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5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 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238322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 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Desiderabili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3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>
                          <a:effectLst/>
                        </a:rPr>
                        <a:t>8</a:t>
                      </a:r>
                      <a:endParaRPr lang="it-IT" sz="3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060485"/>
                  </a:ext>
                </a:extLst>
              </a:tr>
              <a:tr h="3551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b="1" u="none" strike="noStrike" dirty="0">
                          <a:effectLst/>
                        </a:rPr>
                        <a:t>TOTALE COMPLESSIVO</a:t>
                      </a:r>
                      <a:endParaRPr lang="it-IT" sz="3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 dirty="0">
                          <a:effectLst/>
                        </a:rPr>
                        <a:t> </a:t>
                      </a:r>
                      <a:endParaRPr lang="it-IT" sz="3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 dirty="0">
                          <a:effectLst/>
                        </a:rPr>
                        <a:t> </a:t>
                      </a:r>
                      <a:endParaRPr lang="it-IT" sz="3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3200" u="none" strike="noStrike" dirty="0">
                          <a:effectLst/>
                        </a:rPr>
                        <a:t>163</a:t>
                      </a:r>
                      <a:endParaRPr lang="it-IT" sz="3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1703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0F40E-F280-F313-B170-16E6288FF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2636085-A693-D4A3-30C8-9A81F36B8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5813626" y="7962068"/>
            <a:ext cx="2610335" cy="232493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31F50A-5B16-F590-D8AA-9DC13126C4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674D9BAB-0694-8FA4-B90B-BED632C0A45D}"/>
              </a:ext>
            </a:extLst>
          </p:cNvPr>
          <p:cNvGrpSpPr/>
          <p:nvPr/>
        </p:nvGrpSpPr>
        <p:grpSpPr>
          <a:xfrm>
            <a:off x="188063" y="0"/>
            <a:ext cx="17566536" cy="2935483"/>
            <a:chOff x="0" y="471724"/>
            <a:chExt cx="23422050" cy="391397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E434A78-CD44-62AA-A20C-9C574E44F3B0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71B642E-30D7-1A33-189C-B4EB591A7541}"/>
                </a:ext>
              </a:extLst>
            </p:cNvPr>
            <p:cNvSpPr txBox="1"/>
            <p:nvPr/>
          </p:nvSpPr>
          <p:spPr>
            <a:xfrm>
              <a:off x="0" y="471724"/>
              <a:ext cx="23422050" cy="2182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2"/>
                </a:lnSpc>
              </a:pPr>
              <a:r>
                <a:rPr lang="it-IT" sz="6000" dirty="0">
                  <a:latin typeface="Arial" panose="020B0604020202020204" pitchFamily="34" charset="0"/>
                  <a:cs typeface="Arial" panose="020B0604020202020204" pitchFamily="34" charset="0"/>
                </a:rPr>
                <a:t>COMPRENSIONE OBIETTIVI DEL CAPITOLATO</a:t>
              </a:r>
              <a:endParaRPr lang="it-IT" sz="6600" b="1" noProof="0" dirty="0">
                <a:solidFill>
                  <a:srgbClr val="000000"/>
                </a:solidFill>
                <a:latin typeface="Arial" panose="020B0604020202020204" pitchFamily="34" charset="0"/>
                <a:ea typeface="Fredoka"/>
                <a:cs typeface="Arial" panose="020B0604020202020204" pitchFamily="34" charset="0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3CB4F33-0BAA-CFF4-A4F8-FDA9B325A1B4}"/>
              </a:ext>
            </a:extLst>
          </p:cNvPr>
          <p:cNvSpPr txBox="1"/>
          <p:nvPr/>
        </p:nvSpPr>
        <p:spPr>
          <a:xfrm>
            <a:off x="916433" y="2324931"/>
            <a:ext cx="15773400" cy="1651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6028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0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Alto rischio tecnologico dovuto alla poca esperienza del gruppo con le tecnologie utilizzate</a:t>
            </a:r>
          </a:p>
        </p:txBody>
      </p:sp>
      <p:pic>
        <p:nvPicPr>
          <p:cNvPr id="8" name="Immagine 7" descr="Immagine che contiene Carattere, Elementi grafici, logo, grafica&#10;&#10;Il contenuto generato dall'IA potrebbe non essere corretto.">
            <a:extLst>
              <a:ext uri="{FF2B5EF4-FFF2-40B4-BE49-F238E27FC236}">
                <a16:creationId xmlns:a16="http://schemas.microsoft.com/office/drawing/2014/main" id="{F46F7CF8-0E4D-E768-7C1D-3926AFFCE1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4680395"/>
            <a:ext cx="3486637" cy="1314633"/>
          </a:xfrm>
          <a:prstGeom prst="rect">
            <a:avLst/>
          </a:prstGeom>
        </p:spPr>
      </p:pic>
      <p:pic>
        <p:nvPicPr>
          <p:cNvPr id="12" name="Immagine 11" descr="Immagine che contiene simbolo, Elementi grafici, design&#10;&#10;Il contenuto generato dall'IA potrebbe non essere corretto.">
            <a:extLst>
              <a:ext uri="{FF2B5EF4-FFF2-40B4-BE49-F238E27FC236}">
                <a16:creationId xmlns:a16="http://schemas.microsoft.com/office/drawing/2014/main" id="{7344410B-1D5D-AAFC-EDF9-C507CB0B45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3878063"/>
            <a:ext cx="3656768" cy="365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11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E8E62-5108-D482-AAA3-E715343C0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4EC249A-9DDC-7352-79CB-6D8E95403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5813626" y="7962068"/>
            <a:ext cx="2610335" cy="232493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5268FE3-745A-1979-4FFD-6B8BFC6BF5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361B0CD7-A89E-DE2A-6FBB-1BEC96A7593F}"/>
              </a:ext>
            </a:extLst>
          </p:cNvPr>
          <p:cNvGrpSpPr/>
          <p:nvPr/>
        </p:nvGrpSpPr>
        <p:grpSpPr>
          <a:xfrm>
            <a:off x="188063" y="0"/>
            <a:ext cx="17566536" cy="2935483"/>
            <a:chOff x="0" y="471724"/>
            <a:chExt cx="23422050" cy="391397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E66CC5B-1415-040E-2D86-BD69EAC51F76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8BE740A-FE9A-E344-E349-87ED38E70557}"/>
                </a:ext>
              </a:extLst>
            </p:cNvPr>
            <p:cNvSpPr txBox="1"/>
            <p:nvPr/>
          </p:nvSpPr>
          <p:spPr>
            <a:xfrm>
              <a:off x="0" y="471724"/>
              <a:ext cx="23422050" cy="2206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2"/>
                </a:lnSpc>
              </a:pPr>
              <a:r>
                <a:rPr lang="it-IT" sz="6000" b="1" noProof="0" dirty="0">
                  <a:solidFill>
                    <a:srgbClr val="000000"/>
                  </a:solidFill>
                  <a:latin typeface="Arial" panose="020B0604020202020204" pitchFamily="34" charset="0"/>
                  <a:ea typeface="Fredoka"/>
                  <a:cs typeface="Arial" panose="020B0604020202020204" pitchFamily="34" charset="0"/>
                  <a:sym typeface="Fredoka"/>
                </a:rPr>
                <a:t>MODIFICHE MIGLIORATIVE EFFETTUATE</a:t>
              </a:r>
              <a:endParaRPr lang="it-IT" sz="6600" b="1" noProof="0" dirty="0">
                <a:solidFill>
                  <a:srgbClr val="000000"/>
                </a:solidFill>
                <a:latin typeface="Arial" panose="020B0604020202020204" pitchFamily="34" charset="0"/>
                <a:ea typeface="Fredoka"/>
                <a:cs typeface="Arial" panose="020B0604020202020204" pitchFamily="34" charset="0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8FC53A6-2E64-008D-E70C-C3D2536341D2}"/>
              </a:ext>
            </a:extLst>
          </p:cNvPr>
          <p:cNvSpPr txBox="1"/>
          <p:nvPr/>
        </p:nvSpPr>
        <p:spPr>
          <a:xfrm>
            <a:off x="916433" y="2324931"/>
            <a:ext cx="15773400" cy="1651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6028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0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Aggiunta di una versione del Glossario utilizzabile ogni volta che si apre un documento del sito</a:t>
            </a:r>
          </a:p>
        </p:txBody>
      </p:sp>
    </p:spTree>
    <p:extLst>
      <p:ext uri="{BB962C8B-B14F-4D97-AF65-F5344CB8AC3E}">
        <p14:creationId xmlns:p14="http://schemas.microsoft.com/office/powerpoint/2010/main" val="3887135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7E254-2660-76BF-DABA-E29EB3EC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A07EF05-BB3A-AA4E-51F0-55F87AF3F3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5813626" y="7962068"/>
            <a:ext cx="2610335" cy="232493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7D02B76-37BA-B73E-A9DE-E1F7BFC4AC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AC7F0BB9-A6EB-2176-8478-76EBD056C514}"/>
              </a:ext>
            </a:extLst>
          </p:cNvPr>
          <p:cNvGrpSpPr/>
          <p:nvPr/>
        </p:nvGrpSpPr>
        <p:grpSpPr>
          <a:xfrm>
            <a:off x="188063" y="-228599"/>
            <a:ext cx="17566536" cy="1485899"/>
            <a:chOff x="0" y="471724"/>
            <a:chExt cx="23422050" cy="391397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D72DF4B-077A-88D2-45F8-83AEEECB7871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EB526A9-A007-4C63-4DDF-4D661FFD04CE}"/>
                </a:ext>
              </a:extLst>
            </p:cNvPr>
            <p:cNvSpPr txBox="1"/>
            <p:nvPr/>
          </p:nvSpPr>
          <p:spPr>
            <a:xfrm>
              <a:off x="0" y="471724"/>
              <a:ext cx="23422050" cy="2206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2"/>
                </a:lnSpc>
              </a:pPr>
              <a:r>
                <a:rPr lang="it-IT" sz="6000" b="1" noProof="0" dirty="0">
                  <a:solidFill>
                    <a:srgbClr val="000000"/>
                  </a:solidFill>
                  <a:latin typeface="Arial" panose="020B0604020202020204" pitchFamily="34" charset="0"/>
                  <a:ea typeface="Fredoka"/>
                  <a:cs typeface="Arial" panose="020B0604020202020204" pitchFamily="34" charset="0"/>
                  <a:sym typeface="Fredoka"/>
                </a:rPr>
                <a:t>MODIFICHE MIGLIORATIVE EFFETTUATE</a:t>
              </a:r>
              <a:endParaRPr lang="it-IT" sz="6600" b="1" noProof="0" dirty="0">
                <a:solidFill>
                  <a:srgbClr val="000000"/>
                </a:solidFill>
                <a:latin typeface="Arial" panose="020B0604020202020204" pitchFamily="34" charset="0"/>
                <a:ea typeface="Fredoka"/>
                <a:cs typeface="Arial" panose="020B0604020202020204" pitchFamily="34" charset="0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6B5B760-63D5-F27A-63C1-CD0ECBCC2770}"/>
              </a:ext>
            </a:extLst>
          </p:cNvPr>
          <p:cNvSpPr txBox="1"/>
          <p:nvPr/>
        </p:nvSpPr>
        <p:spPr>
          <a:xfrm>
            <a:off x="916433" y="1739229"/>
            <a:ext cx="15773400" cy="1651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6028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0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Ristrutturazione del sito dividendolo in CANDIDATURA, DIAPOSITIVE E RTB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6C1D2AB-FFA0-C45F-7A4D-D28A6083D0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8534" y="3872829"/>
            <a:ext cx="4908680" cy="6390138"/>
          </a:xfrm>
          <a:prstGeom prst="rect">
            <a:avLst/>
          </a:prstGeom>
        </p:spPr>
      </p:pic>
      <p:pic>
        <p:nvPicPr>
          <p:cNvPr id="8" name="Immagine 7" descr="Immagine che contiene testo, software, Pagina Web, numero&#10;&#10;Il contenuto generato dall'IA potrebbe non essere corretto.">
            <a:extLst>
              <a:ext uri="{FF2B5EF4-FFF2-40B4-BE49-F238E27FC236}">
                <a16:creationId xmlns:a16="http://schemas.microsoft.com/office/drawing/2014/main" id="{1D420CE6-53C6-A0AD-AB37-58BCAC66CA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872829"/>
            <a:ext cx="7052366" cy="6213864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8942479-65D2-9A5A-09B2-DC2049201200}"/>
              </a:ext>
            </a:extLst>
          </p:cNvPr>
          <p:cNvSpPr txBox="1"/>
          <p:nvPr/>
        </p:nvSpPr>
        <p:spPr>
          <a:xfrm>
            <a:off x="4198070" y="3248786"/>
            <a:ext cx="1593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dirty="0">
                <a:solidFill>
                  <a:srgbClr val="0070C0"/>
                </a:solidFill>
              </a:rPr>
              <a:t>PRIMA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358EEC8-AB83-4625-696B-C42D283CBDEA}"/>
              </a:ext>
            </a:extLst>
          </p:cNvPr>
          <p:cNvSpPr txBox="1"/>
          <p:nvPr/>
        </p:nvSpPr>
        <p:spPr>
          <a:xfrm>
            <a:off x="12546021" y="3164943"/>
            <a:ext cx="14446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dirty="0">
                <a:solidFill>
                  <a:srgbClr val="0070C0"/>
                </a:solidFill>
              </a:rPr>
              <a:t>DOPO</a:t>
            </a:r>
          </a:p>
        </p:txBody>
      </p:sp>
    </p:spTree>
    <p:extLst>
      <p:ext uri="{BB962C8B-B14F-4D97-AF65-F5344CB8AC3E}">
        <p14:creationId xmlns:p14="http://schemas.microsoft.com/office/powerpoint/2010/main" val="1319620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4F251-74D2-D6A0-DF35-810DC97A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C761D68-B4C9-E056-9434-30C6476BF6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5813626" y="7962068"/>
            <a:ext cx="2610335" cy="232493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B97A3C2-BDE2-E7C2-3AC0-A52E0EAE3E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593F4571-6FA0-AFD7-E270-4B4EF9438ACF}"/>
              </a:ext>
            </a:extLst>
          </p:cNvPr>
          <p:cNvGrpSpPr/>
          <p:nvPr/>
        </p:nvGrpSpPr>
        <p:grpSpPr>
          <a:xfrm>
            <a:off x="188063" y="266700"/>
            <a:ext cx="17566536" cy="1485899"/>
            <a:chOff x="0" y="471724"/>
            <a:chExt cx="23422050" cy="391397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2CA414E-7EB1-AD3A-E4E0-06C1C55B727C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96068F1-B303-CDE0-05D6-4E0639955D50}"/>
                </a:ext>
              </a:extLst>
            </p:cNvPr>
            <p:cNvSpPr txBox="1"/>
            <p:nvPr/>
          </p:nvSpPr>
          <p:spPr>
            <a:xfrm>
              <a:off x="0" y="471724"/>
              <a:ext cx="23422050" cy="2206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2"/>
                </a:lnSpc>
              </a:pPr>
              <a:r>
                <a:rPr lang="it-IT" sz="6000" b="1" noProof="0" dirty="0">
                  <a:solidFill>
                    <a:srgbClr val="000000"/>
                  </a:solidFill>
                  <a:latin typeface="Arial" panose="020B0604020202020204" pitchFamily="34" charset="0"/>
                  <a:ea typeface="Fredoka"/>
                  <a:cs typeface="Arial" panose="020B0604020202020204" pitchFamily="34" charset="0"/>
                  <a:sym typeface="Fredoka"/>
                </a:rPr>
                <a:t>MODIFICHE MIGLIORATIVE EFFETTUATE</a:t>
              </a:r>
              <a:endParaRPr lang="it-IT" sz="6600" b="1" noProof="0" dirty="0">
                <a:solidFill>
                  <a:srgbClr val="000000"/>
                </a:solidFill>
                <a:latin typeface="Arial" panose="020B0604020202020204" pitchFamily="34" charset="0"/>
                <a:ea typeface="Fredoka"/>
                <a:cs typeface="Arial" panose="020B0604020202020204" pitchFamily="34" charset="0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87392E7-25AA-5C8B-B179-59FF6061F484}"/>
              </a:ext>
            </a:extLst>
          </p:cNvPr>
          <p:cNvSpPr txBox="1"/>
          <p:nvPr/>
        </p:nvSpPr>
        <p:spPr>
          <a:xfrm>
            <a:off x="916433" y="2729829"/>
            <a:ext cx="15773400" cy="1651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6028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0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È stata migliorata l’organizzazione del gruppo con compiti più specifici</a:t>
            </a:r>
          </a:p>
          <a:p>
            <a:pPr marL="816028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0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Ora vengono utilizzate le Pull </a:t>
            </a:r>
            <a:r>
              <a:rPr lang="it-IT" sz="3600" dirty="0" err="1">
                <a:solidFill>
                  <a:srgbClr val="00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Request</a:t>
            </a:r>
            <a:endParaRPr lang="it-IT" sz="3600" dirty="0">
              <a:solidFill>
                <a:srgbClr val="000000"/>
              </a:solidFill>
              <a:latin typeface="Arial" panose="020B0604020202020204" pitchFamily="34" charset="0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  <p:extLst>
      <p:ext uri="{BB962C8B-B14F-4D97-AF65-F5344CB8AC3E}">
        <p14:creationId xmlns:p14="http://schemas.microsoft.com/office/powerpoint/2010/main" val="3019794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3E44A-613E-D92F-837E-A019C5B86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46DE6D0-D9B0-734A-1FCA-F0CE887653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5813626" y="7962068"/>
            <a:ext cx="2610335" cy="232493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984546D-9349-8D71-3F0B-50319B1D30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16CAF2C4-D6E9-870F-DF10-8C565897E6C4}"/>
              </a:ext>
            </a:extLst>
          </p:cNvPr>
          <p:cNvGrpSpPr/>
          <p:nvPr/>
        </p:nvGrpSpPr>
        <p:grpSpPr>
          <a:xfrm>
            <a:off x="188063" y="266700"/>
            <a:ext cx="17566536" cy="1637115"/>
            <a:chOff x="0" y="471724"/>
            <a:chExt cx="23422050" cy="431229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DB642F9-0563-89DB-E2FC-DB36054AC348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163DFA1-F0AD-9454-C503-A5B96B5BD3B1}"/>
                </a:ext>
              </a:extLst>
            </p:cNvPr>
            <p:cNvSpPr txBox="1"/>
            <p:nvPr/>
          </p:nvSpPr>
          <p:spPr>
            <a:xfrm>
              <a:off x="0" y="471724"/>
              <a:ext cx="23422050" cy="4312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2"/>
                </a:lnSpc>
              </a:pPr>
              <a:r>
                <a:rPr lang="it-IT" sz="6000" b="1" noProof="0" dirty="0">
                  <a:solidFill>
                    <a:srgbClr val="000000"/>
                  </a:solidFill>
                  <a:latin typeface="Arial" panose="020B0604020202020204" pitchFamily="34" charset="0"/>
                  <a:ea typeface="Fredoka"/>
                  <a:cs typeface="Arial" panose="020B0604020202020204" pitchFamily="34" charset="0"/>
                  <a:sym typeface="Fredoka"/>
                </a:rPr>
                <a:t>AUTOVALUTAZIONE DEL LAVORO SVOLTO</a:t>
              </a:r>
              <a:endParaRPr lang="it-IT" sz="6600" b="1" noProof="0" dirty="0">
                <a:solidFill>
                  <a:srgbClr val="000000"/>
                </a:solidFill>
                <a:latin typeface="Arial" panose="020B0604020202020204" pitchFamily="34" charset="0"/>
                <a:ea typeface="Fredoka"/>
                <a:cs typeface="Arial" panose="020B0604020202020204" pitchFamily="34" charset="0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BFC49D7-239D-F711-638F-37B046268569}"/>
              </a:ext>
            </a:extLst>
          </p:cNvPr>
          <p:cNvSpPr txBox="1"/>
          <p:nvPr/>
        </p:nvSpPr>
        <p:spPr>
          <a:xfrm>
            <a:off x="916433" y="2729829"/>
            <a:ext cx="15773400" cy="4157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6028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0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Generalmente, il gruppo è molto soddisfatto di come sta lavorando</a:t>
            </a:r>
          </a:p>
          <a:p>
            <a:pPr marL="816028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 dirty="0">
                <a:solidFill>
                  <a:srgbClr val="00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Tutti hanno contribuito al raggiungimento della </a:t>
            </a:r>
            <a:r>
              <a:rPr lang="it-IT" sz="3600" dirty="0" err="1">
                <a:solidFill>
                  <a:srgbClr val="00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Requirements</a:t>
            </a:r>
            <a:r>
              <a:rPr lang="it-IT" sz="3600" dirty="0">
                <a:solidFill>
                  <a:srgbClr val="00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 and Technology Baseline (ognuno con un compito specifico)</a:t>
            </a:r>
          </a:p>
          <a:p>
            <a:pPr marL="816028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3600" dirty="0"/>
              <a:t>Siamo soddisfatti anche del Proponente </a:t>
            </a:r>
            <a:r>
              <a:rPr lang="it-IT" sz="3600" dirty="0" err="1"/>
              <a:t>Eggon</a:t>
            </a:r>
            <a:r>
              <a:rPr lang="it-IT" sz="3600" dirty="0"/>
              <a:t>, che ci sta seguendo e consigliando con competenza e diligenza.</a:t>
            </a:r>
            <a:endParaRPr lang="it-IT" sz="3600" dirty="0">
              <a:solidFill>
                <a:srgbClr val="000000"/>
              </a:solidFill>
              <a:latin typeface="Arial" panose="020B0604020202020204" pitchFamily="34" charset="0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  <p:extLst>
      <p:ext uri="{BB962C8B-B14F-4D97-AF65-F5344CB8AC3E}">
        <p14:creationId xmlns:p14="http://schemas.microsoft.com/office/powerpoint/2010/main" val="137742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FE1C5-31B8-FC55-EF7C-366C8B3A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30D894E-9F81-0799-261D-26F26F6E21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5813626" y="7962068"/>
            <a:ext cx="2610335" cy="232493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7834DC9-29B1-E974-D1B3-0D026A1189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AD9F58E3-1890-1D4B-C0F4-0EB0C8E4F516}"/>
              </a:ext>
            </a:extLst>
          </p:cNvPr>
          <p:cNvGrpSpPr/>
          <p:nvPr/>
        </p:nvGrpSpPr>
        <p:grpSpPr>
          <a:xfrm>
            <a:off x="188063" y="266700"/>
            <a:ext cx="17566536" cy="1637115"/>
            <a:chOff x="0" y="471724"/>
            <a:chExt cx="23422050" cy="431229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5D18617-82DE-DA34-1F16-E2D0676DC643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AD933A2-B2B9-22ED-4DF8-95471540F4B1}"/>
                </a:ext>
              </a:extLst>
            </p:cNvPr>
            <p:cNvSpPr txBox="1"/>
            <p:nvPr/>
          </p:nvSpPr>
          <p:spPr>
            <a:xfrm>
              <a:off x="0" y="471724"/>
              <a:ext cx="23422050" cy="4312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2"/>
                </a:lnSpc>
              </a:pPr>
              <a:r>
                <a:rPr lang="it-IT" sz="6000" b="1" noProof="0" dirty="0">
                  <a:solidFill>
                    <a:srgbClr val="000000"/>
                  </a:solidFill>
                  <a:latin typeface="Arial" panose="020B0604020202020204" pitchFamily="34" charset="0"/>
                  <a:ea typeface="Fredoka"/>
                  <a:cs typeface="Arial" panose="020B0604020202020204" pitchFamily="34" charset="0"/>
                  <a:sym typeface="Fredoka"/>
                </a:rPr>
                <a:t>ESITO DELLA RIUNIONE CON IL PROF. CARDIN</a:t>
              </a:r>
              <a:endParaRPr lang="it-IT" sz="6600" b="1" noProof="0" dirty="0">
                <a:solidFill>
                  <a:srgbClr val="000000"/>
                </a:solidFill>
                <a:latin typeface="Arial" panose="020B0604020202020204" pitchFamily="34" charset="0"/>
                <a:ea typeface="Fredoka"/>
                <a:cs typeface="Arial" panose="020B0604020202020204" pitchFamily="34" charset="0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57A3278-2F26-2792-E468-CCB134F64108}"/>
              </a:ext>
            </a:extLst>
          </p:cNvPr>
          <p:cNvSpPr txBox="1"/>
          <p:nvPr/>
        </p:nvSpPr>
        <p:spPr>
          <a:xfrm>
            <a:off x="916433" y="2729829"/>
            <a:ext cx="15773400" cy="6466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6028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9600" dirty="0">
                <a:solidFill>
                  <a:srgbClr val="FF0000"/>
                </a:solidFill>
                <a:latin typeface="Arial" panose="020B0604020202020204" pitchFamily="34" charset="0"/>
                <a:ea typeface="Overpass"/>
                <a:cs typeface="Arial" panose="020B0604020202020204" pitchFamily="34" charset="0"/>
                <a:sym typeface="Overpass"/>
              </a:rPr>
              <a:t>DA FARE DOPO AVER AVUTO IL SEMAFORO VERDE</a:t>
            </a:r>
          </a:p>
        </p:txBody>
      </p:sp>
    </p:spTree>
    <p:extLst>
      <p:ext uri="{BB962C8B-B14F-4D97-AF65-F5344CB8AC3E}">
        <p14:creationId xmlns:p14="http://schemas.microsoft.com/office/powerpoint/2010/main" val="3161461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4D9B0-7A4C-77CA-6F86-61352E38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88F7ECE-4608-AEEA-6C84-A8FB95AC7B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5813626" y="7962068"/>
            <a:ext cx="2610335" cy="232493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BC4EDA7-3E7A-0119-B8BF-2243AA82BC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4BA6D79A-42A3-C42E-CE50-8BF632182851}"/>
              </a:ext>
            </a:extLst>
          </p:cNvPr>
          <p:cNvGrpSpPr/>
          <p:nvPr/>
        </p:nvGrpSpPr>
        <p:grpSpPr>
          <a:xfrm>
            <a:off x="188063" y="-419100"/>
            <a:ext cx="17566536" cy="2171699"/>
            <a:chOff x="0" y="-1334729"/>
            <a:chExt cx="23422050" cy="572042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902543C-BCD1-5CE3-06D3-3D8062697C9A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0D82B6C-4CC0-9C4B-F2EC-FA94D2C99DCD}"/>
                </a:ext>
              </a:extLst>
            </p:cNvPr>
            <p:cNvSpPr txBox="1"/>
            <p:nvPr/>
          </p:nvSpPr>
          <p:spPr>
            <a:xfrm>
              <a:off x="0" y="-1334729"/>
              <a:ext cx="23422050" cy="4266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2"/>
                </a:lnSpc>
              </a:pPr>
              <a:r>
                <a:rPr lang="it-IT" sz="5400" b="1" noProof="0" dirty="0">
                  <a:solidFill>
                    <a:srgbClr val="000000"/>
                  </a:solidFill>
                  <a:latin typeface="Arial" panose="020B0604020202020204" pitchFamily="34" charset="0"/>
                  <a:ea typeface="Fredoka"/>
                  <a:cs typeface="Arial" panose="020B0604020202020204" pitchFamily="34" charset="0"/>
                  <a:sym typeface="Fredoka"/>
                </a:rPr>
                <a:t>CONSUNTIVO DI PERIODO ALLO STATO ATTUALE</a:t>
              </a:r>
              <a:endParaRPr lang="it-IT" sz="6000" b="1" noProof="0" dirty="0">
                <a:solidFill>
                  <a:srgbClr val="000000"/>
                </a:solidFill>
                <a:latin typeface="Arial" panose="020B0604020202020204" pitchFamily="34" charset="0"/>
                <a:ea typeface="Fredoka"/>
                <a:cs typeface="Arial" panose="020B0604020202020204" pitchFamily="34" charset="0"/>
                <a:sym typeface="Fredoka"/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A244DA-B435-F2A0-5FB4-CFA19085ECFA}"/>
              </a:ext>
            </a:extLst>
          </p:cNvPr>
          <p:cNvSpPr>
            <a:spLocks noGrp="1"/>
          </p:cNvSpPr>
          <p:nvPr/>
        </p:nvSpPr>
        <p:spPr>
          <a:xfrm>
            <a:off x="2797241" y="1485900"/>
            <a:ext cx="13335000" cy="7886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  <a:defRPr sz="1600">
                <a:solidFill>
                  <a:srgbClr val="212529"/>
                </a:solidFill>
              </a:defRPr>
            </a:pPr>
            <a:r>
              <a:rPr lang="it-IT" sz="3500" dirty="0">
                <a:solidFill>
                  <a:srgbClr val="FF0000"/>
                </a:solidFill>
              </a:rPr>
              <a:t>Risorse</a:t>
            </a:r>
            <a:r>
              <a:rPr sz="3500" dirty="0">
                <a:solidFill>
                  <a:srgbClr val="FF0000"/>
                </a:solidFill>
              </a:rPr>
              <a:t> </a:t>
            </a:r>
            <a:r>
              <a:rPr sz="3500" dirty="0" err="1">
                <a:solidFill>
                  <a:srgbClr val="FF0000"/>
                </a:solidFill>
              </a:rPr>
              <a:t>utilizzate</a:t>
            </a:r>
            <a:r>
              <a:rPr sz="3500" dirty="0">
                <a:solidFill>
                  <a:srgbClr val="FF0000"/>
                </a:solidFill>
              </a:rPr>
              <a:t> </a:t>
            </a:r>
            <a:r>
              <a:rPr sz="3500" dirty="0" err="1">
                <a:solidFill>
                  <a:srgbClr val="FF0000"/>
                </a:solidFill>
              </a:rPr>
              <a:t>fino</a:t>
            </a:r>
            <a:r>
              <a:rPr lang="it-IT" sz="3500" dirty="0">
                <a:solidFill>
                  <a:srgbClr val="FF0000"/>
                </a:solidFill>
              </a:rPr>
              <a:t> allo</a:t>
            </a:r>
            <a:r>
              <a:rPr sz="3500" dirty="0">
                <a:solidFill>
                  <a:srgbClr val="FF0000"/>
                </a:solidFill>
              </a:rPr>
              <a:t> Sprint 4: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F25C64C-22F5-9AE8-6A66-186454EE6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606153"/>
              </p:ext>
            </p:extLst>
          </p:nvPr>
        </p:nvGraphicFramePr>
        <p:xfrm>
          <a:off x="4495800" y="2400300"/>
          <a:ext cx="9525000" cy="30817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53294947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115450378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1526813476"/>
                    </a:ext>
                  </a:extLst>
                </a:gridCol>
              </a:tblGrid>
              <a:tr h="440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 dirty="0">
                          <a:effectLst/>
                        </a:rPr>
                        <a:t>Descrizione</a:t>
                      </a:r>
                      <a:endParaRPr lang="it-IT" sz="2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 dirty="0">
                          <a:effectLst/>
                        </a:rPr>
                        <a:t>Ore (h)</a:t>
                      </a:r>
                      <a:endParaRPr lang="it-IT" sz="2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 dirty="0">
                          <a:effectLst/>
                        </a:rPr>
                        <a:t>Costo (€)</a:t>
                      </a:r>
                      <a:endParaRPr lang="it-IT" sz="2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993060"/>
                  </a:ext>
                </a:extLst>
              </a:tr>
              <a:tr h="440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>
                          <a:effectLst/>
                        </a:rPr>
                        <a:t>Sprint 1</a:t>
                      </a:r>
                      <a:endParaRPr lang="it-IT" sz="2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 dirty="0">
                          <a:effectLst/>
                        </a:rPr>
                        <a:t>46h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 dirty="0">
                          <a:effectLst/>
                        </a:rPr>
                        <a:t>1095€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651540"/>
                  </a:ext>
                </a:extLst>
              </a:tr>
              <a:tr h="440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>
                          <a:effectLst/>
                        </a:rPr>
                        <a:t>Sprint 2</a:t>
                      </a:r>
                      <a:endParaRPr lang="it-IT" sz="2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 dirty="0">
                          <a:effectLst/>
                        </a:rPr>
                        <a:t>44h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 dirty="0">
                          <a:effectLst/>
                        </a:rPr>
                        <a:t>1000€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88967"/>
                  </a:ext>
                </a:extLst>
              </a:tr>
              <a:tr h="440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 dirty="0">
                          <a:effectLst/>
                        </a:rPr>
                        <a:t>Sprint 3</a:t>
                      </a:r>
                      <a:endParaRPr lang="it-IT" sz="2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 dirty="0">
                          <a:effectLst/>
                        </a:rPr>
                        <a:t>49h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 dirty="0">
                          <a:effectLst/>
                        </a:rPr>
                        <a:t>1065€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274904"/>
                  </a:ext>
                </a:extLst>
              </a:tr>
              <a:tr h="440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 dirty="0">
                          <a:effectLst/>
                        </a:rPr>
                        <a:t>Sprint 4</a:t>
                      </a:r>
                      <a:endParaRPr lang="it-IT" sz="2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 dirty="0">
                          <a:effectLst/>
                        </a:rPr>
                        <a:t>45h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 dirty="0">
                          <a:effectLst/>
                        </a:rPr>
                        <a:t>1045€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559990"/>
                  </a:ext>
                </a:extLst>
              </a:tr>
              <a:tr h="44025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b="1" u="none" strike="noStrike" dirty="0">
                          <a:effectLst/>
                        </a:rPr>
                        <a:t>Sprint 5</a:t>
                      </a:r>
                      <a:endParaRPr lang="it-IT" sz="2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u="none" strike="noStrike" dirty="0">
                          <a:effectLst/>
                        </a:rPr>
                        <a:t>55h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800" u="none" strike="noStrike" dirty="0">
                          <a:effectLst/>
                        </a:rPr>
                        <a:t>1245€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408780"/>
                  </a:ext>
                </a:extLst>
              </a:tr>
              <a:tr h="440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b="1" u="none" strike="noStrike">
                          <a:effectLst/>
                        </a:rPr>
                        <a:t>Totale utilizzato</a:t>
                      </a:r>
                      <a:endParaRPr lang="it-IT" sz="2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 dirty="0">
                          <a:effectLst/>
                        </a:rPr>
                        <a:t>157h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800" u="none" strike="noStrike" dirty="0">
                          <a:effectLst/>
                        </a:rPr>
                        <a:t>5450€</a:t>
                      </a:r>
                      <a:endParaRPr lang="it-IT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393398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FCDA4C9E-2610-BA54-8981-DBEB6AF09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041760"/>
              </p:ext>
            </p:extLst>
          </p:nvPr>
        </p:nvGraphicFramePr>
        <p:xfrm>
          <a:off x="4491110" y="6591300"/>
          <a:ext cx="9525000" cy="3059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1514292223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1270357705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104626968"/>
                    </a:ext>
                  </a:extLst>
                </a:gridCol>
              </a:tblGrid>
              <a:tr h="5109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Ruolo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Ore Rimanenti (h)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Costo Rimanente (€)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201991"/>
                  </a:ext>
                </a:extLst>
              </a:tr>
              <a:tr h="4111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>
                          <a:effectLst/>
                        </a:rPr>
                        <a:t>Responsabile</a:t>
                      </a:r>
                      <a:endParaRPr lang="it-IT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35h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1050€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961988"/>
                  </a:ext>
                </a:extLst>
              </a:tr>
              <a:tr h="325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Amministratore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28h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560€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431345"/>
                  </a:ext>
                </a:extLst>
              </a:tr>
              <a:tr h="325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>
                          <a:effectLst/>
                        </a:rPr>
                        <a:t>Analista</a:t>
                      </a:r>
                      <a:endParaRPr lang="it-IT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8h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200€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25016"/>
                  </a:ext>
                </a:extLst>
              </a:tr>
              <a:tr h="325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>
                          <a:effectLst/>
                        </a:rPr>
                        <a:t>Progettista</a:t>
                      </a:r>
                      <a:endParaRPr lang="it-IT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52h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1300€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735743"/>
                  </a:ext>
                </a:extLst>
              </a:tr>
              <a:tr h="5109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Programmatore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167h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2505€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877036"/>
                  </a:ext>
                </a:extLst>
              </a:tr>
              <a:tr h="325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>
                          <a:effectLst/>
                        </a:rPr>
                        <a:t>Verificatore</a:t>
                      </a:r>
                      <a:endParaRPr lang="it-IT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115h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1725€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710412"/>
                  </a:ext>
                </a:extLst>
              </a:tr>
              <a:tr h="3251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TOTALE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405h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7340€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644836"/>
                  </a:ext>
                </a:extLst>
              </a:tr>
            </a:tbl>
          </a:graphicData>
        </a:graphic>
      </p:graphicFrame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E0363CB-548F-CB69-7CE7-04DB4FF33DC4}"/>
              </a:ext>
            </a:extLst>
          </p:cNvPr>
          <p:cNvSpPr txBox="1"/>
          <p:nvPr/>
        </p:nvSpPr>
        <p:spPr>
          <a:xfrm>
            <a:off x="4650582" y="5579358"/>
            <a:ext cx="921543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Aft>
                <a:spcPts val="600"/>
              </a:spcAft>
              <a:buNone/>
              <a:defRPr sz="1600">
                <a:solidFill>
                  <a:srgbClr val="212529"/>
                </a:solidFill>
              </a:defRPr>
            </a:pPr>
            <a:r>
              <a:rPr lang="it-IT" sz="3500" dirty="0">
                <a:solidFill>
                  <a:srgbClr val="FF0000"/>
                </a:solidFill>
              </a:rPr>
              <a:t>Risorse rimanenti</a:t>
            </a:r>
          </a:p>
        </p:txBody>
      </p:sp>
    </p:spTree>
    <p:extLst>
      <p:ext uri="{BB962C8B-B14F-4D97-AF65-F5344CB8AC3E}">
        <p14:creationId xmlns:p14="http://schemas.microsoft.com/office/powerpoint/2010/main" val="3903266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2D0EF-912F-B7B2-D128-0F4227BE5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0787627-B2AA-EB99-8F1D-4EE8F9052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5813626" y="7962068"/>
            <a:ext cx="2610335" cy="232493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D61B407-D401-5A8F-E8CA-D21C66FF16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43E1120F-173E-1A26-ECC3-12A127D2BFAA}"/>
              </a:ext>
            </a:extLst>
          </p:cNvPr>
          <p:cNvGrpSpPr/>
          <p:nvPr/>
        </p:nvGrpSpPr>
        <p:grpSpPr>
          <a:xfrm>
            <a:off x="188063" y="-152399"/>
            <a:ext cx="17566536" cy="2171699"/>
            <a:chOff x="0" y="-1334729"/>
            <a:chExt cx="23422050" cy="572042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05B438E-459C-F638-136A-659146638115}"/>
                </a:ext>
              </a:extLst>
            </p:cNvPr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0F51ACA-F2EE-1AFD-FA56-006D184A1AD3}"/>
                </a:ext>
              </a:extLst>
            </p:cNvPr>
            <p:cNvSpPr txBox="1"/>
            <p:nvPr/>
          </p:nvSpPr>
          <p:spPr>
            <a:xfrm>
              <a:off x="0" y="-1334729"/>
              <a:ext cx="23422050" cy="4312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2"/>
                </a:lnSpc>
              </a:pPr>
              <a:r>
                <a:rPr lang="it-IT" sz="5400" b="1" dirty="0">
                  <a:solidFill>
                    <a:srgbClr val="000000"/>
                  </a:solidFill>
                  <a:latin typeface="Arial" panose="020B0604020202020204" pitchFamily="34" charset="0"/>
                  <a:ea typeface="Fredoka"/>
                  <a:cs typeface="Arial" panose="020B0604020202020204" pitchFamily="34" charset="0"/>
                  <a:sym typeface="Fredoka"/>
                </a:rPr>
                <a:t>NUMERO DI ORE PER MEMBRO DEL GRUPPO</a:t>
              </a:r>
              <a:endParaRPr lang="it-IT" sz="6000" b="1" noProof="0" dirty="0">
                <a:solidFill>
                  <a:srgbClr val="000000"/>
                </a:solidFill>
                <a:latin typeface="Arial" panose="020B0604020202020204" pitchFamily="34" charset="0"/>
                <a:ea typeface="Fredoka"/>
                <a:cs typeface="Arial" panose="020B0604020202020204" pitchFamily="34" charset="0"/>
                <a:sym typeface="Fredoka"/>
              </a:endParaRPr>
            </a:p>
          </p:txBody>
        </p:sp>
      </p:grp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F38B5841-F094-A81A-DA41-9D64B1B5E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151252"/>
              </p:ext>
            </p:extLst>
          </p:nvPr>
        </p:nvGraphicFramePr>
        <p:xfrm>
          <a:off x="1198931" y="2244832"/>
          <a:ext cx="15544800" cy="40483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3898645536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56724411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164377366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480997553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08316877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34702653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931636665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471413214"/>
                    </a:ext>
                  </a:extLst>
                </a:gridCol>
              </a:tblGrid>
              <a:tr h="4399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Membro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>
                          <a:effectLst/>
                        </a:rPr>
                        <a:t>Responsabile</a:t>
                      </a:r>
                      <a:endParaRPr lang="it-IT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>
                          <a:effectLst/>
                        </a:rPr>
                        <a:t>Amministratore</a:t>
                      </a:r>
                      <a:endParaRPr lang="it-IT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>
                          <a:effectLst/>
                        </a:rPr>
                        <a:t>Analista</a:t>
                      </a:r>
                      <a:endParaRPr lang="it-IT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>
                          <a:effectLst/>
                        </a:rPr>
                        <a:t>Progettista</a:t>
                      </a:r>
                      <a:endParaRPr lang="it-IT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>
                          <a:effectLst/>
                        </a:rPr>
                        <a:t>Programmatore</a:t>
                      </a:r>
                      <a:endParaRPr lang="it-IT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>
                          <a:effectLst/>
                        </a:rPr>
                        <a:t>Verificatore</a:t>
                      </a:r>
                      <a:endParaRPr lang="it-IT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Totale Ore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105988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Alberto Autiero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>
                          <a:effectLst/>
                        </a:rPr>
                        <a:t>7</a:t>
                      </a: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>
                          <a:effectLst/>
                        </a:rPr>
                        <a:t>0</a:t>
                      </a: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8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19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0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0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661217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Marco Favero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>
                          <a:effectLst/>
                        </a:rPr>
                        <a:t>3</a:t>
                      </a: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6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>
                          <a:effectLst/>
                        </a:rPr>
                        <a:t>4</a:t>
                      </a: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9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>
                          <a:effectLst/>
                        </a:rPr>
                        <a:t>0</a:t>
                      </a: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12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777072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Alberto Pignat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5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>
                          <a:effectLst/>
                        </a:rPr>
                        <a:t>6</a:t>
                      </a: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0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0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198408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Marco Piro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6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5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6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8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0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518722"/>
                  </a:ext>
                </a:extLst>
              </a:tr>
              <a:tr h="2344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 err="1">
                          <a:effectLst/>
                        </a:rPr>
                        <a:t>Linor</a:t>
                      </a:r>
                      <a:r>
                        <a:rPr lang="it-IT" sz="2000" b="1" u="none" strike="noStrike" dirty="0">
                          <a:effectLst/>
                        </a:rPr>
                        <a:t> </a:t>
                      </a:r>
                      <a:r>
                        <a:rPr lang="it-IT" sz="2000" b="1" u="none" strike="noStrike" dirty="0" err="1">
                          <a:effectLst/>
                        </a:rPr>
                        <a:t>Sadè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0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415534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Leonardo Salviato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>
                          <a:effectLst/>
                        </a:rPr>
                        <a:t>0</a:t>
                      </a: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0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12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0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264963"/>
                  </a:ext>
                </a:extLst>
              </a:tr>
              <a:tr h="4399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Luca Slongo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>
                          <a:effectLst/>
                        </a:rPr>
                        <a:t>0</a:t>
                      </a: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>
                          <a:effectLst/>
                        </a:rPr>
                        <a:t>0</a:t>
                      </a:r>
                      <a:endParaRPr lang="it-IT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6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16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0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u="none" strike="noStrike" dirty="0">
                          <a:effectLst/>
                        </a:rPr>
                        <a:t>16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914584"/>
                  </a:ext>
                </a:extLst>
              </a:tr>
              <a:tr h="6543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1" u="none" strike="noStrike" dirty="0">
                          <a:effectLst/>
                        </a:rPr>
                        <a:t>TOTALE COMPLESSIVO</a:t>
                      </a:r>
                      <a:endParaRPr lang="it-IT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</a:t>
                      </a:r>
                      <a:endParaRPr lang="it-IT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2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67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428</Words>
  <Application>Microsoft Office PowerPoint</Application>
  <PresentationFormat>Personalizzato</PresentationFormat>
  <Paragraphs>189</Paragraphs>
  <Slides>10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20" baseType="lpstr">
      <vt:lpstr>Goudy</vt:lpstr>
      <vt:lpstr>Calibri</vt:lpstr>
      <vt:lpstr>Overpass</vt:lpstr>
      <vt:lpstr>Arial</vt:lpstr>
      <vt:lpstr>Aptos</vt:lpstr>
      <vt:lpstr>Neue Montreal Bold</vt:lpstr>
      <vt:lpstr>Wingdings</vt:lpstr>
      <vt:lpstr>Tenor Sans</vt:lpstr>
      <vt:lpstr>Neue Montreal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cp:lastModifiedBy>Alberto Autiero</cp:lastModifiedBy>
  <cp:revision>101</cp:revision>
  <dcterms:created xsi:type="dcterms:W3CDTF">2006-08-16T00:00:00Z</dcterms:created>
  <dcterms:modified xsi:type="dcterms:W3CDTF">2026-01-14T13:45:35Z</dcterms:modified>
  <dc:identifier>DAG2oYW1E2g</dc:identifier>
</cp:coreProperties>
</file>