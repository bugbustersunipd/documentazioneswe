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notesSlides/notesSlide2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6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79" r:id="rId2"/>
    <p:sldId id="286" r:id="rId3"/>
    <p:sldId id="257" r:id="rId4"/>
    <p:sldId id="282" r:id="rId5"/>
    <p:sldId id="283" r:id="rId6"/>
    <p:sldId id="285" r:id="rId7"/>
    <p:sldId id="284" r:id="rId8"/>
    <p:sldId id="288" r:id="rId9"/>
    <p:sldId id="276" r:id="rId10"/>
    <p:sldId id="277" r:id="rId11"/>
    <p:sldId id="289" r:id="rId12"/>
    <p:sldId id="290" r:id="rId13"/>
  </p:sldIdLst>
  <p:sldSz cx="18288000" cy="10287000"/>
  <p:notesSz cx="6858000" cy="9144000"/>
  <p:embeddedFontLst>
    <p:embeddedFont>
      <p:font typeface="Goudy" panose="020B0604020202020204" charset="0"/>
      <p:regular r:id="rId15"/>
    </p:embeddedFont>
    <p:embeddedFont>
      <p:font typeface="Neue Montreal" panose="020B0604020202020204" charset="0"/>
      <p:regular r:id="rId16"/>
    </p:embeddedFont>
    <p:embeddedFont>
      <p:font typeface="Overpass" panose="020B0604020202020204" charset="0"/>
      <p:regular r:id="rId17"/>
    </p:embeddedFont>
    <p:embeddedFont>
      <p:font typeface="Verdana" panose="020B060403050404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292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84C0"/>
    <a:srgbClr val="FFFFFF"/>
    <a:srgbClr val="318BC9"/>
    <a:srgbClr val="FFFAEF"/>
    <a:srgbClr val="68AEDE"/>
    <a:srgbClr val="2C83BE"/>
    <a:srgbClr val="2C8A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63F1E3-95C4-B476-0B1D-FA6D715B61B2}" v="845" dt="2026-02-18T12:30:15.527"/>
    <p1510:client id="{2059A057-64A0-5DC7-D772-A6166D0F1F5B}" v="10" dt="2026-02-18T13:34:11.296"/>
    <p1510:client id="{21713EAA-38C4-6C35-E323-E7098A6031F6}" v="7" dt="2026-02-18T15:03:55.791"/>
    <p1510:client id="{32C5C086-3B85-37D4-E2C3-10605425BCA9}" v="36" dt="2026-02-18T08:16:53.516"/>
    <p1510:client id="{3C6E27CD-796C-50D9-A9FC-062EC411A2A6}" v="57" dt="2026-02-18T17:57:46.169"/>
    <p1510:client id="{40E327E5-0FE3-4856-864E-FE409C4240B6}" v="16" dt="2026-02-18T17:52:34.434"/>
    <p1510:client id="{45D9789D-213D-6B4D-30E2-34310DBE71E6}" v="12" dt="2026-02-18T17:54:20.496"/>
    <p1510:client id="{460AEC5D-3AC3-A2D0-197E-2286CB217F37}" v="7" dt="2026-02-18T18:02:32.297"/>
    <p1510:client id="{4A381B1F-EA96-9F1C-96F1-B63D45442BE3}" v="1089" dt="2026-02-18T08:56:38.517"/>
    <p1510:client id="{52B4DD2D-76B3-9BF7-BE03-C84696848F8C}" v="18" dt="2026-02-18T20:29:32.482"/>
    <p1510:client id="{57CBE289-7FFD-2276-1FCF-F28EAE4DFAD9}" v="77" dt="2026-02-18T21:51:26.574"/>
    <p1510:client id="{7BDE0BC8-D1E1-9EC6-BF92-7F45FFBAA318}" v="71" dt="2026-02-18T16:15:38.797"/>
    <p1510:client id="{7EDD3806-5DAF-835A-469D-41A99312C413}" v="275" dt="2026-02-18T23:18:59.793"/>
    <p1510:client id="{AD28E0FC-994F-341B-12E7-8DC0393905C9}" v="1459" dt="2026-02-18T13:29:15.906"/>
    <p1510:client id="{B2C27B5A-0CC9-7F71-2AF6-B3A17284E5B0}" v="96" dt="2026-02-18T11:14:50.481"/>
    <p1510:client id="{B60FDE84-A7F7-DD14-3274-EB2D8E92C5FF}" v="8" dt="2026-02-18T16:47:19.345"/>
    <p1510:client id="{BA5D7DE6-F734-2C28-27FB-BB4044CA2312}" v="80" dt="2026-02-18T06:54:56.627"/>
    <p1510:client id="{BCE27AAC-279A-4FCE-A8BA-F0F53D70256D}" v="1071" dt="2026-02-19T03:28:51.519"/>
    <p1510:client id="{CB3CE667-729F-ED00-4157-0E6959BB3FC1}" v="9" dt="2026-02-18T13:45:23.5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4" d="100"/>
          <a:sy n="54" d="100"/>
        </p:scale>
        <p:origin x="29" y="29"/>
      </p:cViewPr>
      <p:guideLst>
        <p:guide orient="horz" pos="2174"/>
        <p:guide pos="29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07:40:28.634"/>
    </inkml:context>
    <inkml:brush xml:id="br0">
      <inkml:brushProperty name="width" value="0.05" units="cm"/>
      <inkml:brushProperty name="height" value="0.05" units="cm"/>
      <inkml:brushProperty name="color" value="#2A84C0"/>
    </inkml:brush>
  </inkml:definitions>
  <inkml:trace contextRef="#ctx0" brushRef="#br0">175 14 24575,'-72'-7'0,"16"1"0,54 5 0,1 1 0,-1 0 0,0 1 0,0-1 0,1 0 0,-1 0 0,0 1 0,0-1 0,1 1 0,-1-1 0,0 1 0,1 0 0,-1 0 0,1 0 0,-1 0 0,1 0 0,-1 0 0,1 0 0,0 0 0,-1 0 0,1 1 0,0-1 0,0 0 0,0 1 0,0-1 0,0 1 0,0 0 0,1-1 0,-1 1 0,1 0 0,-1-1 0,1 1 0,-1 0 0,1-1 0,0 1 0,0 2 0,-2 8 0,2 1 0,0-1 0,1 0 0,2 15 0,-2-17 0,14 75 0,-15-82 0,1 0 0,-1 1 0,1-1 0,0 0 0,0 0 0,0 0 0,0 0 0,1 0 0,-1-1 0,1 1 0,0 0 0,0-1 0,0 1 0,0-1 0,0 1 0,5 2 0,0 0 0,1 0 0,0-1 0,0 0 0,13 5 0,7 3 0,-26-11-44,0 0 0,0 0 0,0 0 0,0 0 0,0 0 0,0-1 0,1 1 0,-1-1 0,0 1 0,1-1 0,-1 0 0,0 0 0,1 0 0,-1 0 0,0 0 0,1 0 0,-1-1 0,0 1-1,0-1 1,1 0 0,-1 1 0,0-1 0,0 0 0,0 0 0,0-1 0,0 1 0,0 0 0,0-1 0,0 1 0,2-4 0,0-3-6782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07:55:48.196"/>
    </inkml:context>
    <inkml:brush xml:id="br0">
      <inkml:brushProperty name="width" value="0.05" units="cm"/>
      <inkml:brushProperty name="height" value="0.05" units="cm"/>
      <inkml:brushProperty name="color" value="#2A84C0"/>
    </inkml:brush>
  </inkml:definitions>
  <inkml:trace contextRef="#ctx0" brushRef="#br0">17 0 24575,'2'79'0,"-4"84"0,-5-108 0,4-30 0,-1 35 0,3-23-42,0-24-223,0 0 1,1 0-1,1 0 0,4 22 1,-2-26-6562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23:04:28.8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B74F-0882-10E0-BB68-08C1B3060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44ED9A-6A76-FE3C-C806-B358205D8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AFDE25-2CAC-ED95-DAFE-EB001CE79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0CC5E9F-75B9-3755-FF37-CF03E19EAA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4053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3768-52EA-84F1-2A96-BF24ED069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F984D-F5DE-B6AD-66C7-887BB4310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837C232-8006-DEED-11A9-976D88374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7D5C0BD-DAC4-89E3-B69F-1090224AC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34353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277C7-774E-E513-D862-E49A1B4F3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BFB5ACF-A09F-F03C-6084-39501E0EA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F9CF103-4656-BCD7-D18A-F92985C25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889475-F065-081E-E8AB-A6528F718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0319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A9422-9ED9-3386-7780-4730FAA5B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A1EC88-6AF9-814A-8C03-8444A1262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F2FDC21-CA8F-CC97-092D-A38E1FC0B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128895-0570-9AA7-5034-1057325BB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893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F4F3-6179-9F39-053E-8F4A7164B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F4DE464-0AB3-4018-3438-CF651B5D9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183B99A-2645-A934-F47D-4EE8C96B1D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D9058F2-AA9B-EC32-A46A-28DC635F6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8802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mailto:bugbusters.unipd@gmail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customXml" Target="../ink/ink2.xml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customXml" Target="../ink/ink4.xm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customXml" Target="../ink/ink5.xml"/><Relationship Id="rId10" Type="http://schemas.openxmlformats.org/officeDocument/2006/relationships/image" Target="../media/image14.png"/><Relationship Id="rId4" Type="http://schemas.openxmlformats.org/officeDocument/2006/relationships/image" Target="../media/image10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78574-71A5-7579-125F-A03B942C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>
            <a:extLst>
              <a:ext uri="{FF2B5EF4-FFF2-40B4-BE49-F238E27FC236}">
                <a16:creationId xmlns:a16="http://schemas.microsoft.com/office/drawing/2014/main" id="{DD0354FB-6652-1AB3-BB22-B8A78B2A8C3F}"/>
              </a:ext>
            </a:extLst>
          </p:cNvPr>
          <p:cNvSpPr/>
          <p:nvPr/>
        </p:nvSpPr>
        <p:spPr>
          <a:xfrm>
            <a:off x="13440229" y="1128870"/>
            <a:ext cx="3503202" cy="3501187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lstStyle/>
          <a:p>
            <a:endParaRPr lang="it-IT" noProof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8A5A43C-B32A-6FDA-9DE0-B16BE85E2E4C}"/>
              </a:ext>
            </a:extLst>
          </p:cNvPr>
          <p:cNvSpPr txBox="1"/>
          <p:nvPr/>
        </p:nvSpPr>
        <p:spPr>
          <a:xfrm>
            <a:off x="574731" y="9158130"/>
            <a:ext cx="140905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Email: </a:t>
            </a:r>
            <a:r>
              <a:rPr lang="it-IT" sz="280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bugbusters.unipd@gmail.com</a:t>
            </a:r>
            <a:endParaRPr lang="it-IT" sz="2800" noProof="0">
              <a:solidFill>
                <a:schemeClr val="bg1"/>
              </a:solidFill>
              <a:latin typeface="Neue Montreal"/>
              <a:ea typeface="Neue Montreal"/>
              <a:cs typeface="Neue Montreal"/>
              <a:sym typeface="Neue Montreal"/>
            </a:endParaRP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4C4BBFD6-8CFA-2491-F85A-138C11E6E5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45" y="101600"/>
            <a:ext cx="4259589" cy="4259589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B08B48BB-4431-9D32-F71A-097BB2431844}"/>
              </a:ext>
            </a:extLst>
          </p:cNvPr>
          <p:cNvSpPr txBox="1"/>
          <p:nvPr/>
        </p:nvSpPr>
        <p:spPr>
          <a:xfrm>
            <a:off x="13440229" y="3684670"/>
            <a:ext cx="11775719" cy="1890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15999" b="1" spc="-959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RTB </a:t>
            </a:r>
            <a:r>
              <a:rPr lang="it-IT" sz="96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endParaRPr lang="it-IT" sz="15999" b="1" spc="-959" noProof="0">
              <a:solidFill>
                <a:schemeClr val="bg1"/>
              </a:solidFill>
              <a:latin typeface="Goudy"/>
              <a:ea typeface="Goudy"/>
              <a:cs typeface="Goudy"/>
              <a:sym typeface="Goudy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2096D5D-DB21-53E0-3861-32B8BF451F0D}"/>
              </a:ext>
            </a:extLst>
          </p:cNvPr>
          <p:cNvSpPr txBox="1"/>
          <p:nvPr/>
        </p:nvSpPr>
        <p:spPr>
          <a:xfrm>
            <a:off x="7117080" y="4888560"/>
            <a:ext cx="11522445" cy="1536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4800" b="1" err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BugBusters</a:t>
            </a:r>
            <a:r>
              <a:rPr lang="it-IT" sz="48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r>
              <a:rPr lang="it-IT" sz="4800" b="1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gruppo 4 – A.A 2025-2026</a:t>
            </a:r>
          </a:p>
        </p:txBody>
      </p:sp>
      <p:pic>
        <p:nvPicPr>
          <p:cNvPr id="19" name="Immagine 18" descr="Immagine che contiene testo, emblema, simbolo, moneta&#10;&#10;Il contenuto generato dall'IA potrebbe non essere corretto.">
            <a:extLst>
              <a:ext uri="{FF2B5EF4-FFF2-40B4-BE49-F238E27FC236}">
                <a16:creationId xmlns:a16="http://schemas.microsoft.com/office/drawing/2014/main" id="{2EC70E5D-850D-B50B-EB21-19350D9B48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9927" y="7915702"/>
            <a:ext cx="1672092" cy="1672092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CCCA347-0A00-6B8B-9E89-704BAF7757C4}"/>
              </a:ext>
            </a:extLst>
          </p:cNvPr>
          <p:cNvSpPr txBox="1"/>
          <p:nvPr/>
        </p:nvSpPr>
        <p:spPr>
          <a:xfrm>
            <a:off x="477158" y="8189265"/>
            <a:ext cx="13024031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3200" noProof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Alberto Autiero, Marco Favero, Alberto Pignat, Marco Piro, Linor Sadè, Leonardo Salviato, Luca Slongo</a:t>
            </a:r>
          </a:p>
        </p:txBody>
      </p:sp>
    </p:spTree>
    <p:extLst>
      <p:ext uri="{BB962C8B-B14F-4D97-AF65-F5344CB8AC3E}">
        <p14:creationId xmlns:p14="http://schemas.microsoft.com/office/powerpoint/2010/main" val="1066741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19C9A-69B4-DE3B-DFD8-0882A4A61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tangolo 24">
            <a:extLst>
              <a:ext uri="{FF2B5EF4-FFF2-40B4-BE49-F238E27FC236}">
                <a16:creationId xmlns:a16="http://schemas.microsoft.com/office/drawing/2014/main" id="{5588580F-844B-B2DA-0A26-8E3308589F94}"/>
              </a:ext>
            </a:extLst>
          </p:cNvPr>
          <p:cNvSpPr/>
          <p:nvPr/>
        </p:nvSpPr>
        <p:spPr>
          <a:xfrm>
            <a:off x="975360" y="4824100"/>
            <a:ext cx="16257631" cy="4849586"/>
          </a:xfrm>
          <a:prstGeom prst="rect">
            <a:avLst/>
          </a:prstGeom>
          <a:solidFill>
            <a:srgbClr val="FFFA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B064F82F-6ED1-D553-5287-52BB61A55752}"/>
              </a:ext>
            </a:extLst>
          </p:cNvPr>
          <p:cNvSpPr/>
          <p:nvPr/>
        </p:nvSpPr>
        <p:spPr>
          <a:xfrm>
            <a:off x="13440229" y="1128870"/>
            <a:ext cx="3503202" cy="3501187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lstStyle/>
          <a:p>
            <a:endParaRPr lang="it-IT" noProof="0"/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89AEC884-3346-13DE-17DD-A38CFFC84DA2}"/>
              </a:ext>
            </a:extLst>
          </p:cNvPr>
          <p:cNvSpPr txBox="1"/>
          <p:nvPr/>
        </p:nvSpPr>
        <p:spPr>
          <a:xfrm>
            <a:off x="13440229" y="3684670"/>
            <a:ext cx="11775719" cy="1890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15999" b="1" spc="-959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r>
              <a:rPr lang="it-IT" sz="96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endParaRPr lang="it-IT" sz="15999" b="1" spc="-959" noProof="0">
              <a:solidFill>
                <a:schemeClr val="bg1"/>
              </a:solidFill>
              <a:latin typeface="Goudy"/>
              <a:ea typeface="Goudy"/>
              <a:cs typeface="Goudy"/>
              <a:sym typeface="Goudy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777261D-1AD4-B1B9-5421-429D951E8BF5}"/>
              </a:ext>
            </a:extLst>
          </p:cNvPr>
          <p:cNvSpPr txBox="1"/>
          <p:nvPr/>
        </p:nvSpPr>
        <p:spPr>
          <a:xfrm>
            <a:off x="-3941639" y="0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Il capitolato</a:t>
            </a:r>
          </a:p>
        </p:txBody>
      </p:sp>
      <p:pic>
        <p:nvPicPr>
          <p:cNvPr id="4" name="Immagine 3" descr="Immagine che contiene Carattere, Elementi grafici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890242A5-8CC1-FEF1-A360-9B6B4F250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5162" y="2293964"/>
            <a:ext cx="4008898" cy="1811312"/>
          </a:xfrm>
          <a:prstGeom prst="rect">
            <a:avLst/>
          </a:prstGeom>
        </p:spPr>
      </p:pic>
      <p:pic>
        <p:nvPicPr>
          <p:cNvPr id="15" name="Immagine 14" descr="Immagine che contiene Elementi grafici, clipart, grafica, Carattere&#10;&#10;Il contenuto generato dall'IA potrebbe non essere corretto.">
            <a:extLst>
              <a:ext uri="{FF2B5EF4-FFF2-40B4-BE49-F238E27FC236}">
                <a16:creationId xmlns:a16="http://schemas.microsoft.com/office/drawing/2014/main" id="{02BF439C-45B0-ABA1-9CF1-388AEB51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6659" y="2802516"/>
            <a:ext cx="2083220" cy="1577340"/>
          </a:xfrm>
          <a:prstGeom prst="rect">
            <a:avLst/>
          </a:prstGeom>
        </p:spPr>
      </p:pic>
      <p:pic>
        <p:nvPicPr>
          <p:cNvPr id="17" name="Immagine 16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39E97C48-A9CB-7EF5-4BCB-373FEF88B5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523" b="25040"/>
          <a:stretch>
            <a:fillRect/>
          </a:stretch>
        </p:blipFill>
        <p:spPr>
          <a:xfrm>
            <a:off x="10790518" y="2551471"/>
            <a:ext cx="3118652" cy="1697705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6E53A7E-F4B6-3667-A24F-108A9F4EEF4B}"/>
              </a:ext>
            </a:extLst>
          </p:cNvPr>
          <p:cNvSpPr txBox="1"/>
          <p:nvPr/>
        </p:nvSpPr>
        <p:spPr>
          <a:xfrm>
            <a:off x="1002836" y="4948583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2 moduli: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94D38622-849C-2D14-2696-16CA3E7D65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601" b="26885"/>
          <a:stretch>
            <a:fillRect/>
          </a:stretch>
        </p:blipFill>
        <p:spPr>
          <a:xfrm>
            <a:off x="719729" y="5690254"/>
            <a:ext cx="8738323" cy="2826216"/>
          </a:xfrm>
          <a:prstGeom prst="rect">
            <a:avLst/>
          </a:prstGeom>
        </p:spPr>
      </p:pic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EEBDBC83-117C-58AC-806F-18941F657912}"/>
              </a:ext>
            </a:extLst>
          </p:cNvPr>
          <p:cNvSpPr txBox="1"/>
          <p:nvPr/>
        </p:nvSpPr>
        <p:spPr>
          <a:xfrm>
            <a:off x="1285943" y="8437466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1. Ai Assistant Generativo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A3E0BFD6-57F9-1E60-9B4D-EBE2568D6E15}"/>
              </a:ext>
            </a:extLst>
          </p:cNvPr>
          <p:cNvSpPr txBox="1"/>
          <p:nvPr/>
        </p:nvSpPr>
        <p:spPr>
          <a:xfrm>
            <a:off x="10465793" y="8485183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2. Ai Co-pilot per </a:t>
            </a:r>
            <a:r>
              <a:rPr lang="it-IT" sz="3600" b="1" err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CdL</a:t>
            </a:r>
            <a:endParaRPr lang="it-IT" sz="3600" b="1">
              <a:solidFill>
                <a:srgbClr val="2A84C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29354012-DA4A-4DE4-0650-E5FDCACFE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400" r="10400"/>
          <a:stretch/>
        </p:blipFill>
        <p:spPr>
          <a:xfrm>
            <a:off x="9413380" y="4899831"/>
            <a:ext cx="7819611" cy="4071650"/>
          </a:xfrm>
          <a:prstGeom prst="rect">
            <a:avLst/>
          </a:prstGeom>
        </p:spPr>
      </p:pic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AECCA5ED-F72D-2C31-26D7-3920B1B576B6}"/>
              </a:ext>
            </a:extLst>
          </p:cNvPr>
          <p:cNvCxnSpPr/>
          <p:nvPr/>
        </p:nvCxnSpPr>
        <p:spPr>
          <a:xfrm>
            <a:off x="9144000" y="5143500"/>
            <a:ext cx="0" cy="4162357"/>
          </a:xfrm>
          <a:prstGeom prst="line">
            <a:avLst/>
          </a:prstGeom>
          <a:ln w="38100">
            <a:solidFill>
              <a:srgbClr val="2A84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FBB9C0A-B86D-27FC-0544-5C27B3D83C75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chemeClr val="bg1"/>
                </a:solidFill>
                <a:latin typeface="Calibri"/>
              </a:rPr>
              <a:t>1/11</a:t>
            </a:r>
            <a:endParaRPr lang="it-IT" sz="4000" kern="1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chemeClr val="bg1"/>
              </a:solidFill>
            </a:endParaRPr>
          </a:p>
        </p:txBody>
      </p:sp>
      <p:sp>
        <p:nvSpPr>
          <p:cNvPr id="35" name="Rettangolo 34">
            <a:extLst>
              <a:ext uri="{FF2B5EF4-FFF2-40B4-BE49-F238E27FC236}">
                <a16:creationId xmlns:a16="http://schemas.microsoft.com/office/drawing/2014/main" id="{BFFCD83A-8DFD-7250-0E96-BB791B2275F5}"/>
              </a:ext>
            </a:extLst>
          </p:cNvPr>
          <p:cNvSpPr/>
          <p:nvPr/>
        </p:nvSpPr>
        <p:spPr>
          <a:xfrm>
            <a:off x="12867640" y="7665720"/>
            <a:ext cx="96520" cy="177800"/>
          </a:xfrm>
          <a:prstGeom prst="rect">
            <a:avLst/>
          </a:prstGeom>
          <a:solidFill>
            <a:srgbClr val="FFFA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6" name="Input penna 35">
                <a:extLst>
                  <a:ext uri="{FF2B5EF4-FFF2-40B4-BE49-F238E27FC236}">
                    <a16:creationId xmlns:a16="http://schemas.microsoft.com/office/drawing/2014/main" id="{CD5B6E7E-9550-26BE-A1D7-4F2675D584D6}"/>
                  </a:ext>
                </a:extLst>
              </p14:cNvPr>
              <p14:cNvContentPartPr/>
              <p14:nvPr/>
            </p14:nvContentPartPr>
            <p14:xfrm>
              <a:off x="12875720" y="7696120"/>
              <a:ext cx="72720" cy="111960"/>
            </p14:xfrm>
          </p:contentPart>
        </mc:Choice>
        <mc:Fallback xmlns="">
          <p:pic>
            <p:nvPicPr>
              <p:cNvPr id="36" name="Input penna 35">
                <a:extLst>
                  <a:ext uri="{FF2B5EF4-FFF2-40B4-BE49-F238E27FC236}">
                    <a16:creationId xmlns:a16="http://schemas.microsoft.com/office/drawing/2014/main" id="{CD5B6E7E-9550-26BE-A1D7-4F2675D584D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866720" y="7687120"/>
                <a:ext cx="9036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9" name="Input penna 38">
                <a:extLst>
                  <a:ext uri="{FF2B5EF4-FFF2-40B4-BE49-F238E27FC236}">
                    <a16:creationId xmlns:a16="http://schemas.microsoft.com/office/drawing/2014/main" id="{7F05277E-8EE5-F465-18C0-2EA281F1412E}"/>
                  </a:ext>
                </a:extLst>
              </p14:cNvPr>
              <p14:cNvContentPartPr/>
              <p14:nvPr/>
            </p14:nvContentPartPr>
            <p14:xfrm>
              <a:off x="9356120" y="7259240"/>
              <a:ext cx="6840" cy="185760"/>
            </p14:xfrm>
          </p:contentPart>
        </mc:Choice>
        <mc:Fallback xmlns="">
          <p:pic>
            <p:nvPicPr>
              <p:cNvPr id="39" name="Input penna 38">
                <a:extLst>
                  <a:ext uri="{FF2B5EF4-FFF2-40B4-BE49-F238E27FC236}">
                    <a16:creationId xmlns:a16="http://schemas.microsoft.com/office/drawing/2014/main" id="{7F05277E-8EE5-F465-18C0-2EA281F1412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347570" y="7250240"/>
                <a:ext cx="23598" cy="20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5363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A2C17C2-72C8-34CA-E2D9-735801351B0D}"/>
              </a:ext>
            </a:extLst>
          </p:cNvPr>
          <p:cNvSpPr/>
          <p:nvPr/>
        </p:nvSpPr>
        <p:spPr>
          <a:xfrm>
            <a:off x="-191729" y="2219510"/>
            <a:ext cx="17203279" cy="98482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784312" y="2218123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  <a:defRPr/>
            </a:pPr>
            <a:r>
              <a:rPr kumimoji="0" lang="it-IT" sz="3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937478"/>
              </p:ext>
            </p:extLst>
          </p:nvPr>
        </p:nvGraphicFramePr>
        <p:xfrm>
          <a:off x="2073962" y="4174519"/>
          <a:ext cx="12216909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4687812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366288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366288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2796521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Categoria Requisito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Tipo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Quantità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Totale Categoria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Funzionali (RF)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97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Opzionali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132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Requisiti di Qualità (RQ)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di Vincolo (RV)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Opzionali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Prestazionali (RP)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Desiderabili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TOTALE COMPLESSIVO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16BBE9F-60AC-8E69-3A36-7DAD84627103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2/11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F411D4D-B621-931E-0771-7A56090A3B4A}"/>
              </a:ext>
            </a:extLst>
          </p:cNvPr>
          <p:cNvSpPr txBox="1"/>
          <p:nvPr/>
        </p:nvSpPr>
        <p:spPr>
          <a:xfrm>
            <a:off x="364890" y="196387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Comprensione obiettivi capitolato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66033F0-7B3D-D1CC-1626-60953C50D33D}"/>
              </a:ext>
            </a:extLst>
          </p:cNvPr>
          <p:cNvSpPr txBox="1"/>
          <p:nvPr/>
        </p:nvSpPr>
        <p:spPr>
          <a:xfrm>
            <a:off x="149009" y="22745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3EF709-C8F0-D79A-38AB-E24100E38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507774E-6A9A-870C-E2DF-05E511E5C130}"/>
              </a:ext>
            </a:extLst>
          </p:cNvPr>
          <p:cNvGrpSpPr/>
          <p:nvPr/>
        </p:nvGrpSpPr>
        <p:grpSpPr>
          <a:xfrm>
            <a:off x="306833" y="305004"/>
            <a:ext cx="13917167" cy="1726067"/>
            <a:chOff x="-1056640" y="207564"/>
            <a:chExt cx="23422050" cy="417813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02F7C10-0092-A8E2-3412-0DC98769088B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722F7C7-ED8C-3718-3250-E573ABF4970B}"/>
                </a:ext>
              </a:extLst>
            </p:cNvPr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BEA5CFF-7790-1075-1F89-D24B90646DF5}"/>
                  </a:ext>
                </a:extLst>
              </p14:cNvPr>
              <p14:cNvContentPartPr/>
              <p14:nvPr/>
            </p14:nvContentPartPr>
            <p14:xfrm>
              <a:off x="5043817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BEA5CFF-7790-1075-1F89-D24B90646D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37697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8B00520-D945-824F-3784-A6D23E74944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3/11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9526A21-C6DB-25D3-B655-10B927A23284}"/>
              </a:ext>
            </a:extLst>
          </p:cNvPr>
          <p:cNvSpPr txBox="1"/>
          <p:nvPr/>
        </p:nvSpPr>
        <p:spPr>
          <a:xfrm>
            <a:off x="0" y="186369"/>
            <a:ext cx="11844547" cy="17134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ts val="15212"/>
              </a:lnSpc>
              <a:defRPr/>
            </a:pPr>
            <a:r>
              <a:rPr lang="it-IT" sz="5400" b="1">
                <a:solidFill>
                  <a:srgbClr val="2A84C0"/>
                </a:solidFill>
                <a:latin typeface="Verdana"/>
                <a:ea typeface="Verdana"/>
                <a:cs typeface="CordiaUPC"/>
              </a:rPr>
              <a:t>Aree di rischio tecnologico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6498F8-8547-7A38-AC48-5A6E846A7BF6}"/>
              </a:ext>
            </a:extLst>
          </p:cNvPr>
          <p:cNvSpPr/>
          <p:nvPr/>
        </p:nvSpPr>
        <p:spPr>
          <a:xfrm>
            <a:off x="729282" y="2251539"/>
            <a:ext cx="5561331" cy="72188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9" name="Rectangle: Rounded Corners 10">
            <a:extLst>
              <a:ext uri="{FF2B5EF4-FFF2-40B4-BE49-F238E27FC236}">
                <a16:creationId xmlns:a16="http://schemas.microsoft.com/office/drawing/2014/main" id="{89EFCC9B-36B4-6E94-49B1-C4A09F15530A}"/>
              </a:ext>
            </a:extLst>
          </p:cNvPr>
          <p:cNvSpPr/>
          <p:nvPr/>
        </p:nvSpPr>
        <p:spPr>
          <a:xfrm>
            <a:off x="6687684" y="2251541"/>
            <a:ext cx="5427735" cy="721879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9" name="Rectangle: Rounded Corners 10">
            <a:extLst>
              <a:ext uri="{FF2B5EF4-FFF2-40B4-BE49-F238E27FC236}">
                <a16:creationId xmlns:a16="http://schemas.microsoft.com/office/drawing/2014/main" id="{8788E12A-3601-5873-2D75-401E9CAAF728}"/>
              </a:ext>
            </a:extLst>
          </p:cNvPr>
          <p:cNvSpPr/>
          <p:nvPr/>
        </p:nvSpPr>
        <p:spPr>
          <a:xfrm>
            <a:off x="1167693" y="2596614"/>
            <a:ext cx="4685323" cy="1620113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0" name="Rectangle: Rounded Corners 10">
            <a:extLst>
              <a:ext uri="{FF2B5EF4-FFF2-40B4-BE49-F238E27FC236}">
                <a16:creationId xmlns:a16="http://schemas.microsoft.com/office/drawing/2014/main" id="{839BC7A9-9A1A-DF76-C76C-67359E9CF825}"/>
              </a:ext>
            </a:extLst>
          </p:cNvPr>
          <p:cNvSpPr/>
          <p:nvPr/>
        </p:nvSpPr>
        <p:spPr>
          <a:xfrm>
            <a:off x="6947965" y="2596615"/>
            <a:ext cx="4893141" cy="158961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580B53-6374-5D8E-DF8F-F8E2D6BCEB5C}"/>
              </a:ext>
            </a:extLst>
          </p:cNvPr>
          <p:cNvSpPr txBox="1"/>
          <p:nvPr/>
        </p:nvSpPr>
        <p:spPr>
          <a:xfrm>
            <a:off x="1758816" y="3654238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63F637D-245B-9FFF-922D-F4A75849A576}"/>
              </a:ext>
            </a:extLst>
          </p:cNvPr>
          <p:cNvSpPr txBox="1"/>
          <p:nvPr/>
        </p:nvSpPr>
        <p:spPr>
          <a:xfrm>
            <a:off x="1336990" y="2634810"/>
            <a:ext cx="4330839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200">
                <a:solidFill>
                  <a:schemeClr val="bg1"/>
                </a:solidFill>
                <a:ea typeface="Calibri"/>
                <a:cs typeface="Calibri"/>
              </a:rPr>
              <a:t>Rischio tecnologico legato alle tecnologie utilizzate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AE0FD8F-C942-070C-DA6E-551994368C08}"/>
              </a:ext>
            </a:extLst>
          </p:cNvPr>
          <p:cNvSpPr txBox="1"/>
          <p:nvPr/>
        </p:nvSpPr>
        <p:spPr>
          <a:xfrm>
            <a:off x="7023924" y="2866229"/>
            <a:ext cx="4746476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200">
                <a:solidFill>
                  <a:schemeClr val="bg1"/>
                </a:solidFill>
                <a:ea typeface="Calibri"/>
                <a:cs typeface="Calibri"/>
              </a:rPr>
              <a:t>Rischio tecnologico legato alla correzione di errori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1ACA64D-8E24-D1AC-A5C7-9E2C2005A0BB}"/>
              </a:ext>
            </a:extLst>
          </p:cNvPr>
          <p:cNvSpPr txBox="1"/>
          <p:nvPr/>
        </p:nvSpPr>
        <p:spPr>
          <a:xfrm>
            <a:off x="1161162" y="4784399"/>
            <a:ext cx="4503697" cy="27221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400">
                <a:ea typeface="Calibri"/>
                <a:cs typeface="Calibri"/>
              </a:rPr>
              <a:t>Probabile frequenza:  Alta</a:t>
            </a:r>
          </a:p>
          <a:p>
            <a:pPr algn="just"/>
            <a:endParaRPr lang="it-IT" sz="2400">
              <a:ea typeface="Calibri"/>
              <a:cs typeface="Calibri"/>
            </a:endParaRPr>
          </a:p>
          <a:p>
            <a:pPr algn="just"/>
            <a:r>
              <a:rPr lang="it-IT" sz="2400">
                <a:ea typeface="Calibri"/>
                <a:cs typeface="Calibri"/>
              </a:rPr>
              <a:t>Pericolosità: Elevata</a:t>
            </a:r>
          </a:p>
          <a:p>
            <a:pPr algn="just"/>
            <a:endParaRPr lang="it-IT" sz="2400">
              <a:ea typeface="Calibri"/>
              <a:cs typeface="Calibri"/>
            </a:endParaRPr>
          </a:p>
          <a:p>
            <a:pPr algn="just"/>
            <a:r>
              <a:rPr lang="it-IT" sz="2400">
                <a:ea typeface="Calibri"/>
                <a:cs typeface="Calibri"/>
              </a:rPr>
              <a:t>Mitigazione: </a:t>
            </a:r>
            <a:r>
              <a:rPr lang="it-IT" sz="2400">
                <a:ea typeface="+mn-lt"/>
                <a:cs typeface="+mn-lt"/>
              </a:rPr>
              <a:t>Prevedere nella pianificazione del tempo l'attività di formazione personale</a:t>
            </a:r>
            <a:endParaRPr lang="it-IT" sz="2400">
              <a:ea typeface="Calibri"/>
              <a:cs typeface="Calibri"/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957700C-C61A-1252-DCF2-0D2D48B8B1C0}"/>
              </a:ext>
            </a:extLst>
          </p:cNvPr>
          <p:cNvSpPr txBox="1"/>
          <p:nvPr/>
        </p:nvSpPr>
        <p:spPr>
          <a:xfrm>
            <a:off x="7025010" y="4606268"/>
            <a:ext cx="4645834" cy="41252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400">
                <a:ea typeface="Calibri"/>
                <a:cs typeface="Calibri"/>
              </a:rPr>
              <a:t>Probabile frequenza:  Alta</a:t>
            </a:r>
          </a:p>
          <a:p>
            <a:pPr algn="just"/>
            <a:endParaRPr lang="it-IT" sz="2400">
              <a:ea typeface="Calibri"/>
              <a:cs typeface="Calibri"/>
            </a:endParaRPr>
          </a:p>
          <a:p>
            <a:pPr algn="just"/>
            <a:r>
              <a:rPr lang="it-IT" sz="2400">
                <a:ea typeface="Calibri"/>
                <a:cs typeface="Calibri"/>
              </a:rPr>
              <a:t>Pericolosità: Elevata</a:t>
            </a:r>
          </a:p>
          <a:p>
            <a:pPr algn="just"/>
            <a:endParaRPr lang="it-IT" sz="2400">
              <a:ea typeface="Calibri"/>
              <a:cs typeface="Calibri"/>
            </a:endParaRPr>
          </a:p>
          <a:p>
            <a:pPr algn="just"/>
            <a:r>
              <a:rPr lang="it-IT" sz="2400">
                <a:ea typeface="Calibri"/>
                <a:cs typeface="Calibri"/>
              </a:rPr>
              <a:t>Mitigazione: Nel caso in cui il programmatore riscontrasse grosse difficoltà nel risolvere un problema, potrà chiedere aiuto ad altri membri del gruppo. </a:t>
            </a:r>
            <a:r>
              <a:rPr lang="it-IT" sz="2400">
                <a:ea typeface="+mn-lt"/>
                <a:cs typeface="+mn-lt"/>
              </a:rPr>
              <a:t>Per problemi particolarmente gravi, le attività meno urgenti verranno posticipate</a:t>
            </a:r>
            <a:endParaRPr lang="it-IT" sz="2400">
              <a:ea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Input penna 17">
                <a:extLst>
                  <a:ext uri="{FF2B5EF4-FFF2-40B4-BE49-F238E27FC236}">
                    <a16:creationId xmlns:a16="http://schemas.microsoft.com/office/drawing/2014/main" id="{7338D50E-66F4-C615-5E90-31C8F8AE02EC}"/>
                  </a:ext>
                </a:extLst>
              </p14:cNvPr>
              <p14:cNvContentPartPr/>
              <p14:nvPr/>
            </p14:nvContentPartPr>
            <p14:xfrm>
              <a:off x="19398116" y="7504026"/>
              <a:ext cx="360" cy="360"/>
            </p14:xfrm>
          </p:contentPart>
        </mc:Choice>
        <mc:Fallback xmlns="">
          <p:pic>
            <p:nvPicPr>
              <p:cNvPr id="18" name="Input penna 17">
                <a:extLst>
                  <a:ext uri="{FF2B5EF4-FFF2-40B4-BE49-F238E27FC236}">
                    <a16:creationId xmlns:a16="http://schemas.microsoft.com/office/drawing/2014/main" id="{7338D50E-66F4-C615-5E90-31C8F8AE02E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391996" y="7497906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Rectangle: Rounded Corners 10">
            <a:extLst>
              <a:ext uri="{FF2B5EF4-FFF2-40B4-BE49-F238E27FC236}">
                <a16:creationId xmlns:a16="http://schemas.microsoft.com/office/drawing/2014/main" id="{50DE1F86-3B04-4388-190A-4B3241A5E9E0}"/>
              </a:ext>
            </a:extLst>
          </p:cNvPr>
          <p:cNvSpPr/>
          <p:nvPr/>
        </p:nvSpPr>
        <p:spPr>
          <a:xfrm>
            <a:off x="12560074" y="2251539"/>
            <a:ext cx="5086318" cy="733755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22" name="Rectangle: Rounded Corners 10">
            <a:extLst>
              <a:ext uri="{FF2B5EF4-FFF2-40B4-BE49-F238E27FC236}">
                <a16:creationId xmlns:a16="http://schemas.microsoft.com/office/drawing/2014/main" id="{DBC9BF5C-AFFB-5B8B-BADD-9DB3B167C16A}"/>
              </a:ext>
            </a:extLst>
          </p:cNvPr>
          <p:cNvSpPr/>
          <p:nvPr/>
        </p:nvSpPr>
        <p:spPr>
          <a:xfrm>
            <a:off x="12820355" y="2581769"/>
            <a:ext cx="4507192" cy="1620113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348ED8C9-76CB-BD3E-E7EA-6EB2AA9BA4AF}"/>
              </a:ext>
            </a:extLst>
          </p:cNvPr>
          <p:cNvSpPr txBox="1"/>
          <p:nvPr/>
        </p:nvSpPr>
        <p:spPr>
          <a:xfrm>
            <a:off x="12291976" y="3080133"/>
            <a:ext cx="556290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200">
                <a:solidFill>
                  <a:schemeClr val="bg1"/>
                </a:solidFill>
                <a:ea typeface="Calibri"/>
                <a:cs typeface="Calibri"/>
              </a:rPr>
              <a:t>Tecnologie utilizzate</a:t>
            </a:r>
          </a:p>
        </p:txBody>
      </p:sp>
      <p:pic>
        <p:nvPicPr>
          <p:cNvPr id="2" name="Immagine 1" descr="Angular - YouTube">
            <a:extLst>
              <a:ext uri="{FF2B5EF4-FFF2-40B4-BE49-F238E27FC236}">
                <a16:creationId xmlns:a16="http://schemas.microsoft.com/office/drawing/2014/main" id="{A1209804-12DB-3BC6-6816-45055BBBB3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77502" y="4612821"/>
            <a:ext cx="2144981" cy="2085605"/>
          </a:xfrm>
          <a:prstGeom prst="rect">
            <a:avLst/>
          </a:prstGeom>
        </p:spPr>
      </p:pic>
      <p:pic>
        <p:nvPicPr>
          <p:cNvPr id="7" name="Immagine 6" descr="GitHub - rails/rails: Ruby on Rails">
            <a:extLst>
              <a:ext uri="{FF2B5EF4-FFF2-40B4-BE49-F238E27FC236}">
                <a16:creationId xmlns:a16="http://schemas.microsoft.com/office/drawing/2014/main" id="{AC0019B1-C915-AE36-CD24-875DA082F3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129906" y="4612820"/>
            <a:ext cx="2055916" cy="2085605"/>
          </a:xfrm>
          <a:prstGeom prst="rect">
            <a:avLst/>
          </a:prstGeom>
        </p:spPr>
      </p:pic>
      <p:pic>
        <p:nvPicPr>
          <p:cNvPr id="27" name="Immagine 26" descr="Amazon Web Services (AWS) - inovex GmbH">
            <a:extLst>
              <a:ext uri="{FF2B5EF4-FFF2-40B4-BE49-F238E27FC236}">
                <a16:creationId xmlns:a16="http://schemas.microsoft.com/office/drawing/2014/main" id="{95B041E9-2C2B-B6E2-39C7-2B4CFEF8396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41" t="-233" r="414" b="4000"/>
          <a:stretch>
            <a:fillRect/>
          </a:stretch>
        </p:blipFill>
        <p:spPr>
          <a:xfrm>
            <a:off x="12977502" y="6691003"/>
            <a:ext cx="2145731" cy="2243249"/>
          </a:xfrm>
          <a:prstGeom prst="rect">
            <a:avLst/>
          </a:prstGeom>
        </p:spPr>
      </p:pic>
      <p:sp>
        <p:nvSpPr>
          <p:cNvPr id="29" name="Rettangolo 28">
            <a:extLst>
              <a:ext uri="{FF2B5EF4-FFF2-40B4-BE49-F238E27FC236}">
                <a16:creationId xmlns:a16="http://schemas.microsoft.com/office/drawing/2014/main" id="{DE5D9FCD-51A4-D018-1CC6-16455F4E1847}"/>
              </a:ext>
            </a:extLst>
          </p:cNvPr>
          <p:cNvSpPr/>
          <p:nvPr/>
        </p:nvSpPr>
        <p:spPr>
          <a:xfrm>
            <a:off x="15126194" y="6694713"/>
            <a:ext cx="2063338" cy="22414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8" name="Immagine 27" descr="PostgreSQL Reviews 2026: Details, Pricing, &amp; Features | G2">
            <a:extLst>
              <a:ext uri="{FF2B5EF4-FFF2-40B4-BE49-F238E27FC236}">
                <a16:creationId xmlns:a16="http://schemas.microsoft.com/office/drawing/2014/main" id="{9E7124A2-E576-7C5C-7159-6E884D7EFA6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32380" y="6693476"/>
            <a:ext cx="2050969" cy="203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048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FAA81E-561E-7339-ECB8-1A531B0C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0FC5697-CAA4-557B-EA14-D4D179DEEF1D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4/11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10640-8AE0-2DAF-0BA7-AB8CA701E31E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(1/3)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FABBACEC-B28B-02BB-A1FB-81A13E460B2B}"/>
              </a:ext>
            </a:extLst>
          </p:cNvPr>
          <p:cNvSpPr/>
          <p:nvPr/>
        </p:nvSpPr>
        <p:spPr>
          <a:xfrm>
            <a:off x="736598" y="2493162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D9FF6F5-DC08-4908-5B2C-DF7B1E09D9A0}"/>
              </a:ext>
            </a:extLst>
          </p:cNvPr>
          <p:cNvSpPr/>
          <p:nvPr/>
        </p:nvSpPr>
        <p:spPr>
          <a:xfrm>
            <a:off x="9780519" y="2489930"/>
            <a:ext cx="7589451" cy="1513067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E07E5AD-5251-C1EB-C9E4-4BD3986537C5}"/>
              </a:ext>
            </a:extLst>
          </p:cNvPr>
          <p:cNvSpPr txBox="1"/>
          <p:nvPr/>
        </p:nvSpPr>
        <p:spPr>
          <a:xfrm>
            <a:off x="7104551" y="1762797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46305E9-3757-C2D7-103C-86F46370BD5F}"/>
              </a:ext>
            </a:extLst>
          </p:cNvPr>
          <p:cNvSpPr txBox="1"/>
          <p:nvPr/>
        </p:nvSpPr>
        <p:spPr>
          <a:xfrm>
            <a:off x="6833667" y="807221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3951BC7-7897-043C-966D-13D94345C70A}"/>
              </a:ext>
            </a:extLst>
          </p:cNvPr>
          <p:cNvSpPr txBox="1"/>
          <p:nvPr/>
        </p:nvSpPr>
        <p:spPr>
          <a:xfrm>
            <a:off x="15425148" y="68156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28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1EFCFA0-C72E-4A2E-A605-5535C039F769}"/>
              </a:ext>
            </a:extLst>
          </p:cNvPr>
          <p:cNvSpPr txBox="1"/>
          <p:nvPr/>
        </p:nvSpPr>
        <p:spPr>
          <a:xfrm>
            <a:off x="15630437" y="167176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D2B6186-521C-0091-6E45-0D38DC2FEC71}"/>
              </a:ext>
            </a:extLst>
          </p:cNvPr>
          <p:cNvSpPr txBox="1"/>
          <p:nvPr/>
        </p:nvSpPr>
        <p:spPr>
          <a:xfrm>
            <a:off x="8877968" y="28808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0843A5F-F5E3-47D6-9411-B31B5F93B768}"/>
              </a:ext>
            </a:extLst>
          </p:cNvPr>
          <p:cNvSpPr/>
          <p:nvPr/>
        </p:nvSpPr>
        <p:spPr>
          <a:xfrm>
            <a:off x="736598" y="4846688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6CC84ACF-091B-C49F-ED66-017A68931CF7}"/>
              </a:ext>
            </a:extLst>
          </p:cNvPr>
          <p:cNvSpPr/>
          <p:nvPr/>
        </p:nvSpPr>
        <p:spPr>
          <a:xfrm>
            <a:off x="9799414" y="4818988"/>
            <a:ext cx="7589451" cy="1677628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BB3EBB3-C3B1-B78E-9FE5-CC428744CB10}"/>
              </a:ext>
            </a:extLst>
          </p:cNvPr>
          <p:cNvSpPr txBox="1"/>
          <p:nvPr/>
        </p:nvSpPr>
        <p:spPr>
          <a:xfrm>
            <a:off x="7115995" y="407844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02.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F9D7C2EE-9DEE-5C21-926E-2838C9B184F4}"/>
              </a:ext>
            </a:extLst>
          </p:cNvPr>
          <p:cNvSpPr txBox="1"/>
          <p:nvPr/>
        </p:nvSpPr>
        <p:spPr>
          <a:xfrm>
            <a:off x="15630437" y="4062432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02.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C8ECA93-478A-EB21-890C-6AE6B4A244D0}"/>
              </a:ext>
            </a:extLst>
          </p:cNvPr>
          <p:cNvSpPr txBox="1"/>
          <p:nvPr/>
        </p:nvSpPr>
        <p:spPr>
          <a:xfrm>
            <a:off x="8877968" y="5234417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21B7F35-7362-E3FE-3203-1EF5F26B8251}"/>
              </a:ext>
            </a:extLst>
          </p:cNvPr>
          <p:cNvSpPr txBox="1"/>
          <p:nvPr/>
        </p:nvSpPr>
        <p:spPr>
          <a:xfrm>
            <a:off x="945178" y="2585939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 dirty="0"/>
              <a:t>Verifica e approvazione</a:t>
            </a:r>
            <a:r>
              <a:rPr lang="it-IT" sz="2400" b="1" dirty="0"/>
              <a:t> 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D7C9A007-BDB9-2C15-7C85-6588525CD2C2}"/>
              </a:ext>
            </a:extLst>
          </p:cNvPr>
          <p:cNvSpPr txBox="1"/>
          <p:nvPr/>
        </p:nvSpPr>
        <p:spPr>
          <a:xfrm>
            <a:off x="945178" y="3073091"/>
            <a:ext cx="65305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Un </a:t>
            </a:r>
            <a:r>
              <a:rPr lang="it-IT" sz="2400" err="1"/>
              <a:t>branch</a:t>
            </a:r>
            <a:r>
              <a:rPr lang="it-IT" sz="2400"/>
              <a:t> per la verifica, uno per l’approvazione</a:t>
            </a:r>
          </a:p>
          <a:p>
            <a:r>
              <a:rPr lang="it-IT" sz="2400" b="1"/>
              <a:t>CONTRO: difficile tracciamento e comunicazione 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6F4D7E75-6E69-3235-8554-2E58E40D2877}"/>
              </a:ext>
            </a:extLst>
          </p:cNvPr>
          <p:cNvSpPr txBox="1"/>
          <p:nvPr/>
        </p:nvSpPr>
        <p:spPr>
          <a:xfrm>
            <a:off x="9970891" y="2476298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Verifica e approvazione</a:t>
            </a:r>
            <a:r>
              <a:rPr lang="it-IT" sz="2400" b="1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FFF05550-613F-88A4-4502-65DE543E9E8B}"/>
              </a:ext>
            </a:extLst>
          </p:cNvPr>
          <p:cNvSpPr txBox="1"/>
          <p:nvPr/>
        </p:nvSpPr>
        <p:spPr>
          <a:xfrm>
            <a:off x="9970891" y="2964510"/>
            <a:ext cx="63518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1"/>
                </a:solidFill>
              </a:rPr>
              <a:t>Pull </a:t>
            </a:r>
            <a:r>
              <a:rPr lang="it-IT" sz="2400" b="1" dirty="0" err="1">
                <a:solidFill>
                  <a:schemeClr val="bg1"/>
                </a:solidFill>
              </a:rPr>
              <a:t>request</a:t>
            </a:r>
            <a:r>
              <a:rPr lang="it-IT" sz="2400" b="1" dirty="0">
                <a:solidFill>
                  <a:schemeClr val="bg1"/>
                </a:solidFill>
              </a:rPr>
              <a:t> </a:t>
            </a:r>
            <a:r>
              <a:rPr lang="it-IT" sz="2400" dirty="0">
                <a:solidFill>
                  <a:schemeClr val="bg1"/>
                </a:solidFill>
              </a:rPr>
              <a:t>al </a:t>
            </a:r>
            <a:r>
              <a:rPr lang="it-IT" sz="2400" dirty="0" err="1">
                <a:solidFill>
                  <a:schemeClr val="bg1"/>
                </a:solidFill>
              </a:rPr>
              <a:t>main</a:t>
            </a:r>
            <a:r>
              <a:rPr lang="it-IT" sz="2400" dirty="0">
                <a:solidFill>
                  <a:schemeClr val="bg1"/>
                </a:solidFill>
              </a:rPr>
              <a:t> in cui si specificano verificatori e responsabile</a:t>
            </a:r>
            <a:endParaRPr lang="it-IT" sz="2400" b="1" dirty="0">
              <a:solidFill>
                <a:schemeClr val="bg1"/>
              </a:solidFill>
            </a:endParaRP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AA4CA33E-829D-67D5-1D2E-CEBECC73C101}"/>
              </a:ext>
            </a:extLst>
          </p:cNvPr>
          <p:cNvSpPr txBox="1"/>
          <p:nvPr/>
        </p:nvSpPr>
        <p:spPr>
          <a:xfrm>
            <a:off x="945178" y="4942029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Glossario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6C691228-DF69-8F2E-9679-529F865824CB}"/>
              </a:ext>
            </a:extLst>
          </p:cNvPr>
          <p:cNvSpPr txBox="1"/>
          <p:nvPr/>
        </p:nvSpPr>
        <p:spPr>
          <a:xfrm>
            <a:off x="945178" y="5372027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Aprire il file e cercare in ordine alfabetico il termine</a:t>
            </a:r>
          </a:p>
          <a:p>
            <a:r>
              <a:rPr lang="it-IT" sz="2400" b="1"/>
              <a:t>CONTRO: macchinoso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FDF3FD8-93F0-5439-C72F-11E0123F1978}"/>
              </a:ext>
            </a:extLst>
          </p:cNvPr>
          <p:cNvSpPr txBox="1"/>
          <p:nvPr/>
        </p:nvSpPr>
        <p:spPr>
          <a:xfrm>
            <a:off x="9945194" y="4799781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Glossario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CA4DBF35-C7DE-97A6-5E0C-82E8062DA6A4}"/>
              </a:ext>
            </a:extLst>
          </p:cNvPr>
          <p:cNvSpPr txBox="1"/>
          <p:nvPr/>
        </p:nvSpPr>
        <p:spPr>
          <a:xfrm>
            <a:off x="9970891" y="5242117"/>
            <a:ext cx="75515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Glossario disponibile nel sito, comodamente</a:t>
            </a:r>
          </a:p>
          <a:p>
            <a:r>
              <a:rPr lang="it-IT" sz="2400">
                <a:solidFill>
                  <a:schemeClr val="bg1"/>
                </a:solidFill>
              </a:rPr>
              <a:t>accanto al </a:t>
            </a:r>
            <a:r>
              <a:rPr lang="it-IT" sz="2400" err="1">
                <a:solidFill>
                  <a:schemeClr val="bg1"/>
                </a:solidFill>
              </a:rPr>
              <a:t>viewer</a:t>
            </a:r>
            <a:r>
              <a:rPr lang="it-IT" sz="2400">
                <a:solidFill>
                  <a:schemeClr val="bg1"/>
                </a:solidFill>
              </a:rPr>
              <a:t> pdf </a:t>
            </a:r>
          </a:p>
          <a:p>
            <a:r>
              <a:rPr lang="it-IT" sz="2400" b="1">
                <a:solidFill>
                  <a:schemeClr val="bg1"/>
                </a:solidFill>
              </a:rPr>
              <a:t>PRO</a:t>
            </a:r>
            <a:r>
              <a:rPr lang="it-IT" sz="2400">
                <a:solidFill>
                  <a:schemeClr val="bg1"/>
                </a:solidFill>
              </a:rPr>
              <a:t>: accesso rapido, integrato, automatizzato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0DDC3156-E32F-D578-0089-D3231586C212}"/>
              </a:ext>
            </a:extLst>
          </p:cNvPr>
          <p:cNvSpPr/>
          <p:nvPr/>
        </p:nvSpPr>
        <p:spPr>
          <a:xfrm>
            <a:off x="720780" y="7149309"/>
            <a:ext cx="8213320" cy="177106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85A69DA3-18DF-B4F0-AE9F-88E618DACB84}"/>
              </a:ext>
            </a:extLst>
          </p:cNvPr>
          <p:cNvSpPr/>
          <p:nvPr/>
        </p:nvSpPr>
        <p:spPr>
          <a:xfrm>
            <a:off x="9852469" y="7149310"/>
            <a:ext cx="7589451" cy="1799602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9E95D334-74AC-2C68-8D7E-B1805D7141EB}"/>
              </a:ext>
            </a:extLst>
          </p:cNvPr>
          <p:cNvSpPr txBox="1"/>
          <p:nvPr/>
        </p:nvSpPr>
        <p:spPr>
          <a:xfrm>
            <a:off x="8949918" y="7441698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5D0BF1D0-2A89-521A-BB9C-542199047A50}"/>
              </a:ext>
            </a:extLst>
          </p:cNvPr>
          <p:cNvSpPr txBox="1"/>
          <p:nvPr/>
        </p:nvSpPr>
        <p:spPr>
          <a:xfrm>
            <a:off x="945178" y="7252037"/>
            <a:ext cx="5935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Tracciamento azioni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C6F9831A-2F9A-3D95-4B11-A0FB82FE1F06}"/>
              </a:ext>
            </a:extLst>
          </p:cNvPr>
          <p:cNvSpPr txBox="1"/>
          <p:nvPr/>
        </p:nvSpPr>
        <p:spPr>
          <a:xfrm>
            <a:off x="989251" y="7748584"/>
            <a:ext cx="796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/>
              <a:t>“to do” non </a:t>
            </a:r>
            <a:r>
              <a:rPr lang="en-AU" sz="2400" err="1"/>
              <a:t>tracciabili</a:t>
            </a:r>
            <a:r>
              <a:rPr lang="en-AU" sz="2400"/>
              <a:t>, poco </a:t>
            </a:r>
            <a:r>
              <a:rPr lang="en-AU" sz="2400" err="1"/>
              <a:t>chiari</a:t>
            </a:r>
            <a:r>
              <a:rPr lang="en-AU" sz="2400"/>
              <a:t> </a:t>
            </a:r>
            <a:r>
              <a:rPr lang="en-AU" sz="2400" err="1"/>
              <a:t>anche</a:t>
            </a:r>
            <a:r>
              <a:rPr lang="en-AU" sz="2400"/>
              <a:t> </a:t>
            </a:r>
            <a:r>
              <a:rPr lang="en-AU" sz="2400" err="1"/>
              <a:t>gli</a:t>
            </a:r>
            <a:r>
              <a:rPr lang="en-AU" sz="2400"/>
              <a:t> </a:t>
            </a:r>
            <a:r>
              <a:rPr lang="en-AU" sz="2400" err="1"/>
              <a:t>assegnatari</a:t>
            </a:r>
            <a:r>
              <a:rPr lang="en-AU" sz="2400"/>
              <a:t>.</a:t>
            </a:r>
          </a:p>
        </p:txBody>
      </p:sp>
      <p:sp>
        <p:nvSpPr>
          <p:cNvPr id="56" name="CasellaDiTesto 55">
            <a:extLst>
              <a:ext uri="{FF2B5EF4-FFF2-40B4-BE49-F238E27FC236}">
                <a16:creationId xmlns:a16="http://schemas.microsoft.com/office/drawing/2014/main" id="{45442B74-BA79-2643-6D7F-DF6C178059F8}"/>
              </a:ext>
            </a:extLst>
          </p:cNvPr>
          <p:cNvSpPr txBox="1"/>
          <p:nvPr/>
        </p:nvSpPr>
        <p:spPr>
          <a:xfrm>
            <a:off x="10042841" y="7252037"/>
            <a:ext cx="5967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Tracciamento azioni</a:t>
            </a:r>
          </a:p>
        </p:txBody>
      </p:sp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66BAEAB6-2FBD-C9AE-28FC-F484FF972B65}"/>
              </a:ext>
            </a:extLst>
          </p:cNvPr>
          <p:cNvSpPr txBox="1"/>
          <p:nvPr/>
        </p:nvSpPr>
        <p:spPr>
          <a:xfrm>
            <a:off x="10042841" y="7762622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Tracciamento azioni su </a:t>
            </a:r>
            <a:r>
              <a:rPr lang="it-IT" sz="2400" err="1">
                <a:solidFill>
                  <a:schemeClr val="bg1"/>
                </a:solidFill>
              </a:rPr>
              <a:t>github</a:t>
            </a:r>
            <a:r>
              <a:rPr lang="it-IT" sz="2400">
                <a:solidFill>
                  <a:schemeClr val="bg1"/>
                </a:solidFill>
              </a:rPr>
              <a:t> tramite </a:t>
            </a:r>
            <a:r>
              <a:rPr lang="it-IT" sz="2400" err="1">
                <a:solidFill>
                  <a:schemeClr val="bg1"/>
                </a:solidFill>
              </a:rPr>
              <a:t>issue</a:t>
            </a:r>
            <a:r>
              <a:rPr lang="it-IT" sz="2400">
                <a:solidFill>
                  <a:schemeClr val="bg1"/>
                </a:solidFill>
              </a:rPr>
              <a:t> e sub-</a:t>
            </a:r>
            <a:r>
              <a:rPr lang="it-IT" sz="2400" err="1">
                <a:solidFill>
                  <a:schemeClr val="bg1"/>
                </a:solidFill>
              </a:rPr>
              <a:t>issue</a:t>
            </a:r>
            <a:r>
              <a:rPr lang="it-IT" sz="2400">
                <a:solidFill>
                  <a:schemeClr val="bg1"/>
                </a:solidFill>
              </a:rPr>
              <a:t>.</a:t>
            </a:r>
          </a:p>
          <a:p>
            <a:r>
              <a:rPr lang="it-IT" sz="2400">
                <a:solidFill>
                  <a:schemeClr val="bg1"/>
                </a:solidFill>
              </a:rPr>
              <a:t>Più chiare le dipendenze, assegnatari chiari</a:t>
            </a:r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A7778E93-9147-77F2-4292-3E60AA799C5F}"/>
              </a:ext>
            </a:extLst>
          </p:cNvPr>
          <p:cNvSpPr txBox="1"/>
          <p:nvPr/>
        </p:nvSpPr>
        <p:spPr>
          <a:xfrm>
            <a:off x="7192036" y="6318582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</a:t>
            </a:r>
            <a:r>
              <a:rPr lang="it-IT" sz="54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.</a:t>
            </a:r>
          </a:p>
        </p:txBody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60D6C0FC-612A-8C3D-CF69-AA74DB01FF87}"/>
              </a:ext>
            </a:extLst>
          </p:cNvPr>
          <p:cNvSpPr txBox="1"/>
          <p:nvPr/>
        </p:nvSpPr>
        <p:spPr>
          <a:xfrm>
            <a:off x="15636994" y="630039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</a:t>
            </a:r>
            <a:r>
              <a:rPr lang="it-IT" sz="5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0712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F104A2-80C5-82DC-88B1-6E2E196A2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1DCBE5E-86C8-F7F4-E42F-CE2BFA49396A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5/11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63E9C6-5AE5-33AD-9031-23344B8FD406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(2/3)</a:t>
            </a:r>
          </a:p>
        </p:txBody>
      </p:sp>
      <p:sp>
        <p:nvSpPr>
          <p:cNvPr id="42" name="Rettangolo 41">
            <a:extLst>
              <a:ext uri="{FF2B5EF4-FFF2-40B4-BE49-F238E27FC236}">
                <a16:creationId xmlns:a16="http://schemas.microsoft.com/office/drawing/2014/main" id="{8FFC5470-570C-7291-2216-BFD598063E18}"/>
              </a:ext>
            </a:extLst>
          </p:cNvPr>
          <p:cNvSpPr/>
          <p:nvPr/>
        </p:nvSpPr>
        <p:spPr>
          <a:xfrm>
            <a:off x="736598" y="2536465"/>
            <a:ext cx="8331742" cy="1894944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1605BF43-669D-E558-747F-3ABF28DEA0BF}"/>
              </a:ext>
            </a:extLst>
          </p:cNvPr>
          <p:cNvSpPr/>
          <p:nvPr/>
        </p:nvSpPr>
        <p:spPr>
          <a:xfrm>
            <a:off x="9938692" y="2475751"/>
            <a:ext cx="7589451" cy="1955658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D670DF53-A0A2-0FD9-D60D-09D450C54F02}"/>
              </a:ext>
            </a:extLst>
          </p:cNvPr>
          <p:cNvSpPr txBox="1"/>
          <p:nvPr/>
        </p:nvSpPr>
        <p:spPr>
          <a:xfrm>
            <a:off x="9086780" y="2574858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1C52BB01-D044-DAB6-4695-FA953E71E08E}"/>
              </a:ext>
            </a:extLst>
          </p:cNvPr>
          <p:cNvSpPr txBox="1"/>
          <p:nvPr/>
        </p:nvSpPr>
        <p:spPr>
          <a:xfrm>
            <a:off x="1058176" y="2532025"/>
            <a:ext cx="5935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 dirty="0"/>
              <a:t>Automazioni sui verbali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73FA2EC0-C5F4-D2E5-0B0B-9CD2459FAFF7}"/>
              </a:ext>
            </a:extLst>
          </p:cNvPr>
          <p:cNvSpPr txBox="1"/>
          <p:nvPr/>
        </p:nvSpPr>
        <p:spPr>
          <a:xfrm>
            <a:off x="1110423" y="3056043"/>
            <a:ext cx="70564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Il responsabile si trovava spesso a dover ricontrollare come venivano strutturate delle tabelle (codice) -&gt; maggior rischio di inconsistenza nei successivi verbali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E0E885BF-06A9-0BB0-A5F0-4CCDA366E11C}"/>
              </a:ext>
            </a:extLst>
          </p:cNvPr>
          <p:cNvSpPr txBox="1"/>
          <p:nvPr/>
        </p:nvSpPr>
        <p:spPr>
          <a:xfrm>
            <a:off x="10118241" y="2645754"/>
            <a:ext cx="5967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 dirty="0">
                <a:solidFill>
                  <a:schemeClr val="bg1"/>
                </a:solidFill>
              </a:rPr>
              <a:t>Automazioni sui verbali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092160EC-BD53-CF6B-C472-193B9268E411}"/>
              </a:ext>
            </a:extLst>
          </p:cNvPr>
          <p:cNvSpPr txBox="1"/>
          <p:nvPr/>
        </p:nvSpPr>
        <p:spPr>
          <a:xfrm>
            <a:off x="10153251" y="3155437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solidFill>
                  <a:schemeClr val="bg1"/>
                </a:solidFill>
              </a:rPr>
              <a:t>Macro latex che si occupano della struttura: approccio dichiarativo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18DFE1F-C87D-2EB1-92C0-146E7439DFBA}"/>
              </a:ext>
            </a:extLst>
          </p:cNvPr>
          <p:cNvSpPr txBox="1"/>
          <p:nvPr/>
        </p:nvSpPr>
        <p:spPr>
          <a:xfrm>
            <a:off x="7314934" y="172593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0D7B9D9D-9DF5-0876-E078-E22E54D8E826}"/>
              </a:ext>
            </a:extLst>
          </p:cNvPr>
          <p:cNvSpPr txBox="1"/>
          <p:nvPr/>
        </p:nvSpPr>
        <p:spPr>
          <a:xfrm>
            <a:off x="15684162" y="171359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B04238B1-A788-904B-8DCF-18DF25A70684}"/>
              </a:ext>
            </a:extLst>
          </p:cNvPr>
          <p:cNvSpPr txBox="1"/>
          <p:nvPr/>
        </p:nvSpPr>
        <p:spPr>
          <a:xfrm>
            <a:off x="6833667" y="807221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A6E98C59-C880-D960-A746-DBE97E060DDE}"/>
              </a:ext>
            </a:extLst>
          </p:cNvPr>
          <p:cNvSpPr txBox="1"/>
          <p:nvPr/>
        </p:nvSpPr>
        <p:spPr>
          <a:xfrm>
            <a:off x="15425148" y="68156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28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62" name="Rettangolo 61">
            <a:extLst>
              <a:ext uri="{FF2B5EF4-FFF2-40B4-BE49-F238E27FC236}">
                <a16:creationId xmlns:a16="http://schemas.microsoft.com/office/drawing/2014/main" id="{B808CC69-9763-137A-102C-45A844844913}"/>
              </a:ext>
            </a:extLst>
          </p:cNvPr>
          <p:cNvSpPr/>
          <p:nvPr/>
        </p:nvSpPr>
        <p:spPr>
          <a:xfrm>
            <a:off x="825862" y="4968792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3" name="Rettangolo 62">
            <a:extLst>
              <a:ext uri="{FF2B5EF4-FFF2-40B4-BE49-F238E27FC236}">
                <a16:creationId xmlns:a16="http://schemas.microsoft.com/office/drawing/2014/main" id="{BF260BA9-FDFA-C319-E3C0-EDC3CDB3F398}"/>
              </a:ext>
            </a:extLst>
          </p:cNvPr>
          <p:cNvSpPr/>
          <p:nvPr/>
        </p:nvSpPr>
        <p:spPr>
          <a:xfrm>
            <a:off x="9869783" y="4941092"/>
            <a:ext cx="7589451" cy="1537535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64" name="CasellaDiTesto 63">
            <a:extLst>
              <a:ext uri="{FF2B5EF4-FFF2-40B4-BE49-F238E27FC236}">
                <a16:creationId xmlns:a16="http://schemas.microsoft.com/office/drawing/2014/main" id="{52D2706D-EF53-A23F-DC6A-FC42FD4C70CF}"/>
              </a:ext>
            </a:extLst>
          </p:cNvPr>
          <p:cNvSpPr txBox="1"/>
          <p:nvPr/>
        </p:nvSpPr>
        <p:spPr>
          <a:xfrm>
            <a:off x="7156295" y="4217017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05.</a:t>
            </a:r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C407C1E0-697E-D717-4C90-EAF56A3007F4}"/>
              </a:ext>
            </a:extLst>
          </p:cNvPr>
          <p:cNvSpPr txBox="1"/>
          <p:nvPr/>
        </p:nvSpPr>
        <p:spPr>
          <a:xfrm>
            <a:off x="15700806" y="408061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05.</a:t>
            </a:r>
          </a:p>
        </p:txBody>
      </p: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4990B81B-046F-BC8E-EBBF-79BDD451D042}"/>
              </a:ext>
            </a:extLst>
          </p:cNvPr>
          <p:cNvSpPr txBox="1"/>
          <p:nvPr/>
        </p:nvSpPr>
        <p:spPr>
          <a:xfrm>
            <a:off x="8967232" y="535652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919D1526-2CFA-8EB0-8F60-E4002DA4CB4F}"/>
              </a:ext>
            </a:extLst>
          </p:cNvPr>
          <p:cNvSpPr txBox="1"/>
          <p:nvPr/>
        </p:nvSpPr>
        <p:spPr>
          <a:xfrm>
            <a:off x="968901" y="5079797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Diapositive di presentazione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F6BEBE40-E09C-1417-983C-C2E459D35460}"/>
              </a:ext>
            </a:extLst>
          </p:cNvPr>
          <p:cNvSpPr txBox="1"/>
          <p:nvPr/>
        </p:nvSpPr>
        <p:spPr>
          <a:xfrm>
            <a:off x="1006565" y="5663407"/>
            <a:ext cx="7160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Scarsa identità del gruppo, poco accessibili </a:t>
            </a:r>
            <a:endParaRPr lang="it-IT" sz="2400" b="1"/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B0FA5C5F-B6BA-BD08-1100-D72600DE7B21}"/>
              </a:ext>
            </a:extLst>
          </p:cNvPr>
          <p:cNvSpPr txBox="1"/>
          <p:nvPr/>
        </p:nvSpPr>
        <p:spPr>
          <a:xfrm>
            <a:off x="10028777" y="5064133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Diapositive di presentazione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6F632601-6FC8-F338-BC3B-BDD1F07BB188}"/>
              </a:ext>
            </a:extLst>
          </p:cNvPr>
          <p:cNvSpPr txBox="1"/>
          <p:nvPr/>
        </p:nvSpPr>
        <p:spPr>
          <a:xfrm>
            <a:off x="10060155" y="5530865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Rimossi elementi pesanti alla vista, migliorata </a:t>
            </a:r>
          </a:p>
          <a:p>
            <a:r>
              <a:rPr lang="it-IT" sz="2400">
                <a:solidFill>
                  <a:schemeClr val="bg1"/>
                </a:solidFill>
              </a:rPr>
              <a:t>identità visiva</a:t>
            </a:r>
          </a:p>
        </p:txBody>
      </p:sp>
      <p:sp>
        <p:nvSpPr>
          <p:cNvPr id="71" name="Rettangolo 70">
            <a:extLst>
              <a:ext uri="{FF2B5EF4-FFF2-40B4-BE49-F238E27FC236}">
                <a16:creationId xmlns:a16="http://schemas.microsoft.com/office/drawing/2014/main" id="{0A8CF37D-8B93-83FF-269E-3A9541FC8D0D}"/>
              </a:ext>
            </a:extLst>
          </p:cNvPr>
          <p:cNvSpPr/>
          <p:nvPr/>
        </p:nvSpPr>
        <p:spPr>
          <a:xfrm>
            <a:off x="850248" y="6995617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Rettangolo 71">
            <a:extLst>
              <a:ext uri="{FF2B5EF4-FFF2-40B4-BE49-F238E27FC236}">
                <a16:creationId xmlns:a16="http://schemas.microsoft.com/office/drawing/2014/main" id="{4F13F232-6B13-BF7B-EE50-18725998DD03}"/>
              </a:ext>
            </a:extLst>
          </p:cNvPr>
          <p:cNvSpPr/>
          <p:nvPr/>
        </p:nvSpPr>
        <p:spPr>
          <a:xfrm>
            <a:off x="9894169" y="6967917"/>
            <a:ext cx="7589451" cy="1537535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73" name="CasellaDiTesto 72">
            <a:extLst>
              <a:ext uri="{FF2B5EF4-FFF2-40B4-BE49-F238E27FC236}">
                <a16:creationId xmlns:a16="http://schemas.microsoft.com/office/drawing/2014/main" id="{DD5C5A32-C96B-B4DF-938F-22201F7CB08D}"/>
              </a:ext>
            </a:extLst>
          </p:cNvPr>
          <p:cNvSpPr txBox="1"/>
          <p:nvPr/>
        </p:nvSpPr>
        <p:spPr>
          <a:xfrm>
            <a:off x="8991618" y="7383346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ABBE8F4-3516-01B9-8CE8-9EB1809AC744}"/>
              </a:ext>
            </a:extLst>
          </p:cNvPr>
          <p:cNvSpPr txBox="1"/>
          <p:nvPr/>
        </p:nvSpPr>
        <p:spPr>
          <a:xfrm>
            <a:off x="993287" y="7106622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err="1"/>
              <a:t>Automazione</a:t>
            </a:r>
            <a:r>
              <a:rPr lang="en-AU" sz="3200" b="1"/>
              <a:t> </a:t>
            </a:r>
            <a:r>
              <a:rPr lang="en-AU" sz="3200" b="1" err="1"/>
              <a:t>codice</a:t>
            </a:r>
            <a:r>
              <a:rPr lang="en-AU" sz="3200" b="1"/>
              <a:t> </a:t>
            </a:r>
            <a:r>
              <a:rPr lang="en-AU" sz="3200" b="1" err="1"/>
              <a:t>requisti</a:t>
            </a:r>
            <a:endParaRPr lang="it-IT" sz="3200" b="1"/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0CF30599-BAA2-22D2-308D-A2D03D214B7E}"/>
              </a:ext>
            </a:extLst>
          </p:cNvPr>
          <p:cNvSpPr txBox="1"/>
          <p:nvPr/>
        </p:nvSpPr>
        <p:spPr>
          <a:xfrm>
            <a:off x="1043124" y="7606661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La modifica di un caso d’uso può causare la modifica del codice e del codice dei successivi casi d’uso</a:t>
            </a:r>
            <a:endParaRPr lang="it-IT" sz="2400" b="1"/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249EF65A-3DB8-CC59-F5DC-D52A59506D3D}"/>
              </a:ext>
            </a:extLst>
          </p:cNvPr>
          <p:cNvSpPr txBox="1"/>
          <p:nvPr/>
        </p:nvSpPr>
        <p:spPr>
          <a:xfrm>
            <a:off x="10053163" y="7090958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err="1">
                <a:solidFill>
                  <a:schemeClr val="bg1"/>
                </a:solidFill>
              </a:rPr>
              <a:t>Automazione</a:t>
            </a:r>
            <a:r>
              <a:rPr lang="en-AU" sz="3200" b="1">
                <a:solidFill>
                  <a:schemeClr val="bg1"/>
                </a:solidFill>
              </a:rPr>
              <a:t> </a:t>
            </a:r>
            <a:r>
              <a:rPr lang="en-AU" sz="3200" b="1" err="1">
                <a:solidFill>
                  <a:schemeClr val="bg1"/>
                </a:solidFill>
              </a:rPr>
              <a:t>codice</a:t>
            </a:r>
            <a:r>
              <a:rPr lang="en-AU" sz="3200" b="1">
                <a:solidFill>
                  <a:schemeClr val="bg1"/>
                </a:solidFill>
              </a:rPr>
              <a:t> </a:t>
            </a:r>
            <a:r>
              <a:rPr lang="en-AU" sz="3200" b="1" err="1">
                <a:solidFill>
                  <a:schemeClr val="bg1"/>
                </a:solidFill>
              </a:rPr>
              <a:t>requisiti</a:t>
            </a:r>
            <a:endParaRPr lang="it-IT" sz="3200" b="1">
              <a:solidFill>
                <a:schemeClr val="bg1"/>
              </a:solidFill>
            </a:endParaRPr>
          </a:p>
        </p:txBody>
      </p:sp>
      <p:sp>
        <p:nvSpPr>
          <p:cNvPr id="77" name="CasellaDiTesto 76">
            <a:extLst>
              <a:ext uri="{FF2B5EF4-FFF2-40B4-BE49-F238E27FC236}">
                <a16:creationId xmlns:a16="http://schemas.microsoft.com/office/drawing/2014/main" id="{D974C423-7A02-C8FF-E2D0-A6ED312F392B}"/>
              </a:ext>
            </a:extLst>
          </p:cNvPr>
          <p:cNvSpPr txBox="1"/>
          <p:nvPr/>
        </p:nvSpPr>
        <p:spPr>
          <a:xfrm>
            <a:off x="10084541" y="7557690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Maggiore efficienza qualora l’analisi richiedesse ulteriori modifiche in futuro (gestione del rischio)</a:t>
            </a:r>
          </a:p>
        </p:txBody>
      </p:sp>
      <p:sp>
        <p:nvSpPr>
          <p:cNvPr id="78" name="CasellaDiTesto 77">
            <a:extLst>
              <a:ext uri="{FF2B5EF4-FFF2-40B4-BE49-F238E27FC236}">
                <a16:creationId xmlns:a16="http://schemas.microsoft.com/office/drawing/2014/main" id="{0217180E-E483-170E-3890-0B4A563FA893}"/>
              </a:ext>
            </a:extLst>
          </p:cNvPr>
          <p:cNvSpPr txBox="1"/>
          <p:nvPr/>
        </p:nvSpPr>
        <p:spPr>
          <a:xfrm>
            <a:off x="7156295" y="6213318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06.</a:t>
            </a:r>
          </a:p>
        </p:txBody>
      </p: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0D1FAA25-1C27-B5C9-52AC-131B44E91627}"/>
              </a:ext>
            </a:extLst>
          </p:cNvPr>
          <p:cNvSpPr txBox="1"/>
          <p:nvPr/>
        </p:nvSpPr>
        <p:spPr>
          <a:xfrm>
            <a:off x="15700806" y="6076920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06.</a:t>
            </a:r>
          </a:p>
        </p:txBody>
      </p:sp>
    </p:spTree>
    <p:extLst>
      <p:ext uri="{BB962C8B-B14F-4D97-AF65-F5344CB8AC3E}">
        <p14:creationId xmlns:p14="http://schemas.microsoft.com/office/powerpoint/2010/main" val="3597097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89EB63-5E7E-D181-70ED-0E49CA74E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9A440502-3D29-EAA4-0A11-1E621D3EE3B4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</a:t>
            </a:r>
            <a:r>
              <a:rPr lang="it-IT" sz="5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/3)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95F4989A-F3A4-E4BA-9127-57B62401ED12}"/>
              </a:ext>
            </a:extLst>
          </p:cNvPr>
          <p:cNvSpPr txBox="1"/>
          <p:nvPr/>
        </p:nvSpPr>
        <p:spPr>
          <a:xfrm>
            <a:off x="6722754" y="34035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4637AE6-331B-2535-29D9-3815E522C9FA}"/>
              </a:ext>
            </a:extLst>
          </p:cNvPr>
          <p:cNvSpPr/>
          <p:nvPr/>
        </p:nvSpPr>
        <p:spPr>
          <a:xfrm>
            <a:off x="9662654" y="1926538"/>
            <a:ext cx="7589451" cy="207539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endParaRPr lang="it-IT" b="1">
              <a:solidFill>
                <a:srgbClr val="2A84C0"/>
              </a:solidFill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9707AC14-53B0-6473-28F9-D54BCB0370AC}"/>
              </a:ext>
            </a:extLst>
          </p:cNvPr>
          <p:cNvSpPr txBox="1"/>
          <p:nvPr/>
        </p:nvSpPr>
        <p:spPr>
          <a:xfrm>
            <a:off x="9853026" y="2538054"/>
            <a:ext cx="63518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rgbClr val="2A84C0"/>
                </a:solidFill>
              </a:rPr>
              <a:t>Identità più forte, aggiornamento informazioni capitolato, esposti prodotti che hanno baseline stabile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E7C1388-E47D-2042-4E0A-8F51B05AE8E4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chemeClr val="bg1"/>
                </a:solidFill>
                <a:latin typeface="Calibri"/>
              </a:rPr>
              <a:t>6/11</a:t>
            </a:r>
            <a:endParaRPr lang="it-IT" sz="4000" kern="1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chemeClr val="bg1"/>
              </a:solidFill>
            </a:endParaRP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F51D753-D0A4-9CA2-EE73-A70C8B5590CA}"/>
              </a:ext>
            </a:extLst>
          </p:cNvPr>
          <p:cNvSpPr/>
          <p:nvPr/>
        </p:nvSpPr>
        <p:spPr>
          <a:xfrm>
            <a:off x="618733" y="1926538"/>
            <a:ext cx="8141370" cy="2075394"/>
          </a:xfrm>
          <a:prstGeom prst="rect">
            <a:avLst/>
          </a:prstGeom>
          <a:solidFill>
            <a:srgbClr val="2A84C0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EC41907-E904-1EF2-E6F1-6FE8BC2BA337}"/>
              </a:ext>
            </a:extLst>
          </p:cNvPr>
          <p:cNvSpPr txBox="1"/>
          <p:nvPr/>
        </p:nvSpPr>
        <p:spPr>
          <a:xfrm>
            <a:off x="15467423" y="160295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C896F6C-D1ED-B792-5CDA-18B90D5332D9}"/>
              </a:ext>
            </a:extLst>
          </p:cNvPr>
          <p:cNvSpPr txBox="1"/>
          <p:nvPr/>
        </p:nvSpPr>
        <p:spPr>
          <a:xfrm>
            <a:off x="8760103" y="2454435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chemeClr val="bg1"/>
              </a:solidFill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3B20718C-9D10-9BF3-D9B3-5E20381B8DEA}"/>
              </a:ext>
            </a:extLst>
          </p:cNvPr>
          <p:cNvSpPr txBox="1"/>
          <p:nvPr/>
        </p:nvSpPr>
        <p:spPr>
          <a:xfrm>
            <a:off x="827312" y="2159483"/>
            <a:ext cx="59577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Ristrutturazione repo (sito web)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58F74AE4-E181-FA26-4949-5F361F515994}"/>
              </a:ext>
            </a:extLst>
          </p:cNvPr>
          <p:cNvSpPr txBox="1"/>
          <p:nvPr/>
        </p:nvSpPr>
        <p:spPr>
          <a:xfrm>
            <a:off x="827313" y="2646635"/>
            <a:ext cx="6530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Scarsa riconoscibilità, mancata presentazione del gruppo, poco scalabile, esposti prodotti non pronti per il rilascio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F80C136-5B8F-0137-D59A-638142711438}"/>
              </a:ext>
            </a:extLst>
          </p:cNvPr>
          <p:cNvSpPr txBox="1"/>
          <p:nvPr/>
        </p:nvSpPr>
        <p:spPr>
          <a:xfrm>
            <a:off x="9853025" y="2049842"/>
            <a:ext cx="57150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rgbClr val="2A84C0"/>
                </a:solidFill>
              </a:rPr>
              <a:t>Ristrutturazione repo (sito web)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1DE1F50-968C-B6BF-C0AC-F445C4B438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597"/>
          <a:stretch>
            <a:fillRect/>
          </a:stretch>
        </p:blipFill>
        <p:spPr>
          <a:xfrm>
            <a:off x="9216192" y="4325519"/>
            <a:ext cx="6988707" cy="75310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Immagine 3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83968778-E0F4-7F66-5247-FA2A06E274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53" y="4358301"/>
            <a:ext cx="8141370" cy="5046803"/>
          </a:xfrm>
          <a:prstGeom prst="rect">
            <a:avLst/>
          </a:prstGeom>
        </p:spPr>
      </p:pic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D1DC9203-7523-85C0-7D38-6D99308B0AB7}"/>
              </a:ext>
            </a:extLst>
          </p:cNvPr>
          <p:cNvSpPr txBox="1"/>
          <p:nvPr/>
        </p:nvSpPr>
        <p:spPr>
          <a:xfrm>
            <a:off x="15272886" y="359692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58833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8 0.00756 L -0.00278 0.00771 C 0.05807 -0.06266 0.00399 -0.00139 0.15885 -0.14522 C 0.17543 -0.16065 0.19505 -0.18411 0.21467 -0.19414 C 0.22708 -0.20047 0.23949 -0.2071 0.25217 -0.21189 L 0.2796 -0.22223 C 0.28724 -0.22547 0.28246 -0.22516 0.2855 -0.22516 " pathEditMode="relative" rAng="0" ptsTypes="AAAAAAA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0" y="-116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"/>
                                      </p:to>
                                    </p:set>
                                    <p:animEffect filter="image" prLst="opacity: 0">
                                      <p:cBhvr rctx="IE">
                                        <p:cTn id="15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22 0.24398 L 0.00322 0.24414 C 0.00148 0.20726 0.00113 0.19506 -0.0052 0.14615 C -0.00955 0.11219 -0.01328 0.07747 -0.021 0.04537 C -0.02838 0.01451 -0.04488 -0.02006 -0.06015 -0.04197 C -0.06701 -0.05185 -0.07474 -0.05941 -0.08185 -0.06867 C -0.10642 -0.10092 -0.10937 -0.11296 -0.14097 -0.14429 C -0.14852 -0.15169 -0.15625 -0.15818 -0.16354 -0.16651 C -0.16935 -0.17315 -0.17448 -0.18163 -0.1802 -0.18873 C -0.1934 -0.20494 -0.19062 -0.20077 -0.20269 -0.21095 C -0.20547 -0.21327 -0.20807 -0.21651 -0.21102 -0.21836 C -0.21901 -0.2233 -0.2289 -0.22129 -0.2368 -0.22129 " pathEditMode="relative" rAng="0" ptsTypes="AAAAAAAAAAAA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05" y="-232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1397BA-B0F8-55A0-CB11-5E5DA2745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0">
            <a:extLst>
              <a:ext uri="{FF2B5EF4-FFF2-40B4-BE49-F238E27FC236}">
                <a16:creationId xmlns:a16="http://schemas.microsoft.com/office/drawing/2014/main" id="{F7EC0A21-2ECE-1399-F1BE-FD0BF93E2AA3}"/>
              </a:ext>
            </a:extLst>
          </p:cNvPr>
          <p:cNvSpPr/>
          <p:nvPr/>
        </p:nvSpPr>
        <p:spPr>
          <a:xfrm>
            <a:off x="781051" y="2419205"/>
            <a:ext cx="15908782" cy="481979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16C00E00-A88D-3B9D-67BD-DA1B85446A49}"/>
              </a:ext>
            </a:extLst>
          </p:cNvPr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841C06A-C00B-1BEA-99E3-8576E2B8F14F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A0E06B8-1A9C-E8FB-BCB2-28A883FDD7FC}"/>
                </a:ext>
              </a:extLst>
            </p:cNvPr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39156FAB-1B82-9D03-C8A7-0025A3EED0F8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39156FAB-1B82-9D03-C8A7-0025A3EED0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49A3B13-208D-02D1-A9AD-F178DBC52D82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7/11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3350C27-BCF9-6A89-C800-03EE0A10A5EC}"/>
              </a:ext>
            </a:extLst>
          </p:cNvPr>
          <p:cNvSpPr txBox="1"/>
          <p:nvPr/>
        </p:nvSpPr>
        <p:spPr>
          <a:xfrm>
            <a:off x="364890" y="229786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Autovalutazione del lavoro svolto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7264D85-75B9-F0B3-C6C8-257F74B74FF3}"/>
              </a:ext>
            </a:extLst>
          </p:cNvPr>
          <p:cNvSpPr txBox="1"/>
          <p:nvPr/>
        </p:nvSpPr>
        <p:spPr>
          <a:xfrm>
            <a:off x="916433" y="2729829"/>
            <a:ext cx="15773400" cy="41614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Generalmente, il gruppo attualmente è soddisfatto di come sta lavorando.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Raggiungimento della </a:t>
            </a:r>
            <a:r>
              <a:rPr lang="it-IT" sz="360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Requirements</a:t>
            </a: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 and Technology Baseline.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/>
              <a:t>Siamo soddisfatti anche della Proponente </a:t>
            </a:r>
            <a:r>
              <a:rPr lang="it-IT" sz="3600" err="1"/>
              <a:t>Eggon</a:t>
            </a:r>
            <a:r>
              <a:rPr lang="it-IT" sz="3600"/>
              <a:t>, che ci sta seguendo e consigliando con competenza e diligenza.</a:t>
            </a:r>
          </a:p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Iniziali problemi di organizzazione del lavoro.</a:t>
            </a:r>
          </a:p>
        </p:txBody>
      </p:sp>
    </p:spTree>
    <p:extLst>
      <p:ext uri="{BB962C8B-B14F-4D97-AF65-F5344CB8AC3E}">
        <p14:creationId xmlns:p14="http://schemas.microsoft.com/office/powerpoint/2010/main" val="171084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1970"/>
            <a:ext cx="18296520" cy="1750631"/>
            <a:chOff x="0" y="-225594"/>
            <a:chExt cx="24395361" cy="4611294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973311" y="-225594"/>
              <a:ext cx="23422050" cy="42290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212"/>
                </a:lnSpc>
              </a:pPr>
              <a:r>
                <a:rPr lang="it-IT" sz="5400" b="1">
                  <a:solidFill>
                    <a:srgbClr val="2A84C0"/>
                  </a:solidFill>
                  <a:latin typeface="Verdana"/>
                  <a:ea typeface="Verdana"/>
                  <a:cs typeface="CordiaUPC"/>
                  <a:sym typeface="Fredoka"/>
                </a:rPr>
                <a:t>Esito Colloquio con il Prof. Cardin</a:t>
              </a:r>
              <a:endParaRPr lang="it-IT" sz="5400" b="1">
                <a:solidFill>
                  <a:srgbClr val="2A84C0"/>
                </a:solidFill>
                <a:latin typeface="Verdana"/>
                <a:ea typeface="Verdana"/>
                <a:cs typeface="CordiaUPC"/>
              </a:endParaRPr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3B0B2C-E11E-51D9-9CE3-8E5001BA00D9}"/>
              </a:ext>
            </a:extLst>
          </p:cNvPr>
          <p:cNvSpPr txBox="1"/>
          <p:nvPr/>
        </p:nvSpPr>
        <p:spPr>
          <a:xfrm>
            <a:off x="14145608" y="9570748"/>
            <a:ext cx="6988098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8/11</a:t>
            </a:r>
          </a:p>
          <a:p>
            <a:pPr algn="ctr"/>
            <a:endParaRPr lang="it-IT"/>
          </a:p>
        </p:txBody>
      </p:sp>
      <p:sp>
        <p:nvSpPr>
          <p:cNvPr id="3" name="Rettangolo con angoli arrotondati 11">
            <a:extLst>
              <a:ext uri="{FF2B5EF4-FFF2-40B4-BE49-F238E27FC236}">
                <a16:creationId xmlns:a16="http://schemas.microsoft.com/office/drawing/2014/main" id="{88E53AF6-6FD2-3C91-58E2-946DFD76267A}"/>
              </a:ext>
            </a:extLst>
          </p:cNvPr>
          <p:cNvSpPr/>
          <p:nvPr/>
        </p:nvSpPr>
        <p:spPr>
          <a:xfrm>
            <a:off x="-608175" y="2144704"/>
            <a:ext cx="17634810" cy="1087792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5D0D7CD-A7AF-5649-1344-B67CC18A264B}"/>
              </a:ext>
            </a:extLst>
          </p:cNvPr>
          <p:cNvSpPr txBox="1"/>
          <p:nvPr/>
        </p:nvSpPr>
        <p:spPr>
          <a:xfrm>
            <a:off x="831112" y="2147461"/>
            <a:ext cx="15947048" cy="8338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44475" lvl="1">
              <a:lnSpc>
                <a:spcPct val="150000"/>
              </a:lnSpc>
            </a:pPr>
            <a:r>
              <a:rPr lang="it-IT" sz="3600">
                <a:solidFill>
                  <a:schemeClr val="bg1"/>
                </a:solidFill>
                <a:latin typeface="Arial"/>
                <a:cs typeface="Arial"/>
              </a:rPr>
              <a:t>Esito: positivo, con semaforo VERDE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E328002-DB76-9BD6-E21C-972642AA2D85}"/>
              </a:ext>
            </a:extLst>
          </p:cNvPr>
          <p:cNvSpPr/>
          <p:nvPr/>
        </p:nvSpPr>
        <p:spPr>
          <a:xfrm>
            <a:off x="1101810" y="3895580"/>
            <a:ext cx="6755372" cy="56809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DC84381-B71B-A7A9-FF28-D1B2281C20A3}"/>
              </a:ext>
            </a:extLst>
          </p:cNvPr>
          <p:cNvSpPr/>
          <p:nvPr/>
        </p:nvSpPr>
        <p:spPr>
          <a:xfrm>
            <a:off x="1547796" y="4329276"/>
            <a:ext cx="5870497" cy="968725"/>
          </a:xfrm>
          <a:prstGeom prst="roundRect">
            <a:avLst/>
          </a:prstGeom>
          <a:solidFill>
            <a:srgbClr val="318B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24805-E0C8-1A03-5624-348C9FF6BEE9}"/>
              </a:ext>
            </a:extLst>
          </p:cNvPr>
          <p:cNvSpPr txBox="1"/>
          <p:nvPr/>
        </p:nvSpPr>
        <p:spPr>
          <a:xfrm>
            <a:off x="2593361" y="4490357"/>
            <a:ext cx="37651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rgbClr val="FFFFFF"/>
                </a:solidFill>
                <a:latin typeface="Arial"/>
                <a:cs typeface="Arial"/>
              </a:rPr>
              <a:t>Punti di forza</a:t>
            </a:r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AAE360B-CC65-C42A-2F47-8199305F9C5D}"/>
              </a:ext>
            </a:extLst>
          </p:cNvPr>
          <p:cNvSpPr/>
          <p:nvPr/>
        </p:nvSpPr>
        <p:spPr>
          <a:xfrm>
            <a:off x="9669507" y="3895580"/>
            <a:ext cx="6755372" cy="56809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1A46ED8-2C12-D4CD-B99A-756B7C9CC9D4}"/>
              </a:ext>
            </a:extLst>
          </p:cNvPr>
          <p:cNvSpPr/>
          <p:nvPr/>
        </p:nvSpPr>
        <p:spPr>
          <a:xfrm>
            <a:off x="10105888" y="4329276"/>
            <a:ext cx="5870497" cy="968725"/>
          </a:xfrm>
          <a:prstGeom prst="roundRect">
            <a:avLst/>
          </a:prstGeom>
          <a:solidFill>
            <a:srgbClr val="318B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68141F-3F91-2FEF-4DB0-9B0F464E58EC}"/>
              </a:ext>
            </a:extLst>
          </p:cNvPr>
          <p:cNvSpPr txBox="1"/>
          <p:nvPr/>
        </p:nvSpPr>
        <p:spPr>
          <a:xfrm>
            <a:off x="11161058" y="4490357"/>
            <a:ext cx="37651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rgbClr val="FFFFFF"/>
                </a:solidFill>
                <a:latin typeface="Arial"/>
                <a:cs typeface="Arial"/>
              </a:rPr>
              <a:t>Miglioramenti</a:t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EE8E8F-0FAB-9B81-5BB6-8820274D1C89}"/>
              </a:ext>
            </a:extLst>
          </p:cNvPr>
          <p:cNvSpPr txBox="1"/>
          <p:nvPr/>
        </p:nvSpPr>
        <p:spPr>
          <a:xfrm>
            <a:off x="1670152" y="5581134"/>
            <a:ext cx="5612027" cy="27853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500" err="1">
                <a:ea typeface="Calibri"/>
                <a:cs typeface="Calibri"/>
              </a:rPr>
              <a:t>Nonostante</a:t>
            </a:r>
            <a:r>
              <a:rPr lang="en-US" sz="2500">
                <a:ea typeface="Calibri"/>
                <a:cs typeface="Calibri"/>
              </a:rPr>
              <a:t> le </a:t>
            </a:r>
            <a:r>
              <a:rPr lang="en-US" sz="2500" err="1">
                <a:ea typeface="Calibri"/>
                <a:cs typeface="Calibri"/>
              </a:rPr>
              <a:t>tecnologie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sono</a:t>
            </a:r>
            <a:r>
              <a:rPr lang="en-US" sz="2500">
                <a:ea typeface="Calibri"/>
                <a:cs typeface="Calibri"/>
              </a:rPr>
              <a:t> state quasi in toto </a:t>
            </a:r>
            <a:r>
              <a:rPr lang="en-US" sz="2500" err="1">
                <a:ea typeface="Calibri"/>
                <a:cs typeface="Calibri"/>
              </a:rPr>
              <a:t>imposte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dalla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proponente</a:t>
            </a:r>
            <a:r>
              <a:rPr lang="en-US" sz="2500">
                <a:ea typeface="Calibri"/>
                <a:cs typeface="Calibri"/>
              </a:rPr>
              <a:t>, è </a:t>
            </a:r>
            <a:r>
              <a:rPr lang="en-US" sz="2500" err="1">
                <a:ea typeface="Calibri"/>
                <a:cs typeface="Calibri"/>
              </a:rPr>
              <a:t>comunque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stata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fatta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un'ispezione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tecnologica</a:t>
            </a:r>
            <a:r>
              <a:rPr lang="en-US" sz="2500">
                <a:ea typeface="Calibri"/>
                <a:cs typeface="Calibri"/>
              </a:rPr>
              <a:t>.</a:t>
            </a:r>
          </a:p>
          <a:p>
            <a:pPr marL="457200" indent="-457200"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Il </a:t>
            </a:r>
            <a:r>
              <a:rPr lang="en-US" sz="2500" err="1">
                <a:ea typeface="Calibri"/>
                <a:cs typeface="Calibri"/>
              </a:rPr>
              <a:t>documento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AdR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ha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una</a:t>
            </a:r>
            <a:r>
              <a:rPr lang="en-US" sz="2500">
                <a:ea typeface="Calibri"/>
                <a:cs typeface="Calibri"/>
              </a:rPr>
              <a:t> forma buona e un </a:t>
            </a:r>
            <a:r>
              <a:rPr lang="en-US" sz="2500" err="1">
                <a:ea typeface="Calibri"/>
                <a:cs typeface="Calibri"/>
              </a:rPr>
              <a:t>dettaglio</a:t>
            </a:r>
            <a:r>
              <a:rPr lang="en-US" sz="2500">
                <a:ea typeface="Calibri"/>
                <a:cs typeface="Calibri"/>
              </a:rPr>
              <a:t> quasi sempre </a:t>
            </a:r>
            <a:r>
              <a:rPr lang="en-US" sz="2500" err="1">
                <a:ea typeface="Calibri"/>
                <a:cs typeface="Calibri"/>
              </a:rPr>
              <a:t>adeguato</a:t>
            </a:r>
            <a:r>
              <a:rPr lang="en-US" sz="2500">
                <a:ea typeface="Calibri"/>
                <a:cs typeface="Calibri"/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44E389-E1B4-4108-F275-48905D447113}"/>
              </a:ext>
            </a:extLst>
          </p:cNvPr>
          <p:cNvSpPr txBox="1"/>
          <p:nvPr/>
        </p:nvSpPr>
        <p:spPr>
          <a:xfrm>
            <a:off x="10237848" y="5581133"/>
            <a:ext cx="5612027" cy="39395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500">
                <a:ea typeface="+mn-lt"/>
                <a:cs typeface="+mn-lt"/>
              </a:rPr>
              <a:t>È </a:t>
            </a:r>
            <a:r>
              <a:rPr lang="en-US" sz="2500" err="1">
                <a:ea typeface="+mn-lt"/>
                <a:cs typeface="+mn-lt"/>
              </a:rPr>
              <a:t>necessario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perfezionare</a:t>
            </a:r>
            <a:r>
              <a:rPr lang="en-US" sz="2500">
                <a:ea typeface="+mn-lt"/>
                <a:cs typeface="+mn-lt"/>
              </a:rPr>
              <a:t> la </a:t>
            </a:r>
            <a:r>
              <a:rPr lang="en-US" sz="2500" err="1">
                <a:ea typeface="+mn-lt"/>
                <a:cs typeface="+mn-lt"/>
              </a:rPr>
              <a:t>struttura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documentale</a:t>
            </a:r>
            <a:r>
              <a:rPr lang="en-US" sz="2500">
                <a:ea typeface="+mn-lt"/>
                <a:cs typeface="+mn-lt"/>
              </a:rPr>
              <a:t> di </a:t>
            </a:r>
            <a:r>
              <a:rPr lang="en-US" sz="2500" err="1">
                <a:ea typeface="+mn-lt"/>
                <a:cs typeface="+mn-lt"/>
              </a:rPr>
              <a:t>alcuni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documenti</a:t>
            </a:r>
            <a:r>
              <a:rPr lang="en-US" sz="2500">
                <a:ea typeface="+mn-lt"/>
                <a:cs typeface="+mn-lt"/>
              </a:rPr>
              <a:t> </a:t>
            </a:r>
            <a:r>
              <a:rPr lang="en-US" sz="2500" err="1">
                <a:ea typeface="+mn-lt"/>
                <a:cs typeface="+mn-lt"/>
              </a:rPr>
              <a:t>introducendo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riferimenti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normativi</a:t>
            </a:r>
            <a:r>
              <a:rPr lang="en-US" sz="2500">
                <a:ea typeface="+mn-lt"/>
                <a:cs typeface="+mn-lt"/>
              </a:rPr>
              <a:t> e </a:t>
            </a:r>
            <a:r>
              <a:rPr lang="en-US" sz="2500" err="1">
                <a:ea typeface="+mn-lt"/>
                <a:cs typeface="+mn-lt"/>
              </a:rPr>
              <a:t>tracciamento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completo</a:t>
            </a:r>
            <a:r>
              <a:rPr lang="en-US" sz="2500">
                <a:ea typeface="+mn-lt"/>
                <a:cs typeface="+mn-lt"/>
              </a:rPr>
              <a:t>.</a:t>
            </a:r>
            <a:endParaRPr lang="en-US"/>
          </a:p>
          <a:p>
            <a:pPr marL="457200" indent="-457200">
              <a:buFont typeface="Arial"/>
              <a:buChar char="•"/>
            </a:pPr>
            <a:r>
              <a:rPr lang="en-US" sz="2500" err="1">
                <a:ea typeface="Calibri"/>
                <a:cs typeface="Calibri"/>
              </a:rPr>
              <a:t>Alcuni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casi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d'uso</a:t>
            </a:r>
            <a:r>
              <a:rPr lang="en-US" sz="2500">
                <a:ea typeface="Calibri"/>
                <a:cs typeface="Calibri"/>
              </a:rPr>
              <a:t> e </a:t>
            </a:r>
            <a:r>
              <a:rPr lang="en-US" sz="2500" err="1">
                <a:ea typeface="Calibri"/>
                <a:cs typeface="Calibri"/>
              </a:rPr>
              <a:t>requisiti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tecnici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vanno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rivisti</a:t>
            </a:r>
            <a:r>
              <a:rPr lang="en-US" sz="2500">
                <a:ea typeface="Calibri"/>
                <a:cs typeface="Calibri"/>
              </a:rPr>
              <a:t> o </a:t>
            </a:r>
            <a:r>
              <a:rPr lang="en-US" sz="2500" err="1">
                <a:ea typeface="Calibri"/>
                <a:cs typeface="Calibri"/>
              </a:rPr>
              <a:t>eliminati</a:t>
            </a:r>
            <a:r>
              <a:rPr lang="en-US" sz="2500">
                <a:ea typeface="Calibri"/>
                <a:cs typeface="Calibri"/>
              </a:rPr>
              <a:t> </a:t>
            </a:r>
            <a:r>
              <a:rPr lang="en-US" sz="2500">
                <a:ea typeface="+mn-lt"/>
                <a:cs typeface="+mn-lt"/>
              </a:rPr>
              <a:t>per </a:t>
            </a:r>
            <a:r>
              <a:rPr lang="en-US" sz="2500" err="1">
                <a:ea typeface="+mn-lt"/>
                <a:cs typeface="+mn-lt"/>
              </a:rPr>
              <a:t>eliminare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ambiguità</a:t>
            </a:r>
            <a:r>
              <a:rPr lang="en-US" sz="2500">
                <a:ea typeface="+mn-lt"/>
                <a:cs typeface="+mn-lt"/>
              </a:rPr>
              <a:t> e </a:t>
            </a:r>
            <a:r>
              <a:rPr lang="en-US" sz="2500" err="1">
                <a:ea typeface="+mn-lt"/>
                <a:cs typeface="+mn-lt"/>
              </a:rPr>
              <a:t>vincoli</a:t>
            </a:r>
            <a:r>
              <a:rPr lang="en-US" sz="2500">
                <a:ea typeface="+mn-lt"/>
                <a:cs typeface="+mn-lt"/>
              </a:rPr>
              <a:t> non </a:t>
            </a:r>
            <a:r>
              <a:rPr lang="en-US" sz="2500" err="1">
                <a:ea typeface="+mn-lt"/>
                <a:cs typeface="+mn-lt"/>
              </a:rPr>
              <a:t>verificabili</a:t>
            </a:r>
            <a:r>
              <a:rPr lang="en-US" sz="2500">
                <a:ea typeface="+mn-lt"/>
                <a:cs typeface="+mn-lt"/>
              </a:rPr>
              <a:t>.</a:t>
            </a:r>
            <a:endParaRPr lang="en-US" sz="250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Una </a:t>
            </a:r>
            <a:r>
              <a:rPr lang="en-US" sz="2500" err="1">
                <a:ea typeface="Calibri"/>
                <a:cs typeface="Calibri"/>
              </a:rPr>
              <a:t>migliore</a:t>
            </a:r>
            <a:r>
              <a:rPr lang="en-US" sz="2500">
                <a:ea typeface="Calibri"/>
                <a:cs typeface="Calibri"/>
              </a:rPr>
              <a:t> </a:t>
            </a:r>
            <a:r>
              <a:rPr lang="en-US" sz="2500" err="1">
                <a:ea typeface="Calibri"/>
                <a:cs typeface="Calibri"/>
              </a:rPr>
              <a:t>esposizione</a:t>
            </a:r>
            <a:r>
              <a:rPr lang="en-US" sz="2500">
                <a:ea typeface="Calibri"/>
                <a:cs typeface="Calibri"/>
              </a:rPr>
              <a:t> valorizzerebbe </a:t>
            </a:r>
            <a:r>
              <a:rPr lang="en-US" sz="2500" err="1">
                <a:ea typeface="Calibri"/>
                <a:cs typeface="Calibri"/>
              </a:rPr>
              <a:t>meglio</a:t>
            </a:r>
            <a:r>
              <a:rPr lang="en-US" sz="2500">
                <a:ea typeface="Calibri"/>
                <a:cs typeface="Calibri"/>
              </a:rPr>
              <a:t> il nostro </a:t>
            </a:r>
            <a:r>
              <a:rPr lang="en-US" sz="2500" err="1">
                <a:ea typeface="Calibri"/>
                <a:cs typeface="Calibri"/>
              </a:rPr>
              <a:t>lavoro</a:t>
            </a:r>
            <a:r>
              <a:rPr lang="en-US" sz="2500">
                <a:ea typeface="Calibri"/>
                <a:cs typeface="Calibri"/>
              </a:rPr>
              <a:t>.</a:t>
            </a:r>
          </a:p>
          <a:p>
            <a:pPr marL="457200" indent="-457200">
              <a:buFont typeface="Arial"/>
              <a:buChar char="•"/>
            </a:pPr>
            <a:endParaRPr lang="en-US" sz="25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338157" y="738594"/>
            <a:ext cx="16988110" cy="2450607"/>
            <a:chOff x="0" y="586906"/>
            <a:chExt cx="22650814" cy="645510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568036" y="586906"/>
              <a:ext cx="22082778" cy="6455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it-IT" sz="5400" b="1">
                  <a:solidFill>
                    <a:srgbClr val="2A84C0"/>
                  </a:solidFill>
                  <a:latin typeface="Verdana"/>
                  <a:ea typeface="Verdana"/>
                  <a:cs typeface="Arial"/>
                  <a:sym typeface="Fredoka"/>
                </a:rPr>
                <a:t>Consuntivo di periodo allo stato attuale</a:t>
              </a:r>
              <a:endParaRPr lang="it-IT" sz="5400"/>
            </a:p>
            <a:p>
              <a:pPr algn="ctr">
                <a:lnSpc>
                  <a:spcPts val="15212"/>
                </a:lnSpc>
              </a:pPr>
              <a:endParaRPr lang="it-IT" sz="54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endParaRPr lang="it-IT" sz="3500">
              <a:solidFill>
                <a:srgbClr val="FF0000"/>
              </a:solidFill>
              <a:ea typeface="Calibri"/>
              <a:cs typeface="Calibri"/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2040834"/>
              </p:ext>
            </p:extLst>
          </p:nvPr>
        </p:nvGraphicFramePr>
        <p:xfrm>
          <a:off x="3001747" y="3619743"/>
          <a:ext cx="11234904" cy="44150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744968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744968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744968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Descrizione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chemeClr val="bg1"/>
                          </a:solidFill>
                          <a:effectLst/>
                        </a:rPr>
                        <a:t>Ore (h)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Costo (€)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1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49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1125€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2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47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990€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3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52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910€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4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45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905€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Sprint 5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46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740€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40878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Sprint 6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53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935€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41163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2800" b="1" u="none" strike="noStrike">
                          <a:solidFill>
                            <a:schemeClr val="bg1"/>
                          </a:solidFill>
                          <a:effectLst/>
                        </a:rPr>
                        <a:t>TOTALE UTILIZZATO</a:t>
                      </a:r>
                      <a:endParaRPr lang="it-IT"/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292h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5605€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256CC75-A4F6-75EF-FB8B-CCB0845CC5C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  <a:ea typeface="Calibri"/>
                <a:cs typeface="Calibri"/>
              </a:rPr>
              <a:t>9/11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3A2C17C2-72C8-34CA-E2D9-735801351B0D}"/>
              </a:ext>
            </a:extLst>
          </p:cNvPr>
          <p:cNvSpPr/>
          <p:nvPr/>
        </p:nvSpPr>
        <p:spPr>
          <a:xfrm>
            <a:off x="-480386" y="2132300"/>
            <a:ext cx="17387675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       Risorse utilizzate fino allo sprint 6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07E0212-CD05-BD55-A142-61D49A5BA58B}"/>
              </a:ext>
            </a:extLst>
          </p:cNvPr>
          <p:cNvSpPr txBox="1"/>
          <p:nvPr/>
        </p:nvSpPr>
        <p:spPr>
          <a:xfrm>
            <a:off x="262502" y="2203843"/>
            <a:ext cx="274319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   </a:t>
            </a:r>
            <a:endParaRPr lang="it-IT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F3C3514-4DDC-A128-D355-05329F929438}"/>
              </a:ext>
            </a:extLst>
          </p:cNvPr>
          <p:cNvSpPr/>
          <p:nvPr/>
        </p:nvSpPr>
        <p:spPr>
          <a:xfrm>
            <a:off x="-536452" y="2200595"/>
            <a:ext cx="17665702" cy="1005415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</a:t>
            </a:r>
            <a:r>
              <a:rPr lang="it-IT" sz="36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 </a:t>
            </a:r>
            <a:r>
              <a:rPr lang="it-IT" sz="3600">
                <a:latin typeface="Arial"/>
                <a:ea typeface="Calibri"/>
                <a:cs typeface="Arial"/>
              </a:rPr>
              <a:t>        Risorse previste rimanenti 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CB22BD7-C3C2-9DAF-3E21-117E5AE2886E}"/>
              </a:ext>
            </a:extLst>
          </p:cNvPr>
          <p:cNvSpPr txBox="1"/>
          <p:nvPr/>
        </p:nvSpPr>
        <p:spPr>
          <a:xfrm>
            <a:off x="260195" y="2202366"/>
            <a:ext cx="446048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</a:t>
            </a: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2DE8B13-5D4E-BB7B-A6C6-9811A7BACF4D}"/>
              </a:ext>
            </a:extLst>
          </p:cNvPr>
          <p:cNvSpPr txBox="1"/>
          <p:nvPr/>
        </p:nvSpPr>
        <p:spPr>
          <a:xfrm>
            <a:off x="706242" y="638774"/>
            <a:ext cx="1055230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 b="1">
                <a:solidFill>
                  <a:srgbClr val="2A84C0"/>
                </a:solidFill>
                <a:latin typeface="Verdana"/>
                <a:ea typeface="Verdana"/>
                <a:cs typeface="Verdana"/>
              </a:rPr>
              <a:t>Preventivo a finire (1/2)​</a:t>
            </a:r>
            <a:endParaRPr lang="it-IT" sz="5400" b="1">
              <a:solidFill>
                <a:srgbClr val="2A84C0"/>
              </a:solidFill>
              <a:latin typeface="Verdana"/>
              <a:ea typeface="Verdana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CE6347-BFAE-6B44-EF9B-BFE580681D41}"/>
              </a:ext>
            </a:extLst>
          </p:cNvPr>
          <p:cNvSpPr txBox="1"/>
          <p:nvPr/>
        </p:nvSpPr>
        <p:spPr>
          <a:xfrm>
            <a:off x="12863218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10/11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ea typeface="Calibri"/>
              <a:cs typeface="Calibri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587481F5-FF1F-88E5-E809-EC0756CDB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821068"/>
              </p:ext>
            </p:extLst>
          </p:nvPr>
        </p:nvGraphicFramePr>
        <p:xfrm>
          <a:off x="532428" y="3830485"/>
          <a:ext cx="16901546" cy="494979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0243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95143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2341756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883631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2112694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236034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865045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2112694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9470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Membro</a:t>
                      </a:r>
                      <a:endParaRPr lang="it-IT" sz="2800" b="0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Responsabile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Amministratore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Analista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Progettista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Programmatore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Verificatore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Totale 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Alberto Autiero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12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Marco Favero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  <a:endParaRPr lang="it-IT" sz="280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Alberto Pignat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Marco Piro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Linor Sadè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Leonardo Salviato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3425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Luca Slongo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649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u="none" strike="noStrike">
                          <a:solidFill>
                            <a:schemeClr val="bg1"/>
                          </a:solidFill>
                          <a:effectLst/>
                        </a:rPr>
                        <a:t>TOTALE COMPLESSIVO</a:t>
                      </a:r>
                      <a:endParaRPr lang="it-IT" sz="20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58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349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321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0198C7-57EA-391A-1B7C-B461BB552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E0D91E36-1797-2A76-459E-4228DACE2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6250119"/>
              </p:ext>
            </p:extLst>
          </p:nvPr>
        </p:nvGraphicFramePr>
        <p:xfrm>
          <a:off x="2979148" y="3610250"/>
          <a:ext cx="12331473" cy="51146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0491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4110491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4110491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6319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Ruolo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Ore Rimanenti (h)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Costo Rimanente (€)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Responsabile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20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600€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Amministratore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340€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Analista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Progettista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147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3675€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Programmatore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107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1605€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Verificatore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870€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TOTALE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solidFill>
                            <a:srgbClr val="FFFFFF"/>
                          </a:solidFill>
                          <a:effectLst/>
                        </a:rPr>
                        <a:t>349h</a:t>
                      </a:r>
                      <a:endParaRPr lang="it-IT" sz="2800" b="0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solidFill>
                            <a:schemeClr val="bg1"/>
                          </a:solidFill>
                          <a:effectLst/>
                        </a:rPr>
                        <a:t>7090€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19E4FB6A-3310-1903-6941-65F27EAE236E}"/>
              </a:ext>
            </a:extLst>
          </p:cNvPr>
          <p:cNvSpPr/>
          <p:nvPr/>
        </p:nvSpPr>
        <p:spPr>
          <a:xfrm>
            <a:off x="-484965" y="2132300"/>
            <a:ext cx="17614215" cy="995118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</a:t>
            </a:r>
            <a:r>
              <a:rPr lang="it-IT" sz="36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 </a:t>
            </a:r>
            <a:r>
              <a:rPr lang="it-IT" sz="3600">
                <a:latin typeface="Arial"/>
                <a:ea typeface="Calibri"/>
                <a:cs typeface="Arial"/>
              </a:rPr>
              <a:t>        Risorse previste rimanenti 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110BC2C-CA81-B2AF-8B40-F2886109DC31}"/>
              </a:ext>
            </a:extLst>
          </p:cNvPr>
          <p:cNvSpPr txBox="1"/>
          <p:nvPr/>
        </p:nvSpPr>
        <p:spPr>
          <a:xfrm>
            <a:off x="260195" y="2202366"/>
            <a:ext cx="446048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</a:t>
            </a: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962B790-7287-B25E-6B16-03A6B121EBA4}"/>
              </a:ext>
            </a:extLst>
          </p:cNvPr>
          <p:cNvSpPr txBox="1"/>
          <p:nvPr/>
        </p:nvSpPr>
        <p:spPr>
          <a:xfrm>
            <a:off x="706242" y="638774"/>
            <a:ext cx="1055230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Preventivo a finire (2/2)​</a:t>
            </a:r>
            <a:endParaRPr lang="it-IT" sz="5400" b="1">
              <a:solidFill>
                <a:srgbClr val="2A84C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CE1E398-3B44-123B-A211-32E359A87F59}"/>
              </a:ext>
            </a:extLst>
          </p:cNvPr>
          <p:cNvSpPr txBox="1"/>
          <p:nvPr/>
        </p:nvSpPr>
        <p:spPr>
          <a:xfrm>
            <a:off x="12863218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11/11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5748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872</Words>
  <Application>Microsoft Office PowerPoint</Application>
  <PresentationFormat>Personalizzato</PresentationFormat>
  <Paragraphs>285</Paragraphs>
  <Slides>12</Slides>
  <Notes>8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3" baseType="lpstr"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Linor Sadè</cp:lastModifiedBy>
  <cp:revision>4</cp:revision>
  <dcterms:created xsi:type="dcterms:W3CDTF">2006-08-16T00:00:00Z</dcterms:created>
  <dcterms:modified xsi:type="dcterms:W3CDTF">2026-02-19T07:06:49Z</dcterms:modified>
  <dc:identifier>DAG2oYW1E2g</dc:identifier>
</cp:coreProperties>
</file>