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Conversation</a:t>
          </a:r>
          <a:r>
            <a:rPr lang="it-IT" dirty="0"/>
            <a:t>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System prompt personalizzato con descrizione azienda e tono</a:t>
          </a:r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84974"/>
          <a:ext cx="4682021" cy="416745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437388" rIns="36337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100" b="1" kern="1200" dirty="0"/>
            <a:t> Framework principale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Per dashboard amministrativa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Componenti modulari: AI Assistant, AI Co-Pilot, Analytics, Storico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100" b="1" kern="1200" dirty="0"/>
            <a:t>• </a:t>
          </a:r>
          <a:r>
            <a:rPr lang="it-IT" sz="2100" b="1" kern="1200" dirty="0" err="1"/>
            <a:t>RxJS</a:t>
          </a:r>
          <a:r>
            <a:rPr lang="it-IT" sz="2100" b="1" kern="1200" dirty="0"/>
            <a:t> 7.8.0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Gestione asincrona chiamate API al </a:t>
          </a:r>
          <a:r>
            <a:rPr lang="it-IT" sz="2100" kern="1200" dirty="0" err="1"/>
            <a:t>backend</a:t>
          </a:r>
          <a:endParaRPr lang="it-IT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Polling per status documenti in analisi</a:t>
          </a:r>
        </a:p>
      </dsp:txBody>
      <dsp:txXfrm>
        <a:off x="0" y="384974"/>
        <a:ext cx="4682021" cy="4167450"/>
      </dsp:txXfrm>
    </dsp:sp>
    <dsp:sp modelId="{EF67F11A-FCD0-4E59-A23F-17BCC3FB1182}">
      <dsp:nvSpPr>
        <dsp:cNvPr id="0" name=""/>
        <dsp:cNvSpPr/>
      </dsp:nvSpPr>
      <dsp:spPr>
        <a:xfrm>
          <a:off x="234101" y="75014"/>
          <a:ext cx="3277415" cy="6199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b="1" kern="1200" dirty="0" err="1"/>
            <a:t>Frontend</a:t>
          </a:r>
          <a:r>
            <a:rPr lang="it-IT" sz="2100" b="1" kern="1200" dirty="0"/>
            <a:t> - </a:t>
          </a:r>
          <a:r>
            <a:rPr lang="it-IT" sz="2100" b="1" kern="1200" dirty="0" err="1"/>
            <a:t>Angular</a:t>
          </a:r>
          <a:endParaRPr lang="en-US" sz="2100" kern="1200" dirty="0"/>
        </a:p>
      </dsp:txBody>
      <dsp:txXfrm>
        <a:off x="264363" y="105276"/>
        <a:ext cx="3216891" cy="5593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64599"/>
          <a:ext cx="4682021" cy="3969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312420" rIns="363377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500" b="1" kern="1200" dirty="0"/>
            <a:t>API REST </a:t>
          </a:r>
          <a:endParaRPr lang="en-US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Endpoint per generazione testo AI (/genera)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documenti: upload, analisi, consultazione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conversazioni e storico messaggi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500" b="1" kern="1200" dirty="0"/>
            <a:t>Service Pattern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AiService: orchestrazione generazione testo con contesto aziendale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DocumentAnalysisService: OCR e estrazione dati da PDF/immagini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500" kern="1200" dirty="0" err="1"/>
            <a:t>AiTextGenerator</a:t>
          </a:r>
          <a:r>
            <a:rPr lang="en-US" sz="1500" kern="1200" dirty="0"/>
            <a:t>: adapter per AWS Bedrock SDK</a:t>
          </a: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500" b="1" kern="1200" dirty="0"/>
            <a:t>Active Storage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upload e storage documenti</a:t>
          </a:r>
        </a:p>
      </dsp:txBody>
      <dsp:txXfrm>
        <a:off x="0" y="564599"/>
        <a:ext cx="4682021" cy="3969000"/>
      </dsp:txXfrm>
    </dsp:sp>
    <dsp:sp modelId="{EF67F11A-FCD0-4E59-A23F-17BCC3FB1182}">
      <dsp:nvSpPr>
        <dsp:cNvPr id="0" name=""/>
        <dsp:cNvSpPr/>
      </dsp:nvSpPr>
      <dsp:spPr>
        <a:xfrm>
          <a:off x="234101" y="343199"/>
          <a:ext cx="3277415" cy="4428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/>
            <a:t>Backend</a:t>
          </a:r>
          <a:r>
            <a:rPr lang="it-IT" sz="1500" b="1" kern="1200" dirty="0"/>
            <a:t> - Ruby on </a:t>
          </a:r>
          <a:r>
            <a:rPr lang="it-IT" sz="1500" b="1" kern="1200" dirty="0" err="1"/>
            <a:t>Rails</a:t>
          </a:r>
          <a:endParaRPr lang="en-US" sz="1500" kern="1200" dirty="0"/>
        </a:p>
      </dsp:txBody>
      <dsp:txXfrm>
        <a:off x="255717" y="364815"/>
        <a:ext cx="3234183" cy="3995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03912"/>
          <a:ext cx="4698998" cy="38745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4" tIns="312420" rIns="364694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500" b="1" kern="1200" dirty="0"/>
            <a:t>Struttura dati relazionale</a:t>
          </a:r>
          <a:endParaRPr lang="en-US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Company: aziende che utilizzano la piattaforma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 err="1"/>
            <a:t>Conversation</a:t>
          </a:r>
          <a:r>
            <a:rPr lang="it-IT" sz="1500" kern="1200" dirty="0"/>
            <a:t> + Message: storico conversazioni AI con contesto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Tone: toni comunicativi personalizzati per azienda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 err="1"/>
            <a:t>Document</a:t>
          </a:r>
          <a:r>
            <a:rPr lang="it-IT" sz="1500" kern="1200" dirty="0"/>
            <a:t>: metadati documenti con status (</a:t>
          </a:r>
          <a:r>
            <a:rPr lang="it-IT" sz="1500" kern="1200" dirty="0" err="1"/>
            <a:t>pending</a:t>
          </a:r>
          <a:r>
            <a:rPr lang="it-IT" sz="1500" kern="1200" dirty="0"/>
            <a:t>/processing/</a:t>
          </a:r>
          <a:r>
            <a:rPr lang="it-IT" sz="1500" kern="1200" dirty="0" err="1"/>
            <a:t>completed</a:t>
          </a:r>
          <a:r>
            <a:rPr lang="it-IT" sz="1500" kern="1200" dirty="0"/>
            <a:t>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500" b="1" kern="1200" dirty="0"/>
            <a:t>Active Record ORM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500" kern="1200"/>
            <a:t>Relazioni: Company has_many Documents, Conversations, Tones</a:t>
          </a:r>
          <a:endParaRPr lang="it-IT" sz="1500" kern="120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500" kern="1200"/>
            <a:t>Validazioni, enum per status, callbacks lifecycle</a:t>
          </a:r>
          <a:endParaRPr lang="it-IT" sz="1500" kern="120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JSON </a:t>
          </a:r>
          <a:r>
            <a:rPr lang="it-IT" sz="1500" kern="1200" dirty="0" err="1"/>
            <a:t>column</a:t>
          </a:r>
          <a:r>
            <a:rPr lang="it-IT" sz="1500" kern="1200" dirty="0"/>
            <a:t> (</a:t>
          </a:r>
          <a:r>
            <a:rPr lang="it-IT" sz="1500" kern="1200" dirty="0" err="1"/>
            <a:t>ai_data</a:t>
          </a:r>
          <a:r>
            <a:rPr lang="it-IT" sz="1500" kern="1200" dirty="0"/>
            <a:t>) per salvare dati estratti da </a:t>
          </a:r>
          <a:r>
            <a:rPr lang="it-IT" sz="1500" kern="1200" dirty="0" err="1"/>
            <a:t>Bedrock</a:t>
          </a:r>
          <a:endParaRPr lang="it-IT" sz="1500" kern="1200" dirty="0"/>
        </a:p>
      </dsp:txBody>
      <dsp:txXfrm>
        <a:off x="0" y="603912"/>
        <a:ext cx="4698998" cy="3874500"/>
      </dsp:txXfrm>
    </dsp:sp>
    <dsp:sp modelId="{EF67F11A-FCD0-4E59-A23F-17BCC3FB1182}">
      <dsp:nvSpPr>
        <dsp:cNvPr id="0" name=""/>
        <dsp:cNvSpPr/>
      </dsp:nvSpPr>
      <dsp:spPr>
        <a:xfrm>
          <a:off x="234949" y="382512"/>
          <a:ext cx="3289298" cy="4428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/>
            <a:t>Database - </a:t>
          </a:r>
          <a:r>
            <a:rPr lang="it-IT" sz="1500" b="1" kern="1200" dirty="0" err="1"/>
            <a:t>PostgreSQL</a:t>
          </a:r>
          <a:endParaRPr lang="en-US" sz="1500" kern="1200" dirty="0"/>
        </a:p>
      </dsp:txBody>
      <dsp:txXfrm>
        <a:off x="256565" y="404128"/>
        <a:ext cx="3246066" cy="39956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99031"/>
          <a:ext cx="4698999" cy="4145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5" tIns="291592" rIns="36469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kern="1200" dirty="0"/>
            <a:t>Modello Amazon Nova Lite v1 per generazione testo e OCR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400" b="1" kern="1200" dirty="0"/>
            <a:t>• AI Assistant Generativo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Converse API per generazione testo conversazionale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System prompt personalizzato con descrizione azienda e tono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Mantenimento contesto conversazione multi-turn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Generazione comunicazioni interne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AI Co-Pilot </a:t>
          </a:r>
          <a:r>
            <a:rPr lang="it-IT" sz="1400" b="1" kern="1200" dirty="0" err="1"/>
            <a:t>Document</a:t>
          </a:r>
          <a:r>
            <a:rPr lang="it-IT" sz="1400" b="1" kern="1200" dirty="0"/>
            <a:t> Analysis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OCR e analisi documenti (PDF, PNG, JPEG)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Estrazione dati strutturati: tipo documento, dipendente, importo, date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Output JSON validato per split e dispaccio automatico</a:t>
          </a:r>
        </a:p>
      </dsp:txBody>
      <dsp:txXfrm>
        <a:off x="0" y="399031"/>
        <a:ext cx="4698999" cy="4145400"/>
      </dsp:txXfrm>
    </dsp:sp>
    <dsp:sp modelId="{EF67F11A-FCD0-4E59-A23F-17BCC3FB1182}">
      <dsp:nvSpPr>
        <dsp:cNvPr id="0" name=""/>
        <dsp:cNvSpPr/>
      </dsp:nvSpPr>
      <dsp:spPr>
        <a:xfrm>
          <a:off x="234949" y="137699"/>
          <a:ext cx="3289299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/>
            <a:t>AWS </a:t>
          </a:r>
          <a:r>
            <a:rPr lang="it-IT" sz="1400" b="1" kern="1200" dirty="0" err="1"/>
            <a:t>Bedrock</a:t>
          </a:r>
          <a:endParaRPr lang="en-US" sz="1400" kern="1200" dirty="0"/>
        </a:p>
      </dsp:txBody>
      <dsp:txXfrm>
        <a:off x="255124" y="157874"/>
        <a:ext cx="3248949" cy="3729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diagramColors" Target="../diagrams/colors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Layout" Target="../diagrams/layout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6.png"/><Relationship Id="rId10" Type="http://schemas.openxmlformats.org/officeDocument/2006/relationships/diagramData" Target="../diagrams/data2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gif"/><Relationship Id="rId14" Type="http://schemas.microsoft.com/office/2007/relationships/diagramDrawing" Target="../diagrams/drawing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Colors" Target="../diagrams/colors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diagramQuickStyle" Target="../diagrams/quickStyle4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11" Type="http://schemas.openxmlformats.org/officeDocument/2006/relationships/diagramLayout" Target="../diagrams/layout4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8.png"/><Relationship Id="rId10" Type="http://schemas.openxmlformats.org/officeDocument/2006/relationships/diagramData" Target="../diagrams/data4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4.gif"/><Relationship Id="rId14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3241686"/>
              </p:ext>
            </p:extLst>
          </p:nvPr>
        </p:nvGraphicFramePr>
        <p:xfrm>
          <a:off x="9033979" y="5384605"/>
          <a:ext cx="4682022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85892" y="5384605"/>
            <a:ext cx="3124200" cy="31242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2648828"/>
              </p:ext>
            </p:extLst>
          </p:nvPr>
        </p:nvGraphicFramePr>
        <p:xfrm>
          <a:off x="9033979" y="266700"/>
          <a:ext cx="4682022" cy="4876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5436" y="1485900"/>
            <a:ext cx="4645112" cy="1751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556566"/>
              </p:ext>
            </p:extLst>
          </p:nvPr>
        </p:nvGraphicFramePr>
        <p:xfrm>
          <a:off x="9017002" y="5143500"/>
          <a:ext cx="4698998" cy="4860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9399" y="6476999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56331CA3-FBC4-18A2-8C3E-A4C32B5E6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6629464"/>
              </p:ext>
            </p:extLst>
          </p:nvPr>
        </p:nvGraphicFramePr>
        <p:xfrm>
          <a:off x="9017002" y="348445"/>
          <a:ext cx="4698999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4E85F1FC-300F-72D4-5921-6319376B4E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68681" y="1485900"/>
            <a:ext cx="5079999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372</Words>
  <Application>Microsoft Office PowerPoint</Application>
  <PresentationFormat>Personalizzato</PresentationFormat>
  <Paragraphs>58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Tenor Sans</vt:lpstr>
      <vt:lpstr>Overpass</vt:lpstr>
      <vt:lpstr>Arial</vt:lpstr>
      <vt:lpstr>Neue Montreal Bold</vt:lpstr>
      <vt:lpstr>Calibri</vt:lpstr>
      <vt:lpstr>Wingdings</vt:lpstr>
      <vt:lpstr>Goudy</vt:lpstr>
      <vt:lpstr>Aptos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70</cp:revision>
  <dcterms:created xsi:type="dcterms:W3CDTF">2006-08-16T00:00:00Z</dcterms:created>
  <dcterms:modified xsi:type="dcterms:W3CDTF">2026-02-08T10:40:33Z</dcterms:modified>
  <dc:identifier>DAG2oYW1E2g</dc:identifier>
</cp:coreProperties>
</file>